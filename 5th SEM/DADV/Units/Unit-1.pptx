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2F2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2F2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361112"/>
            <a:ext cx="9144000" cy="497205"/>
          </a:xfrm>
          <a:custGeom>
            <a:avLst/>
            <a:gdLst/>
            <a:ahLst/>
            <a:cxnLst/>
            <a:rect l="l" t="t" r="r" b="b"/>
            <a:pathLst>
              <a:path w="9144000" h="497204">
                <a:moveTo>
                  <a:pt x="0" y="496887"/>
                </a:moveTo>
                <a:lnTo>
                  <a:pt x="9144000" y="496887"/>
                </a:lnTo>
                <a:lnTo>
                  <a:pt x="9144000" y="0"/>
                </a:lnTo>
                <a:lnTo>
                  <a:pt x="0" y="0"/>
                </a:lnTo>
                <a:lnTo>
                  <a:pt x="0" y="496887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3214751"/>
            <a:ext cx="9144000" cy="2789555"/>
          </a:xfrm>
          <a:custGeom>
            <a:avLst/>
            <a:gdLst/>
            <a:ahLst/>
            <a:cxnLst/>
            <a:rect l="l" t="t" r="r" b="b"/>
            <a:pathLst>
              <a:path w="9144000" h="2789554">
                <a:moveTo>
                  <a:pt x="0" y="2789174"/>
                </a:moveTo>
                <a:lnTo>
                  <a:pt x="9144000" y="2789174"/>
                </a:lnTo>
                <a:lnTo>
                  <a:pt x="9144000" y="0"/>
                </a:lnTo>
                <a:lnTo>
                  <a:pt x="0" y="0"/>
                </a:lnTo>
                <a:lnTo>
                  <a:pt x="0" y="2789174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361950"/>
            <a:ext cx="6705600" cy="28575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3701" y="4000500"/>
            <a:ext cx="4276725" cy="5715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38475" y="4946650"/>
            <a:ext cx="3067050" cy="26035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0" y="6003925"/>
            <a:ext cx="9144000" cy="357505"/>
          </a:xfrm>
          <a:custGeom>
            <a:avLst/>
            <a:gdLst/>
            <a:ahLst/>
            <a:cxnLst/>
            <a:rect l="l" t="t" r="r" b="b"/>
            <a:pathLst>
              <a:path w="9144000" h="357504">
                <a:moveTo>
                  <a:pt x="9144000" y="0"/>
                </a:moveTo>
                <a:lnTo>
                  <a:pt x="0" y="0"/>
                </a:lnTo>
                <a:lnTo>
                  <a:pt x="0" y="357187"/>
                </a:lnTo>
                <a:lnTo>
                  <a:pt x="9144000" y="357187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557464"/>
            <a:ext cx="9144000" cy="643255"/>
          </a:xfrm>
          <a:custGeom>
            <a:avLst/>
            <a:gdLst/>
            <a:ahLst/>
            <a:cxnLst/>
            <a:rect l="l" t="t" r="r" b="b"/>
            <a:pathLst>
              <a:path w="9144000" h="643255">
                <a:moveTo>
                  <a:pt x="9144000" y="0"/>
                </a:moveTo>
                <a:lnTo>
                  <a:pt x="0" y="0"/>
                </a:lnTo>
                <a:lnTo>
                  <a:pt x="0" y="642937"/>
                </a:lnTo>
                <a:lnTo>
                  <a:pt x="9144000" y="642937"/>
                </a:lnTo>
                <a:lnTo>
                  <a:pt x="9144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1494485"/>
            <a:ext cx="898652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437" y="2308301"/>
            <a:ext cx="8474075" cy="2952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2F2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aruluniversity.ac.in/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:\Users\parul\Desktop\temp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22070" y="913002"/>
            <a:ext cx="6899275" cy="1626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8555" marR="13970" indent="-2388870">
              <a:lnSpc>
                <a:spcPct val="100000"/>
              </a:lnSpc>
              <a:spcBef>
                <a:spcPts val="105"/>
              </a:spcBef>
            </a:pPr>
            <a:r>
              <a:rPr sz="3500" b="1" dirty="0">
                <a:solidFill>
                  <a:srgbClr val="000000"/>
                </a:solidFill>
                <a:latin typeface="Calibri"/>
                <a:cs typeface="Calibri"/>
              </a:rPr>
              <a:t>Data</a:t>
            </a:r>
            <a:r>
              <a:rPr sz="3500" b="1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500" b="1" dirty="0">
                <a:solidFill>
                  <a:srgbClr val="000000"/>
                </a:solidFill>
                <a:latin typeface="Calibri"/>
                <a:cs typeface="Calibri"/>
              </a:rPr>
              <a:t>Analytics</a:t>
            </a:r>
            <a:r>
              <a:rPr sz="3500" b="1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500" b="1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3500" b="1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500" b="1" dirty="0">
                <a:solidFill>
                  <a:srgbClr val="000000"/>
                </a:solidFill>
                <a:latin typeface="Calibri"/>
                <a:cs typeface="Calibri"/>
              </a:rPr>
              <a:t>Data</a:t>
            </a:r>
            <a:r>
              <a:rPr sz="3500" b="1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500" b="1" spc="-10" dirty="0">
                <a:solidFill>
                  <a:srgbClr val="000000"/>
                </a:solidFill>
                <a:latin typeface="Calibri"/>
                <a:cs typeface="Calibri"/>
              </a:rPr>
              <a:t>Visualization (30310214)</a:t>
            </a:r>
            <a:endParaRPr sz="35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500" b="1" dirty="0">
                <a:solidFill>
                  <a:srgbClr val="000000"/>
                </a:solidFill>
                <a:latin typeface="Calibri"/>
                <a:cs typeface="Calibri"/>
              </a:rPr>
              <a:t>Unit</a:t>
            </a:r>
            <a:r>
              <a:rPr sz="3500" b="1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500" b="1" dirty="0">
                <a:solidFill>
                  <a:srgbClr val="000000"/>
                </a:solidFill>
                <a:latin typeface="Calibri"/>
                <a:cs typeface="Calibri"/>
              </a:rPr>
              <a:t>1:</a:t>
            </a:r>
            <a:r>
              <a:rPr sz="3500" b="1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500" b="1" dirty="0">
                <a:solidFill>
                  <a:srgbClr val="000000"/>
                </a:solidFill>
                <a:latin typeface="Calibri"/>
                <a:cs typeface="Calibri"/>
              </a:rPr>
              <a:t>Introduction</a:t>
            </a:r>
            <a:r>
              <a:rPr sz="3500" b="1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500" b="1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3500" b="1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500" b="1" dirty="0">
                <a:solidFill>
                  <a:srgbClr val="000000"/>
                </a:solidFill>
                <a:latin typeface="Calibri"/>
                <a:cs typeface="Calibri"/>
              </a:rPr>
              <a:t>Data</a:t>
            </a:r>
            <a:r>
              <a:rPr sz="3500" b="1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500" b="1" spc="-10" dirty="0">
                <a:solidFill>
                  <a:srgbClr val="000000"/>
                </a:solidFill>
                <a:latin typeface="Calibri"/>
                <a:cs typeface="Calibri"/>
              </a:rPr>
              <a:t>Analytics</a:t>
            </a:r>
            <a:endParaRPr sz="35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94941" y="2519552"/>
            <a:ext cx="4754245" cy="1391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800" b="1" spc="-65" dirty="0">
                <a:latin typeface="Calibri"/>
                <a:cs typeface="Calibri"/>
              </a:rPr>
              <a:t>Mr.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lang="en-US" sz="2800" b="1" spc="-75" dirty="0">
                <a:latin typeface="Calibri"/>
                <a:cs typeface="Calibri"/>
              </a:rPr>
              <a:t>Arnab Mandal</a:t>
            </a:r>
            <a:endParaRPr sz="2800" dirty="0">
              <a:latin typeface="Calibri"/>
              <a:cs typeface="Calibri"/>
            </a:endParaRPr>
          </a:p>
          <a:p>
            <a:pPr marL="81915" algn="ctr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latin typeface="Calibri"/>
                <a:cs typeface="Calibri"/>
              </a:rPr>
              <a:t>Assistant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Professor</a:t>
            </a:r>
            <a:endParaRPr sz="28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Science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&amp;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Engineering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54874" y="283336"/>
            <a:ext cx="7673340" cy="6358890"/>
            <a:chOff x="1254874" y="283336"/>
            <a:chExt cx="7673340" cy="6358890"/>
          </a:xfrm>
        </p:grpSpPr>
        <p:pic>
          <p:nvPicPr>
            <p:cNvPr id="6" name="object 6" descr="C:\Users\parul\Desktop\Registered Logos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1374" y="283336"/>
              <a:ext cx="2381250" cy="6286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59636" y="2899029"/>
              <a:ext cx="6286500" cy="1905"/>
            </a:xfrm>
            <a:custGeom>
              <a:avLst/>
              <a:gdLst/>
              <a:ahLst/>
              <a:cxnLst/>
              <a:rect l="l" t="t" r="r" b="b"/>
              <a:pathLst>
                <a:path w="6286500" h="1905">
                  <a:moveTo>
                    <a:pt x="0" y="0"/>
                  </a:moveTo>
                  <a:lnTo>
                    <a:pt x="6286449" y="152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9636" y="2852928"/>
              <a:ext cx="93675" cy="937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74712" y="2852928"/>
              <a:ext cx="93599" cy="937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18499" y="6032500"/>
              <a:ext cx="609600" cy="609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Outline</a:t>
            </a:r>
            <a:endParaRPr sz="4400"/>
          </a:p>
        </p:txBody>
      </p:sp>
      <p:pic>
        <p:nvPicPr>
          <p:cNvPr id="3" name="object 3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3694" y="3009900"/>
            <a:ext cx="5430901" cy="28035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9240" y="2588716"/>
            <a:ext cx="4267835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Introduction</a:t>
            </a:r>
            <a:r>
              <a:rPr lang="en-US" sz="2400" spc="-10" dirty="0">
                <a:latin typeface="Calibri"/>
                <a:cs typeface="Calibri"/>
              </a:rPr>
              <a:t> to Data Analytics 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importance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analytics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types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Why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analytics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important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analysis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Vs.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analytics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Classification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analytics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analytics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analyst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Vs.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scientist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1494485"/>
            <a:ext cx="8986520" cy="636072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Introduction</a:t>
            </a:r>
            <a:r>
              <a:rPr lang="en-US" sz="3600" spc="-10" dirty="0"/>
              <a:t> to Data Analysis </a:t>
            </a:r>
            <a:endParaRPr sz="3600" dirty="0"/>
          </a:p>
        </p:txBody>
      </p:sp>
      <p:pic>
        <p:nvPicPr>
          <p:cNvPr id="3" name="object 3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3694" y="3009900"/>
            <a:ext cx="5430901" cy="28035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6334" y="2244344"/>
            <a:ext cx="8603615" cy="29931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IN" sz="2400" dirty="0"/>
              <a:t>“ Turning Raw Data into Strategic Insights and Competitive Advantage “ </a:t>
            </a:r>
          </a:p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endParaRPr lang="en-IN" sz="2400" dirty="0">
              <a:latin typeface="Calibri"/>
              <a:cs typeface="Calibri"/>
            </a:endParaRPr>
          </a:p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IN" sz="2400" b="1" dirty="0">
                <a:latin typeface="Calibri"/>
                <a:cs typeface="Calibri"/>
              </a:rPr>
              <a:t>Analogy : </a:t>
            </a:r>
            <a:r>
              <a:rPr lang="en-IN" sz="2400" b="1" dirty="0"/>
              <a:t>“Ever wondered how Netflix actually works?</a:t>
            </a:r>
            <a:r>
              <a:rPr lang="en-IN" sz="2400" dirty="0"/>
              <a:t> Every time you log in at midnight, click a thumbnail, skip an intro, or pause a movie to grab a snack—Netflix is watching. But they aren't just creeping on your late-night viewing habits; they are turning your behaviour into data.</a:t>
            </a:r>
            <a:endParaRPr sz="24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Data</a:t>
            </a:r>
            <a:r>
              <a:rPr sz="3600" spc="-40" dirty="0"/>
              <a:t> </a:t>
            </a:r>
            <a:r>
              <a:rPr sz="3600" dirty="0"/>
              <a:t>and</a:t>
            </a:r>
            <a:r>
              <a:rPr sz="3600" spc="-55" dirty="0"/>
              <a:t> </a:t>
            </a:r>
            <a:r>
              <a:rPr sz="3600" dirty="0"/>
              <a:t>its</a:t>
            </a:r>
            <a:r>
              <a:rPr sz="3600" spc="-45" dirty="0"/>
              <a:t> </a:t>
            </a:r>
            <a:r>
              <a:rPr sz="3600" spc="-10" dirty="0"/>
              <a:t>importance</a:t>
            </a:r>
            <a:endParaRPr sz="3600"/>
          </a:p>
        </p:txBody>
      </p:sp>
      <p:pic>
        <p:nvPicPr>
          <p:cNvPr id="3" name="object 3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3694" y="3009900"/>
            <a:ext cx="5430901" cy="28035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437" y="2308301"/>
            <a:ext cx="608266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Three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terms: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Variable,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measurement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What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generating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much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data?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business?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Why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important?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Variable,</a:t>
            </a:r>
            <a:r>
              <a:rPr sz="3600" spc="-125" dirty="0"/>
              <a:t> </a:t>
            </a:r>
            <a:r>
              <a:rPr sz="3600" dirty="0"/>
              <a:t>Measurement</a:t>
            </a:r>
            <a:r>
              <a:rPr sz="3600" spc="-125" dirty="0"/>
              <a:t> </a:t>
            </a:r>
            <a:r>
              <a:rPr sz="3600" dirty="0"/>
              <a:t>and</a:t>
            </a:r>
            <a:r>
              <a:rPr sz="3600" spc="-100" dirty="0"/>
              <a:t> </a:t>
            </a:r>
            <a:r>
              <a:rPr sz="3600" spc="-20" dirty="0"/>
              <a:t>Data</a:t>
            </a:r>
            <a:endParaRPr sz="3600"/>
          </a:p>
        </p:txBody>
      </p:sp>
      <p:pic>
        <p:nvPicPr>
          <p:cNvPr id="3" name="object 3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3694" y="3009900"/>
            <a:ext cx="5430901" cy="28035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>
                <a:solidFill>
                  <a:srgbClr val="000000"/>
                </a:solidFill>
              </a:rPr>
              <a:t>Variable-</a:t>
            </a:r>
            <a:r>
              <a:rPr spc="4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is</a:t>
            </a:r>
            <a:r>
              <a:rPr spc="409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4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characteristic</a:t>
            </a:r>
            <a:r>
              <a:rPr spc="409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4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any</a:t>
            </a:r>
            <a:r>
              <a:rPr spc="39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entity</a:t>
            </a:r>
            <a:r>
              <a:rPr spc="409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being</a:t>
            </a:r>
            <a:r>
              <a:rPr spc="409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studied</a:t>
            </a:r>
            <a:r>
              <a:rPr spc="409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that</a:t>
            </a:r>
            <a:r>
              <a:rPr spc="425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is</a:t>
            </a:r>
          </a:p>
          <a:p>
            <a:pPr marL="355600">
              <a:lnSpc>
                <a:spcPct val="100000"/>
              </a:lnSpc>
            </a:pPr>
            <a:r>
              <a:rPr dirty="0">
                <a:solidFill>
                  <a:srgbClr val="000000"/>
                </a:solidFill>
              </a:rPr>
              <a:t>capable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taking</a:t>
            </a:r>
            <a:r>
              <a:rPr spc="-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on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different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values.</a:t>
            </a:r>
          </a:p>
          <a:p>
            <a:pPr marL="355600" marR="5080" indent="-342900">
              <a:lnSpc>
                <a:spcPct val="100000"/>
              </a:lnSpc>
              <a:spcBef>
                <a:spcPts val="288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>
                <a:solidFill>
                  <a:srgbClr val="000000"/>
                </a:solidFill>
              </a:rPr>
              <a:t>Measurements-</a:t>
            </a:r>
            <a:r>
              <a:rPr spc="509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is</a:t>
            </a:r>
            <a:r>
              <a:rPr spc="509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when</a:t>
            </a:r>
            <a:r>
              <a:rPr spc="509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5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standard</a:t>
            </a:r>
            <a:r>
              <a:rPr spc="50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process</a:t>
            </a:r>
            <a:r>
              <a:rPr spc="509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is</a:t>
            </a:r>
            <a:r>
              <a:rPr spc="509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used</a:t>
            </a:r>
            <a:r>
              <a:rPr spc="5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spc="50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assign </a:t>
            </a:r>
            <a:r>
              <a:rPr dirty="0">
                <a:solidFill>
                  <a:srgbClr val="000000"/>
                </a:solidFill>
              </a:rPr>
              <a:t>numbers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particular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attributes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or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characteristics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variable.</a:t>
            </a:r>
          </a:p>
          <a:p>
            <a:pPr marL="354965" indent="-342265">
              <a:lnSpc>
                <a:spcPct val="100000"/>
              </a:lnSpc>
              <a:spcBef>
                <a:spcPts val="288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>
                <a:solidFill>
                  <a:srgbClr val="000000"/>
                </a:solidFill>
              </a:rPr>
              <a:t>Data-</a:t>
            </a:r>
            <a:r>
              <a:rPr spc="-10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data</a:t>
            </a:r>
            <a:r>
              <a:rPr spc="-9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are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recorded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measurements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What</a:t>
            </a:r>
            <a:r>
              <a:rPr sz="3600" spc="-80" dirty="0"/>
              <a:t> </a:t>
            </a:r>
            <a:r>
              <a:rPr sz="3600" dirty="0"/>
              <a:t>is</a:t>
            </a:r>
            <a:r>
              <a:rPr sz="3600" spc="-60" dirty="0"/>
              <a:t> </a:t>
            </a:r>
            <a:r>
              <a:rPr sz="3600" dirty="0"/>
              <a:t>generating</a:t>
            </a:r>
            <a:r>
              <a:rPr sz="3600" spc="-85" dirty="0"/>
              <a:t> </a:t>
            </a:r>
            <a:r>
              <a:rPr sz="3600" dirty="0"/>
              <a:t>so</a:t>
            </a:r>
            <a:r>
              <a:rPr sz="3600" spc="-60" dirty="0"/>
              <a:t> </a:t>
            </a:r>
            <a:r>
              <a:rPr sz="3600" dirty="0"/>
              <a:t>much</a:t>
            </a:r>
            <a:r>
              <a:rPr sz="3600" spc="-75" dirty="0"/>
              <a:t> </a:t>
            </a:r>
            <a:r>
              <a:rPr sz="3600" spc="-10" dirty="0"/>
              <a:t>data?</a:t>
            </a:r>
            <a:endParaRPr sz="3600"/>
          </a:p>
        </p:txBody>
      </p:sp>
      <p:pic>
        <p:nvPicPr>
          <p:cNvPr id="3" name="object 3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3694" y="3009900"/>
            <a:ext cx="5430901" cy="28035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437" y="2308301"/>
            <a:ext cx="437832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generated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by</a:t>
            </a:r>
            <a:endParaRPr sz="24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Arial MT"/>
              <a:buChar char="•"/>
              <a:tabLst>
                <a:tab pos="812165" algn="l"/>
              </a:tabLst>
            </a:pPr>
            <a:r>
              <a:rPr sz="2400" spc="-10" dirty="0">
                <a:latin typeface="Calibri"/>
                <a:cs typeface="Calibri"/>
              </a:rPr>
              <a:t>Humans,</a:t>
            </a:r>
            <a:endParaRPr sz="24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Arial MT"/>
              <a:buChar char="•"/>
              <a:tabLst>
                <a:tab pos="812165" algn="l"/>
              </a:tabLst>
            </a:pPr>
            <a:r>
              <a:rPr sz="2400" dirty="0">
                <a:latin typeface="Calibri"/>
                <a:cs typeface="Calibri"/>
              </a:rPr>
              <a:t>Machines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</a:t>
            </a:r>
            <a:endParaRPr sz="24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Arial MT"/>
              <a:buChar char="•"/>
              <a:tabLst>
                <a:tab pos="812165" algn="l"/>
              </a:tabLst>
            </a:pPr>
            <a:r>
              <a:rPr sz="2400" spc="-20" dirty="0">
                <a:latin typeface="Calibri"/>
                <a:cs typeface="Calibri"/>
              </a:rPr>
              <a:t>Humans-</a:t>
            </a:r>
            <a:r>
              <a:rPr sz="2400" dirty="0">
                <a:latin typeface="Calibri"/>
                <a:cs typeface="Calibri"/>
              </a:rPr>
              <a:t>machines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combines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437" y="3771722"/>
            <a:ext cx="5340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5" dirty="0">
                <a:latin typeface="Calibri"/>
                <a:cs typeface="Calibri"/>
              </a:rPr>
              <a:t>It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2245" y="3771722"/>
            <a:ext cx="77235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3735" algn="l"/>
                <a:tab pos="1213485" algn="l"/>
                <a:tab pos="2700655" algn="l"/>
                <a:tab pos="4153535" algn="l"/>
                <a:tab pos="5166995" algn="l"/>
                <a:tab pos="5833110" algn="l"/>
                <a:tab pos="7520940" algn="l"/>
              </a:tabLst>
            </a:pPr>
            <a:r>
              <a:rPr sz="2400" spc="-25" dirty="0">
                <a:latin typeface="Calibri"/>
                <a:cs typeface="Calibri"/>
              </a:rPr>
              <a:t>can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be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generated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anywhere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where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any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5337" y="4137786"/>
            <a:ext cx="7378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libri"/>
                <a:cs typeface="Calibri"/>
              </a:rPr>
              <a:t>generated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stored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unstructured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formats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How</a:t>
            </a:r>
            <a:r>
              <a:rPr sz="3600" spc="-50" dirty="0"/>
              <a:t> </a:t>
            </a:r>
            <a:r>
              <a:rPr sz="3600" dirty="0"/>
              <a:t>data</a:t>
            </a:r>
            <a:r>
              <a:rPr sz="3600" spc="-50" dirty="0"/>
              <a:t> </a:t>
            </a:r>
            <a:r>
              <a:rPr sz="3600" dirty="0"/>
              <a:t>add</a:t>
            </a:r>
            <a:r>
              <a:rPr sz="3600" spc="-65" dirty="0"/>
              <a:t> </a:t>
            </a:r>
            <a:r>
              <a:rPr sz="3600" dirty="0"/>
              <a:t>value</a:t>
            </a:r>
            <a:r>
              <a:rPr sz="3600" spc="-70" dirty="0"/>
              <a:t> </a:t>
            </a:r>
            <a:r>
              <a:rPr sz="3600" dirty="0"/>
              <a:t>to</a:t>
            </a:r>
            <a:r>
              <a:rPr sz="3600" spc="-50" dirty="0"/>
              <a:t> </a:t>
            </a:r>
            <a:r>
              <a:rPr sz="3600" spc="-10" dirty="0"/>
              <a:t>business?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0" y="2697607"/>
            <a:ext cx="9144000" cy="3428365"/>
            <a:chOff x="0" y="2697607"/>
            <a:chExt cx="9144000" cy="3428365"/>
          </a:xfrm>
        </p:grpSpPr>
        <p:pic>
          <p:nvPicPr>
            <p:cNvPr id="4" name="object 4" descr="C:\Users\parul\Desktop\Untitled-1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3694" y="3009900"/>
              <a:ext cx="5430901" cy="28035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697607"/>
              <a:ext cx="9144000" cy="34281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Example</a:t>
            </a:r>
            <a:r>
              <a:rPr sz="3600" spc="-80" dirty="0"/>
              <a:t> </a:t>
            </a:r>
            <a:r>
              <a:rPr sz="3600" dirty="0"/>
              <a:t>of</a:t>
            </a:r>
            <a:r>
              <a:rPr sz="3600" spc="-90" dirty="0"/>
              <a:t> </a:t>
            </a:r>
            <a:r>
              <a:rPr sz="3600" dirty="0"/>
              <a:t>Data</a:t>
            </a:r>
            <a:r>
              <a:rPr sz="3600" spc="-75" dirty="0"/>
              <a:t> </a:t>
            </a:r>
            <a:r>
              <a:rPr sz="3600" spc="-10" dirty="0"/>
              <a:t>products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0" y="2913608"/>
            <a:ext cx="9144000" cy="2900045"/>
            <a:chOff x="0" y="2913608"/>
            <a:chExt cx="9144000" cy="2900045"/>
          </a:xfrm>
        </p:grpSpPr>
        <p:pic>
          <p:nvPicPr>
            <p:cNvPr id="4" name="object 4" descr="C:\Users\parul\Desktop\Untitled-1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3694" y="3009899"/>
              <a:ext cx="5430901" cy="28035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913608"/>
              <a:ext cx="9144000" cy="289026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Why</a:t>
            </a:r>
            <a:r>
              <a:rPr sz="3600" spc="-85" dirty="0"/>
              <a:t> </a:t>
            </a:r>
            <a:r>
              <a:rPr sz="3600" dirty="0"/>
              <a:t>data</a:t>
            </a:r>
            <a:r>
              <a:rPr sz="3600" spc="-60" dirty="0"/>
              <a:t> </a:t>
            </a:r>
            <a:r>
              <a:rPr sz="3600" dirty="0"/>
              <a:t>is</a:t>
            </a:r>
            <a:r>
              <a:rPr sz="3600" spc="-70" dirty="0"/>
              <a:t> </a:t>
            </a:r>
            <a:r>
              <a:rPr sz="3600" spc="-10" dirty="0"/>
              <a:t>important?</a:t>
            </a:r>
            <a:endParaRPr sz="3600"/>
          </a:p>
        </p:txBody>
      </p:sp>
      <p:pic>
        <p:nvPicPr>
          <p:cNvPr id="3" name="object 3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3694" y="3009900"/>
            <a:ext cx="5430901" cy="28035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9240" y="2308301"/>
            <a:ext cx="8604885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helps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better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decisions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  <a:tab pos="1176655" algn="l"/>
                <a:tab pos="2080895" algn="l"/>
                <a:tab pos="2555875" algn="l"/>
                <a:tab pos="3437254" algn="l"/>
                <a:tab pos="4848860" algn="l"/>
                <a:tab pos="5391150" algn="l"/>
                <a:tab pos="6493510" algn="l"/>
                <a:tab pos="7153275" algn="l"/>
                <a:tab pos="8237220" algn="l"/>
              </a:tabLst>
            </a:pPr>
            <a:r>
              <a:rPr sz="2400" spc="-20" dirty="0">
                <a:latin typeface="Calibri"/>
                <a:cs typeface="Calibri"/>
              </a:rPr>
              <a:t>Data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helps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in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solve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problems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by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finding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reason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35" dirty="0">
                <a:latin typeface="Calibri"/>
                <a:cs typeface="Calibri"/>
              </a:rPr>
              <a:t>for </a:t>
            </a:r>
            <a:r>
              <a:rPr sz="2400" spc="-10" dirty="0">
                <a:latin typeface="Calibri"/>
                <a:cs typeface="Calibri"/>
              </a:rPr>
              <a:t>underperformance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helps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evaluate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performance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helps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improve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helps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understand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consumers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market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Define</a:t>
            </a:r>
            <a:r>
              <a:rPr sz="3600" spc="-60" dirty="0"/>
              <a:t> </a:t>
            </a:r>
            <a:r>
              <a:rPr sz="3600" dirty="0"/>
              <a:t>Data</a:t>
            </a:r>
            <a:r>
              <a:rPr sz="3600" spc="-30" dirty="0"/>
              <a:t> </a:t>
            </a:r>
            <a:r>
              <a:rPr sz="3600" dirty="0"/>
              <a:t>analytics</a:t>
            </a:r>
            <a:r>
              <a:rPr sz="3600" spc="-45" dirty="0"/>
              <a:t> </a:t>
            </a:r>
            <a:r>
              <a:rPr sz="3600" dirty="0"/>
              <a:t>and</a:t>
            </a:r>
            <a:r>
              <a:rPr sz="3600" spc="-55" dirty="0"/>
              <a:t> </a:t>
            </a:r>
            <a:r>
              <a:rPr sz="3600" dirty="0"/>
              <a:t>its</a:t>
            </a:r>
            <a:r>
              <a:rPr sz="3600" spc="-40" dirty="0"/>
              <a:t> </a:t>
            </a:r>
            <a:r>
              <a:rPr sz="3600" spc="-10" dirty="0"/>
              <a:t>types</a:t>
            </a:r>
            <a:endParaRPr sz="3600"/>
          </a:p>
        </p:txBody>
      </p:sp>
      <p:pic>
        <p:nvPicPr>
          <p:cNvPr id="3" name="object 3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3694" y="3009900"/>
            <a:ext cx="5430901" cy="28035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3039" y="2343988"/>
            <a:ext cx="8608695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indent="-340995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369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analytics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defined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“the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scientific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transforming</a:t>
            </a:r>
            <a:endParaRPr sz="2400">
              <a:latin typeface="Calibri"/>
              <a:cs typeface="Calibri"/>
            </a:endParaRPr>
          </a:p>
          <a:p>
            <a:pPr marL="355600" algn="just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insights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making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better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decisions.”</a:t>
            </a:r>
            <a:endParaRPr sz="2400">
              <a:latin typeface="Calibri"/>
              <a:cs typeface="Calibri"/>
            </a:endParaRPr>
          </a:p>
          <a:p>
            <a:pPr marL="353060" marR="5080" indent="-340995" algn="just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Professor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James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Evans</a:t>
            </a:r>
            <a:r>
              <a:rPr sz="2400" spc="2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defined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analytics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“it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4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4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information</a:t>
            </a:r>
            <a:r>
              <a:rPr sz="2400" spc="4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technology,</a:t>
            </a:r>
            <a:r>
              <a:rPr sz="2400" spc="4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statistical</a:t>
            </a:r>
            <a:r>
              <a:rPr sz="2400" spc="4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analysis, 	</a:t>
            </a:r>
            <a:r>
              <a:rPr sz="2400" dirty="0">
                <a:latin typeface="Calibri"/>
                <a:cs typeface="Calibri"/>
              </a:rPr>
              <a:t>quantitative</a:t>
            </a:r>
            <a:r>
              <a:rPr sz="2400" spc="3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methods</a:t>
            </a:r>
            <a:r>
              <a:rPr sz="2400" spc="3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35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mathematical</a:t>
            </a:r>
            <a:r>
              <a:rPr sz="2400" spc="3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350" dirty="0">
                <a:latin typeface="Calibri"/>
                <a:cs typeface="Calibri"/>
              </a:rPr>
              <a:t>  </a:t>
            </a:r>
            <a:r>
              <a:rPr sz="2400" spc="-20" dirty="0">
                <a:latin typeface="Calibri"/>
                <a:cs typeface="Calibri"/>
              </a:rPr>
              <a:t>computer-</a:t>
            </a:r>
            <a:r>
              <a:rPr sz="2400" spc="-10" dirty="0">
                <a:latin typeface="Calibri"/>
                <a:cs typeface="Calibri"/>
              </a:rPr>
              <a:t>based 	</a:t>
            </a: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15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help</a:t>
            </a:r>
            <a:r>
              <a:rPr sz="2400" spc="16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managers</a:t>
            </a:r>
            <a:r>
              <a:rPr sz="2400" spc="15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gain</a:t>
            </a:r>
            <a:r>
              <a:rPr sz="2400" spc="16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improved</a:t>
            </a:r>
            <a:r>
              <a:rPr sz="2400" spc="15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insight</a:t>
            </a:r>
            <a:r>
              <a:rPr sz="2400" spc="16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155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their 	</a:t>
            </a:r>
            <a:r>
              <a:rPr sz="2400" dirty="0">
                <a:latin typeface="Calibri"/>
                <a:cs typeface="Calibri"/>
              </a:rPr>
              <a:t>business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better,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fact-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decisions.”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Why</a:t>
            </a:r>
            <a:r>
              <a:rPr sz="3600" spc="-70" dirty="0"/>
              <a:t> </a:t>
            </a:r>
            <a:r>
              <a:rPr sz="3600" dirty="0"/>
              <a:t>data</a:t>
            </a:r>
            <a:r>
              <a:rPr sz="3600" spc="-50" dirty="0"/>
              <a:t> </a:t>
            </a:r>
            <a:r>
              <a:rPr sz="3600" dirty="0"/>
              <a:t>analytics</a:t>
            </a:r>
            <a:r>
              <a:rPr sz="3600" spc="-80" dirty="0"/>
              <a:t> </a:t>
            </a:r>
            <a:r>
              <a:rPr sz="3600" dirty="0"/>
              <a:t>is</a:t>
            </a:r>
            <a:r>
              <a:rPr sz="3600" spc="-55" dirty="0"/>
              <a:t> </a:t>
            </a:r>
            <a:r>
              <a:rPr sz="3600" spc="-10" dirty="0"/>
              <a:t>important?</a:t>
            </a:r>
            <a:endParaRPr sz="3600"/>
          </a:p>
        </p:txBody>
      </p:sp>
      <p:pic>
        <p:nvPicPr>
          <p:cNvPr id="3" name="object 3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3694" y="3009900"/>
            <a:ext cx="5430901" cy="28035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Opportunity</a:t>
            </a:r>
            <a:r>
              <a:rPr spc="229" dirty="0"/>
              <a:t> </a:t>
            </a:r>
            <a:r>
              <a:rPr dirty="0"/>
              <a:t>abounds</a:t>
            </a:r>
            <a:r>
              <a:rPr spc="235" dirty="0"/>
              <a:t> </a:t>
            </a:r>
            <a:r>
              <a:rPr dirty="0"/>
              <a:t>for</a:t>
            </a:r>
            <a:r>
              <a:rPr spc="235" dirty="0"/>
              <a:t> </a:t>
            </a:r>
            <a:r>
              <a:rPr dirty="0"/>
              <a:t>the</a:t>
            </a:r>
            <a:r>
              <a:rPr spc="235" dirty="0"/>
              <a:t> </a:t>
            </a:r>
            <a:r>
              <a:rPr dirty="0"/>
              <a:t>use</a:t>
            </a:r>
            <a:r>
              <a:rPr spc="240" dirty="0"/>
              <a:t> </a:t>
            </a:r>
            <a:r>
              <a:rPr dirty="0"/>
              <a:t>of</a:t>
            </a:r>
            <a:r>
              <a:rPr spc="229" dirty="0"/>
              <a:t> </a:t>
            </a:r>
            <a:r>
              <a:rPr dirty="0"/>
              <a:t>analytics</a:t>
            </a:r>
            <a:r>
              <a:rPr spc="240" dirty="0"/>
              <a:t> </a:t>
            </a:r>
            <a:r>
              <a:rPr dirty="0"/>
              <a:t>and</a:t>
            </a:r>
            <a:r>
              <a:rPr spc="235" dirty="0"/>
              <a:t> </a:t>
            </a:r>
            <a:r>
              <a:rPr dirty="0"/>
              <a:t>big</a:t>
            </a:r>
            <a:r>
              <a:rPr spc="240" dirty="0"/>
              <a:t> </a:t>
            </a:r>
            <a:r>
              <a:rPr dirty="0"/>
              <a:t>data</a:t>
            </a:r>
            <a:r>
              <a:rPr spc="215" dirty="0"/>
              <a:t> </a:t>
            </a:r>
            <a:r>
              <a:rPr spc="-20" dirty="0"/>
              <a:t>such</a:t>
            </a:r>
          </a:p>
          <a:p>
            <a:pPr marL="355600">
              <a:lnSpc>
                <a:spcPct val="100000"/>
              </a:lnSpc>
            </a:pPr>
            <a:r>
              <a:rPr spc="-25" dirty="0"/>
              <a:t>as:</a:t>
            </a:r>
          </a:p>
          <a:p>
            <a:pPr marL="926465" lvl="1" indent="-456565">
              <a:lnSpc>
                <a:spcPct val="100000"/>
              </a:lnSpc>
              <a:buAutoNum type="arabicPeriod"/>
              <a:tabLst>
                <a:tab pos="926465" algn="l"/>
              </a:tabLst>
            </a:pP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Determining</a:t>
            </a:r>
            <a:r>
              <a:rPr sz="2400" spc="-114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credit</a:t>
            </a:r>
            <a:r>
              <a:rPr sz="2400" spc="-9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2F2F2F"/>
                </a:solidFill>
                <a:latin typeface="Calibri"/>
                <a:cs typeface="Calibri"/>
              </a:rPr>
              <a:t>risk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AutoNum type="arabicPeriod"/>
              <a:tabLst>
                <a:tab pos="926465" algn="l"/>
              </a:tabLst>
            </a:pP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Developing</a:t>
            </a:r>
            <a:r>
              <a:rPr sz="2400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new</a:t>
            </a:r>
            <a:r>
              <a:rPr sz="2400" spc="-6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F2F2F"/>
                </a:solidFill>
                <a:latin typeface="Calibri"/>
                <a:cs typeface="Calibri"/>
              </a:rPr>
              <a:t>medicines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926465" algn="l"/>
              </a:tabLst>
            </a:pP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Finding</a:t>
            </a:r>
            <a:r>
              <a:rPr sz="2400" spc="-8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more</a:t>
            </a:r>
            <a:r>
              <a:rPr sz="2400" spc="-6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F2F2F"/>
                </a:solidFill>
                <a:latin typeface="Calibri"/>
                <a:cs typeface="Calibri"/>
              </a:rPr>
              <a:t>efficient</a:t>
            </a:r>
            <a:r>
              <a:rPr sz="2400" spc="-6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ways</a:t>
            </a:r>
            <a:r>
              <a:rPr sz="2400" spc="-7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to</a:t>
            </a:r>
            <a:r>
              <a:rPr sz="2400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deliver</a:t>
            </a:r>
            <a:r>
              <a:rPr sz="2400" spc="-6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products</a:t>
            </a:r>
            <a:r>
              <a:rPr sz="2400" spc="-6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and</a:t>
            </a:r>
            <a:r>
              <a:rPr sz="2400" spc="-6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F2F2F"/>
                </a:solidFill>
                <a:latin typeface="Calibri"/>
                <a:cs typeface="Calibri"/>
              </a:rPr>
              <a:t>services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AutoNum type="arabicPeriod"/>
              <a:tabLst>
                <a:tab pos="926465" algn="l"/>
              </a:tabLst>
            </a:pPr>
            <a:r>
              <a:rPr sz="2400" spc="-10" dirty="0">
                <a:solidFill>
                  <a:srgbClr val="2F2F2F"/>
                </a:solidFill>
                <a:latin typeface="Calibri"/>
                <a:cs typeface="Calibri"/>
              </a:rPr>
              <a:t>Preventing</a:t>
            </a:r>
            <a:r>
              <a:rPr sz="2400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2F2F2F"/>
                </a:solidFill>
                <a:latin typeface="Calibri"/>
                <a:cs typeface="Calibri"/>
              </a:rPr>
              <a:t>fraud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AutoNum type="arabicPeriod"/>
              <a:tabLst>
                <a:tab pos="926465" algn="l"/>
              </a:tabLst>
            </a:pPr>
            <a:r>
              <a:rPr sz="2400" spc="-10" dirty="0">
                <a:solidFill>
                  <a:srgbClr val="2F2F2F"/>
                </a:solidFill>
                <a:latin typeface="Calibri"/>
                <a:cs typeface="Calibri"/>
              </a:rPr>
              <a:t>Uncovering</a:t>
            </a:r>
            <a:r>
              <a:rPr sz="2400" spc="-3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cyber</a:t>
            </a:r>
            <a:r>
              <a:rPr sz="2400" spc="-4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F2F2F"/>
                </a:solidFill>
                <a:latin typeface="Calibri"/>
                <a:cs typeface="Calibri"/>
              </a:rPr>
              <a:t>threats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AutoNum type="arabicPeriod"/>
              <a:tabLst>
                <a:tab pos="926465" algn="l"/>
              </a:tabLst>
            </a:pP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Retaining</a:t>
            </a:r>
            <a:r>
              <a:rPr sz="2400" spc="-11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the</a:t>
            </a:r>
            <a:r>
              <a:rPr sz="2400" spc="-7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most</a:t>
            </a:r>
            <a:r>
              <a:rPr sz="2400" spc="-8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valuable</a:t>
            </a:r>
            <a:r>
              <a:rPr sz="2400" spc="-6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F2F2F"/>
                </a:solidFill>
                <a:latin typeface="Calibri"/>
                <a:cs typeface="Calibri"/>
              </a:rPr>
              <a:t>customers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Data</a:t>
            </a:r>
            <a:r>
              <a:rPr sz="3600" spc="-95" dirty="0"/>
              <a:t> </a:t>
            </a:r>
            <a:r>
              <a:rPr sz="3600" spc="-10" dirty="0"/>
              <a:t>analysis</a:t>
            </a:r>
            <a:endParaRPr sz="3600"/>
          </a:p>
        </p:txBody>
      </p:sp>
      <p:pic>
        <p:nvPicPr>
          <p:cNvPr id="3" name="object 3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3694" y="3009900"/>
            <a:ext cx="5430901" cy="28035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437" y="2308301"/>
            <a:ext cx="8475345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It</a:t>
            </a:r>
            <a:r>
              <a:rPr sz="2400" spc="28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is</a:t>
            </a:r>
            <a:r>
              <a:rPr sz="2400" spc="27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the</a:t>
            </a:r>
            <a:r>
              <a:rPr sz="2400" spc="28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process</a:t>
            </a:r>
            <a:r>
              <a:rPr sz="2400" spc="27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of</a:t>
            </a:r>
            <a:r>
              <a:rPr sz="2400" spc="27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examining,</a:t>
            </a:r>
            <a:r>
              <a:rPr sz="2400" spc="28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transforming,</a:t>
            </a:r>
            <a:r>
              <a:rPr sz="2400" spc="28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and</a:t>
            </a:r>
            <a:r>
              <a:rPr sz="2400" spc="27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arranging</a:t>
            </a:r>
            <a:r>
              <a:rPr sz="2400" spc="28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2F2F2F"/>
                </a:solidFill>
                <a:latin typeface="Calibri"/>
                <a:cs typeface="Calibri"/>
              </a:rPr>
              <a:t>raw</a:t>
            </a:r>
            <a:endParaRPr sz="2400">
              <a:latin typeface="Calibri"/>
              <a:cs typeface="Calibri"/>
            </a:endParaRPr>
          </a:p>
          <a:p>
            <a:pPr marL="355600" algn="just">
              <a:lnSpc>
                <a:spcPct val="100000"/>
              </a:lnSpc>
            </a:pP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data</a:t>
            </a:r>
            <a:r>
              <a:rPr sz="2400" spc="-7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in</a:t>
            </a:r>
            <a:r>
              <a:rPr sz="2400" spc="-6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a</a:t>
            </a:r>
            <a:r>
              <a:rPr sz="2400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specific</a:t>
            </a:r>
            <a:r>
              <a:rPr sz="2400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way</a:t>
            </a:r>
            <a:r>
              <a:rPr sz="2400" spc="-6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to</a:t>
            </a:r>
            <a:r>
              <a:rPr sz="2400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F2F2F"/>
                </a:solidFill>
                <a:latin typeface="Calibri"/>
                <a:cs typeface="Calibri"/>
              </a:rPr>
              <a:t>generate</a:t>
            </a:r>
            <a:r>
              <a:rPr sz="2400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useful</a:t>
            </a:r>
            <a:r>
              <a:rPr sz="2400" spc="-5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F2F2F"/>
                </a:solidFill>
                <a:latin typeface="Calibri"/>
                <a:cs typeface="Calibri"/>
              </a:rPr>
              <a:t>information</a:t>
            </a:r>
            <a:r>
              <a:rPr sz="2400" spc="-7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from</a:t>
            </a:r>
            <a:r>
              <a:rPr sz="2400" spc="-6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2F2F2F"/>
                </a:solidFill>
                <a:latin typeface="Calibri"/>
                <a:cs typeface="Calibri"/>
              </a:rPr>
              <a:t>it.</a:t>
            </a:r>
            <a:endParaRPr sz="2400">
              <a:latin typeface="Calibri"/>
              <a:cs typeface="Calibri"/>
            </a:endParaRPr>
          </a:p>
          <a:p>
            <a:pPr marL="353060" marR="5080" indent="-340360" algn="just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It</a:t>
            </a:r>
            <a:r>
              <a:rPr sz="2400" spc="8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allows</a:t>
            </a:r>
            <a:r>
              <a:rPr sz="2400" spc="8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for</a:t>
            </a:r>
            <a:r>
              <a:rPr sz="2400" spc="8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the</a:t>
            </a:r>
            <a:r>
              <a:rPr sz="2400" spc="8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evaluation</a:t>
            </a:r>
            <a:r>
              <a:rPr sz="2400" spc="7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of</a:t>
            </a:r>
            <a:r>
              <a:rPr sz="2400" spc="8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data</a:t>
            </a:r>
            <a:r>
              <a:rPr sz="2400" spc="8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through</a:t>
            </a:r>
            <a:r>
              <a:rPr sz="2400" spc="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analytical</a:t>
            </a:r>
            <a:r>
              <a:rPr sz="2400" spc="8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and</a:t>
            </a:r>
            <a:r>
              <a:rPr sz="2400" spc="8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F2F2F"/>
                </a:solidFill>
                <a:latin typeface="Calibri"/>
                <a:cs typeface="Calibri"/>
              </a:rPr>
              <a:t>logical 	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reasoning</a:t>
            </a:r>
            <a:r>
              <a:rPr sz="2400" spc="1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to</a:t>
            </a:r>
            <a:r>
              <a:rPr sz="2400" spc="1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lead</a:t>
            </a:r>
            <a:r>
              <a:rPr sz="2400" spc="3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to</a:t>
            </a:r>
            <a:r>
              <a:rPr sz="2400" spc="2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some</a:t>
            </a:r>
            <a:r>
              <a:rPr sz="2400" spc="2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sort</a:t>
            </a:r>
            <a:r>
              <a:rPr sz="2400" spc="2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of</a:t>
            </a:r>
            <a:r>
              <a:rPr sz="2400" spc="2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outcome</a:t>
            </a:r>
            <a:r>
              <a:rPr sz="2400" spc="2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or</a:t>
            </a:r>
            <a:r>
              <a:rPr sz="2400" spc="3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conclusion</a:t>
            </a:r>
            <a:r>
              <a:rPr sz="2400" spc="3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in</a:t>
            </a:r>
            <a:r>
              <a:rPr sz="2400" spc="2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2F2F2F"/>
                </a:solidFill>
                <a:latin typeface="Calibri"/>
                <a:cs typeface="Calibri"/>
              </a:rPr>
              <a:t>some 	</a:t>
            </a:r>
            <a:r>
              <a:rPr sz="2400" spc="-10" dirty="0">
                <a:solidFill>
                  <a:srgbClr val="2F2F2F"/>
                </a:solidFill>
                <a:latin typeface="Calibri"/>
                <a:cs typeface="Calibri"/>
              </a:rPr>
              <a:t>context.</a:t>
            </a:r>
            <a:endParaRPr sz="2400">
              <a:latin typeface="Calibri"/>
              <a:cs typeface="Calibri"/>
            </a:endParaRPr>
          </a:p>
          <a:p>
            <a:pPr marL="353060" marR="7620" indent="-34036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It</a:t>
            </a:r>
            <a:r>
              <a:rPr sz="2400" spc="484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is</a:t>
            </a:r>
            <a:r>
              <a:rPr sz="2400" spc="49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a</a:t>
            </a:r>
            <a:r>
              <a:rPr sz="2400" spc="48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F2F2F"/>
                </a:solidFill>
                <a:latin typeface="Calibri"/>
                <a:cs typeface="Calibri"/>
              </a:rPr>
              <a:t>multi-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faceted</a:t>
            </a:r>
            <a:r>
              <a:rPr sz="2400" spc="49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process</a:t>
            </a:r>
            <a:r>
              <a:rPr sz="2400" spc="49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that</a:t>
            </a:r>
            <a:r>
              <a:rPr sz="2400" spc="47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involves</a:t>
            </a:r>
            <a:r>
              <a:rPr sz="2400" spc="49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a</a:t>
            </a:r>
            <a:r>
              <a:rPr sz="2400" spc="484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number</a:t>
            </a:r>
            <a:r>
              <a:rPr sz="2400" spc="49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of</a:t>
            </a:r>
            <a:r>
              <a:rPr sz="2400" spc="49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F2F2F"/>
                </a:solidFill>
                <a:latin typeface="Calibri"/>
                <a:cs typeface="Calibri"/>
              </a:rPr>
              <a:t>steps, 	approaches,</a:t>
            </a:r>
            <a:r>
              <a:rPr sz="2400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2F2F"/>
                </a:solidFill>
                <a:latin typeface="Calibri"/>
                <a:cs typeface="Calibri"/>
              </a:rPr>
              <a:t>and</a:t>
            </a:r>
            <a:r>
              <a:rPr sz="2400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F2F2F"/>
                </a:solidFill>
                <a:latin typeface="Calibri"/>
                <a:cs typeface="Calibri"/>
              </a:rPr>
              <a:t>diverse</a:t>
            </a:r>
            <a:r>
              <a:rPr sz="2400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F2F2F"/>
                </a:solidFill>
                <a:latin typeface="Calibri"/>
                <a:cs typeface="Calibri"/>
              </a:rPr>
              <a:t>techniques.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Data</a:t>
            </a:r>
            <a:r>
              <a:rPr sz="3600" spc="-90" dirty="0"/>
              <a:t> </a:t>
            </a:r>
            <a:r>
              <a:rPr sz="3600" dirty="0"/>
              <a:t>analytics</a:t>
            </a:r>
            <a:r>
              <a:rPr sz="3600" spc="-100" dirty="0"/>
              <a:t> </a:t>
            </a:r>
            <a:r>
              <a:rPr sz="3600" spc="-10" dirty="0"/>
              <a:t>Vs.</a:t>
            </a:r>
            <a:r>
              <a:rPr sz="3600" spc="-95" dirty="0"/>
              <a:t> </a:t>
            </a:r>
            <a:r>
              <a:rPr sz="3600" dirty="0"/>
              <a:t>Data</a:t>
            </a:r>
            <a:r>
              <a:rPr sz="3600" spc="-85" dirty="0"/>
              <a:t> </a:t>
            </a:r>
            <a:r>
              <a:rPr sz="3600" spc="-10" dirty="0"/>
              <a:t>Analysis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381000" y="2369820"/>
            <a:ext cx="7173595" cy="3443604"/>
            <a:chOff x="381000" y="2369820"/>
            <a:chExt cx="7173595" cy="3443604"/>
          </a:xfrm>
        </p:grpSpPr>
        <p:pic>
          <p:nvPicPr>
            <p:cNvPr id="4" name="object 4" descr="C:\Users\parul\Desktop\Untitled-1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3694" y="3009900"/>
              <a:ext cx="5430901" cy="28035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2369820"/>
              <a:ext cx="1537715" cy="67970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71296" y="2449195"/>
            <a:ext cx="1157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1F5F"/>
                </a:solidFill>
                <a:latin typeface="Arial MT"/>
                <a:cs typeface="Arial MT"/>
              </a:rPr>
              <a:t>Analysis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21588" y="3108325"/>
            <a:ext cx="8445500" cy="3411854"/>
            <a:chOff x="521588" y="3108325"/>
            <a:chExt cx="8445500" cy="3411854"/>
          </a:xfrm>
        </p:grpSpPr>
        <p:sp>
          <p:nvSpPr>
            <p:cNvPr id="8" name="object 8"/>
            <p:cNvSpPr/>
            <p:nvPr/>
          </p:nvSpPr>
          <p:spPr>
            <a:xfrm>
              <a:off x="534288" y="3121025"/>
              <a:ext cx="1152525" cy="216535"/>
            </a:xfrm>
            <a:custGeom>
              <a:avLst/>
              <a:gdLst/>
              <a:ahLst/>
              <a:cxnLst/>
              <a:rect l="l" t="t" r="r" b="b"/>
              <a:pathLst>
                <a:path w="1152525" h="216535">
                  <a:moveTo>
                    <a:pt x="108013" y="0"/>
                  </a:moveTo>
                  <a:lnTo>
                    <a:pt x="0" y="107950"/>
                  </a:lnTo>
                  <a:lnTo>
                    <a:pt x="108013" y="216026"/>
                  </a:lnTo>
                  <a:lnTo>
                    <a:pt x="108013" y="162051"/>
                  </a:lnTo>
                  <a:lnTo>
                    <a:pt x="1152144" y="162051"/>
                  </a:lnTo>
                  <a:lnTo>
                    <a:pt x="1152144" y="53975"/>
                  </a:lnTo>
                  <a:lnTo>
                    <a:pt x="108013" y="53975"/>
                  </a:lnTo>
                  <a:lnTo>
                    <a:pt x="10801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4288" y="3121025"/>
              <a:ext cx="1152525" cy="216535"/>
            </a:xfrm>
            <a:custGeom>
              <a:avLst/>
              <a:gdLst/>
              <a:ahLst/>
              <a:cxnLst/>
              <a:rect l="l" t="t" r="r" b="b"/>
              <a:pathLst>
                <a:path w="1152525" h="216535">
                  <a:moveTo>
                    <a:pt x="0" y="107950"/>
                  </a:moveTo>
                  <a:lnTo>
                    <a:pt x="108013" y="0"/>
                  </a:lnTo>
                  <a:lnTo>
                    <a:pt x="108013" y="53975"/>
                  </a:lnTo>
                  <a:lnTo>
                    <a:pt x="1152144" y="53975"/>
                  </a:lnTo>
                  <a:lnTo>
                    <a:pt x="1152144" y="162051"/>
                  </a:lnTo>
                  <a:lnTo>
                    <a:pt x="108013" y="162051"/>
                  </a:lnTo>
                  <a:lnTo>
                    <a:pt x="108013" y="216026"/>
                  </a:lnTo>
                  <a:lnTo>
                    <a:pt x="0" y="10795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5029" y="4233735"/>
              <a:ext cx="3781932" cy="228638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822756" y="3600704"/>
            <a:ext cx="508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Arial"/>
                <a:cs typeface="Arial"/>
              </a:rPr>
              <a:t>Past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65014" y="2543047"/>
            <a:ext cx="838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Explain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63339" y="3311397"/>
            <a:ext cx="603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4F81BC"/>
                </a:solidFill>
                <a:latin typeface="Arial MT"/>
                <a:cs typeface="Arial MT"/>
              </a:rPr>
              <a:t>How?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19927" y="3364433"/>
            <a:ext cx="6070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1F5F"/>
                </a:solidFill>
                <a:latin typeface="Arial MT"/>
                <a:cs typeface="Arial MT"/>
              </a:rPr>
              <a:t>Why?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4370" y="4595241"/>
            <a:ext cx="446595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analysis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something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-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what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happened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past.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why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happened?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happened?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Example: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mortem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analysis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Data</a:t>
            </a:r>
            <a:r>
              <a:rPr sz="3600" spc="-90" dirty="0"/>
              <a:t> </a:t>
            </a:r>
            <a:r>
              <a:rPr sz="3600" dirty="0"/>
              <a:t>analytics</a:t>
            </a:r>
            <a:r>
              <a:rPr sz="3600" spc="-100" dirty="0"/>
              <a:t> </a:t>
            </a:r>
            <a:r>
              <a:rPr sz="3600" spc="-10" dirty="0"/>
              <a:t>Vs.</a:t>
            </a:r>
            <a:r>
              <a:rPr sz="3600" spc="-95" dirty="0"/>
              <a:t> </a:t>
            </a:r>
            <a:r>
              <a:rPr sz="3600" dirty="0"/>
              <a:t>Data</a:t>
            </a:r>
            <a:r>
              <a:rPr sz="3600" spc="-85" dirty="0"/>
              <a:t> </a:t>
            </a:r>
            <a:r>
              <a:rPr sz="3600" spc="-10" dirty="0"/>
              <a:t>Analysis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338327" y="2369820"/>
            <a:ext cx="7216775" cy="3443604"/>
            <a:chOff x="338327" y="2369820"/>
            <a:chExt cx="7216775" cy="3443604"/>
          </a:xfrm>
        </p:grpSpPr>
        <p:pic>
          <p:nvPicPr>
            <p:cNvPr id="4" name="object 4" descr="C:\Users\parul\Desktop\Untitled-1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3694" y="3009900"/>
              <a:ext cx="5430901" cy="28035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327" y="2369820"/>
              <a:ext cx="1623060" cy="67970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28929" y="2449195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1F5F"/>
                </a:solidFill>
                <a:latin typeface="Arial MT"/>
                <a:cs typeface="Arial MT"/>
              </a:rPr>
              <a:t>Analytics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4370" y="3637279"/>
            <a:ext cx="6303010" cy="2081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161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Future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Analytics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studying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–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what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happen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future.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explore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possible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potential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future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events.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21588" y="3115564"/>
            <a:ext cx="1116965" cy="263525"/>
            <a:chOff x="521588" y="3115564"/>
            <a:chExt cx="1116965" cy="263525"/>
          </a:xfrm>
        </p:grpSpPr>
        <p:sp>
          <p:nvSpPr>
            <p:cNvPr id="9" name="object 9"/>
            <p:cNvSpPr/>
            <p:nvPr/>
          </p:nvSpPr>
          <p:spPr>
            <a:xfrm>
              <a:off x="534288" y="3128264"/>
              <a:ext cx="1091565" cy="238125"/>
            </a:xfrm>
            <a:custGeom>
              <a:avLst/>
              <a:gdLst/>
              <a:ahLst/>
              <a:cxnLst/>
              <a:rect l="l" t="t" r="r" b="b"/>
              <a:pathLst>
                <a:path w="1091564" h="238125">
                  <a:moveTo>
                    <a:pt x="972693" y="0"/>
                  </a:moveTo>
                  <a:lnTo>
                    <a:pt x="972693" y="59562"/>
                  </a:lnTo>
                  <a:lnTo>
                    <a:pt x="0" y="59562"/>
                  </a:lnTo>
                  <a:lnTo>
                    <a:pt x="0" y="178435"/>
                  </a:lnTo>
                  <a:lnTo>
                    <a:pt x="972693" y="178435"/>
                  </a:lnTo>
                  <a:lnTo>
                    <a:pt x="972693" y="237998"/>
                  </a:lnTo>
                  <a:lnTo>
                    <a:pt x="1091565" y="118999"/>
                  </a:lnTo>
                  <a:lnTo>
                    <a:pt x="97269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4288" y="3128264"/>
              <a:ext cx="1091565" cy="238125"/>
            </a:xfrm>
            <a:custGeom>
              <a:avLst/>
              <a:gdLst/>
              <a:ahLst/>
              <a:cxnLst/>
              <a:rect l="l" t="t" r="r" b="b"/>
              <a:pathLst>
                <a:path w="1091564" h="238125">
                  <a:moveTo>
                    <a:pt x="0" y="59562"/>
                  </a:moveTo>
                  <a:lnTo>
                    <a:pt x="972693" y="59562"/>
                  </a:lnTo>
                  <a:lnTo>
                    <a:pt x="972693" y="0"/>
                  </a:lnTo>
                  <a:lnTo>
                    <a:pt x="1091565" y="118999"/>
                  </a:lnTo>
                  <a:lnTo>
                    <a:pt x="972693" y="237998"/>
                  </a:lnTo>
                  <a:lnTo>
                    <a:pt x="972693" y="178435"/>
                  </a:lnTo>
                  <a:lnTo>
                    <a:pt x="0" y="178435"/>
                  </a:lnTo>
                  <a:lnTo>
                    <a:pt x="0" y="59562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Data</a:t>
            </a:r>
            <a:r>
              <a:rPr sz="3600" spc="-90" dirty="0"/>
              <a:t> </a:t>
            </a:r>
            <a:r>
              <a:rPr sz="3600" dirty="0"/>
              <a:t>analytics</a:t>
            </a:r>
            <a:r>
              <a:rPr sz="3600" spc="-100" dirty="0"/>
              <a:t> </a:t>
            </a:r>
            <a:r>
              <a:rPr sz="3600" spc="-10" dirty="0"/>
              <a:t>Vs.</a:t>
            </a:r>
            <a:r>
              <a:rPr sz="3600" spc="-95" dirty="0"/>
              <a:t> </a:t>
            </a:r>
            <a:r>
              <a:rPr sz="3600" dirty="0"/>
              <a:t>Data</a:t>
            </a:r>
            <a:r>
              <a:rPr sz="3600" spc="-85" dirty="0"/>
              <a:t> </a:t>
            </a:r>
            <a:r>
              <a:rPr sz="3600" spc="-10" dirty="0"/>
              <a:t>Analysis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108520" y="2409151"/>
            <a:ext cx="8845550" cy="3900170"/>
            <a:chOff x="108520" y="2409151"/>
            <a:chExt cx="8845550" cy="3900170"/>
          </a:xfrm>
        </p:grpSpPr>
        <p:pic>
          <p:nvPicPr>
            <p:cNvPr id="4" name="object 4" descr="C:\Users\parul\Desktop\Untitled-1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3693" y="3009900"/>
              <a:ext cx="5430901" cy="28035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520" y="2409151"/>
              <a:ext cx="8845042" cy="39001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Data</a:t>
            </a:r>
            <a:r>
              <a:rPr sz="3600" spc="-90" dirty="0"/>
              <a:t> </a:t>
            </a:r>
            <a:r>
              <a:rPr sz="3600" dirty="0"/>
              <a:t>analytics</a:t>
            </a:r>
            <a:r>
              <a:rPr sz="3600" spc="-100" dirty="0"/>
              <a:t> </a:t>
            </a:r>
            <a:r>
              <a:rPr sz="3600" spc="-10" dirty="0"/>
              <a:t>Vs.</a:t>
            </a:r>
            <a:r>
              <a:rPr sz="3600" spc="-95" dirty="0"/>
              <a:t> </a:t>
            </a:r>
            <a:r>
              <a:rPr sz="3600" dirty="0"/>
              <a:t>Data</a:t>
            </a:r>
            <a:r>
              <a:rPr sz="3600" spc="-85" dirty="0"/>
              <a:t> </a:t>
            </a:r>
            <a:r>
              <a:rPr sz="3600" spc="-10" dirty="0"/>
              <a:t>Analysis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0" y="2561361"/>
            <a:ext cx="9144000" cy="3624579"/>
            <a:chOff x="0" y="2561361"/>
            <a:chExt cx="9144000" cy="3624579"/>
          </a:xfrm>
        </p:grpSpPr>
        <p:pic>
          <p:nvPicPr>
            <p:cNvPr id="4" name="object 4" descr="C:\Users\parul\Desktop\Untitled-1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3694" y="3009900"/>
              <a:ext cx="5430901" cy="28035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561361"/>
              <a:ext cx="9144000" cy="36240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Classification</a:t>
            </a:r>
            <a:r>
              <a:rPr sz="3600" spc="-80" dirty="0"/>
              <a:t> </a:t>
            </a:r>
            <a:r>
              <a:rPr sz="3600" dirty="0"/>
              <a:t>of</a:t>
            </a:r>
            <a:r>
              <a:rPr sz="3600" spc="-60" dirty="0"/>
              <a:t> </a:t>
            </a:r>
            <a:r>
              <a:rPr sz="3600" dirty="0"/>
              <a:t>Data</a:t>
            </a:r>
            <a:r>
              <a:rPr sz="3600" spc="-60" dirty="0"/>
              <a:t> </a:t>
            </a:r>
            <a:r>
              <a:rPr sz="3600" spc="-10" dirty="0"/>
              <a:t>analytics</a:t>
            </a:r>
            <a:endParaRPr sz="3600"/>
          </a:p>
        </p:txBody>
      </p:sp>
      <p:pic>
        <p:nvPicPr>
          <p:cNvPr id="3" name="object 3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3694" y="3009900"/>
            <a:ext cx="5430901" cy="28035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Based</a:t>
            </a:r>
            <a:r>
              <a:rPr spc="-10" dirty="0"/>
              <a:t> </a:t>
            </a:r>
            <a:r>
              <a:rPr dirty="0"/>
              <a:t>on</a:t>
            </a:r>
            <a:r>
              <a:rPr spc="-1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phase</a:t>
            </a:r>
            <a:r>
              <a:rPr spc="-2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workflow and</a:t>
            </a:r>
            <a:r>
              <a:rPr spc="-15" dirty="0"/>
              <a:t> </a:t>
            </a:r>
            <a:r>
              <a:rPr dirty="0"/>
              <a:t>kind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analysis</a:t>
            </a:r>
            <a:r>
              <a:rPr spc="-20" dirty="0"/>
              <a:t> </a:t>
            </a:r>
            <a:r>
              <a:rPr dirty="0"/>
              <a:t>required,</a:t>
            </a:r>
            <a:r>
              <a:rPr spc="-15" dirty="0"/>
              <a:t> </a:t>
            </a:r>
            <a:r>
              <a:rPr spc="-10" dirty="0"/>
              <a:t>there</a:t>
            </a:r>
          </a:p>
          <a:p>
            <a:pPr marL="12700">
              <a:lnSpc>
                <a:spcPct val="100000"/>
              </a:lnSpc>
            </a:pPr>
            <a:r>
              <a:rPr dirty="0"/>
              <a:t>are</a:t>
            </a:r>
            <a:r>
              <a:rPr spc="-50" dirty="0"/>
              <a:t> </a:t>
            </a:r>
            <a:r>
              <a:rPr dirty="0"/>
              <a:t>four</a:t>
            </a:r>
            <a:r>
              <a:rPr spc="-60" dirty="0"/>
              <a:t> </a:t>
            </a:r>
            <a:r>
              <a:rPr dirty="0"/>
              <a:t>major</a:t>
            </a:r>
            <a:r>
              <a:rPr spc="-60" dirty="0"/>
              <a:t> </a:t>
            </a:r>
            <a:r>
              <a:rPr dirty="0"/>
              <a:t>types</a:t>
            </a:r>
            <a:r>
              <a:rPr spc="-7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data</a:t>
            </a:r>
            <a:r>
              <a:rPr spc="-60" dirty="0"/>
              <a:t> </a:t>
            </a:r>
            <a:r>
              <a:rPr spc="-10" dirty="0"/>
              <a:t>analytics:</a:t>
            </a: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pc="-10" dirty="0"/>
              <a:t>Descriptive</a:t>
            </a:r>
            <a:r>
              <a:rPr spc="-30" dirty="0"/>
              <a:t> </a:t>
            </a:r>
            <a:r>
              <a:rPr spc="-10" dirty="0"/>
              <a:t>analytics</a:t>
            </a: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/>
              <a:t>Diagnostic</a:t>
            </a:r>
            <a:r>
              <a:rPr spc="-85" dirty="0"/>
              <a:t> </a:t>
            </a:r>
            <a:r>
              <a:rPr spc="-10" dirty="0"/>
              <a:t>analytics</a:t>
            </a: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Predictive</a:t>
            </a:r>
            <a:r>
              <a:rPr spc="-85" dirty="0"/>
              <a:t> </a:t>
            </a:r>
            <a:r>
              <a:rPr spc="-10" dirty="0"/>
              <a:t>analytics</a:t>
            </a: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pc="-10" dirty="0"/>
              <a:t>Prescriptive</a:t>
            </a:r>
            <a:r>
              <a:rPr spc="-40" dirty="0"/>
              <a:t> </a:t>
            </a:r>
            <a:r>
              <a:rPr spc="-10" dirty="0"/>
              <a:t>analytics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Classification</a:t>
            </a:r>
            <a:r>
              <a:rPr sz="3600" spc="-80" dirty="0"/>
              <a:t> </a:t>
            </a:r>
            <a:r>
              <a:rPr sz="3600" dirty="0"/>
              <a:t>of</a:t>
            </a:r>
            <a:r>
              <a:rPr sz="3600" spc="-60" dirty="0"/>
              <a:t> </a:t>
            </a:r>
            <a:r>
              <a:rPr sz="3600" dirty="0"/>
              <a:t>Data</a:t>
            </a:r>
            <a:r>
              <a:rPr sz="3600" spc="-60" dirty="0"/>
              <a:t> </a:t>
            </a:r>
            <a:r>
              <a:rPr sz="3600" spc="-10" dirty="0"/>
              <a:t>analytics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1979041" y="2244598"/>
            <a:ext cx="5575935" cy="4089400"/>
            <a:chOff x="1979041" y="2244598"/>
            <a:chExt cx="5575935" cy="4089400"/>
          </a:xfrm>
        </p:grpSpPr>
        <p:pic>
          <p:nvPicPr>
            <p:cNvPr id="4" name="object 4" descr="C:\Users\parul\Desktop\Untitled-1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3694" y="3009900"/>
              <a:ext cx="5430901" cy="28035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991741" y="2257298"/>
              <a:ext cx="4064000" cy="4064000"/>
            </a:xfrm>
            <a:custGeom>
              <a:avLst/>
              <a:gdLst/>
              <a:ahLst/>
              <a:cxnLst/>
              <a:rect l="l" t="t" r="r" b="b"/>
              <a:pathLst>
                <a:path w="4064000" h="4064000">
                  <a:moveTo>
                    <a:pt x="2031999" y="0"/>
                  </a:moveTo>
                  <a:lnTo>
                    <a:pt x="0" y="4063936"/>
                  </a:lnTo>
                  <a:lnTo>
                    <a:pt x="4064000" y="4063936"/>
                  </a:lnTo>
                  <a:lnTo>
                    <a:pt x="2031999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91741" y="2257298"/>
              <a:ext cx="4064000" cy="4064000"/>
            </a:xfrm>
            <a:custGeom>
              <a:avLst/>
              <a:gdLst/>
              <a:ahLst/>
              <a:cxnLst/>
              <a:rect l="l" t="t" r="r" b="b"/>
              <a:pathLst>
                <a:path w="4064000" h="4064000">
                  <a:moveTo>
                    <a:pt x="0" y="4063936"/>
                  </a:moveTo>
                  <a:lnTo>
                    <a:pt x="2031999" y="0"/>
                  </a:lnTo>
                  <a:lnTo>
                    <a:pt x="4064000" y="4063936"/>
                  </a:lnTo>
                  <a:lnTo>
                    <a:pt x="0" y="4063936"/>
                  </a:lnTo>
                  <a:close/>
                </a:path>
              </a:pathLst>
            </a:custGeom>
            <a:ln w="25400">
              <a:solidFill>
                <a:srgbClr val="EDEB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23741" y="2664079"/>
              <a:ext cx="2641600" cy="722630"/>
            </a:xfrm>
            <a:custGeom>
              <a:avLst/>
              <a:gdLst/>
              <a:ahLst/>
              <a:cxnLst/>
              <a:rect l="l" t="t" r="r" b="b"/>
              <a:pathLst>
                <a:path w="2641600" h="722629">
                  <a:moveTo>
                    <a:pt x="2521204" y="0"/>
                  </a:moveTo>
                  <a:lnTo>
                    <a:pt x="120396" y="0"/>
                  </a:lnTo>
                  <a:lnTo>
                    <a:pt x="73509" y="9453"/>
                  </a:lnTo>
                  <a:lnTo>
                    <a:pt x="35242" y="35242"/>
                  </a:lnTo>
                  <a:lnTo>
                    <a:pt x="9453" y="73509"/>
                  </a:lnTo>
                  <a:lnTo>
                    <a:pt x="0" y="120396"/>
                  </a:lnTo>
                  <a:lnTo>
                    <a:pt x="0" y="601853"/>
                  </a:lnTo>
                  <a:lnTo>
                    <a:pt x="9453" y="648739"/>
                  </a:lnTo>
                  <a:lnTo>
                    <a:pt x="35242" y="687006"/>
                  </a:lnTo>
                  <a:lnTo>
                    <a:pt x="73509" y="712795"/>
                  </a:lnTo>
                  <a:lnTo>
                    <a:pt x="120396" y="722249"/>
                  </a:lnTo>
                  <a:lnTo>
                    <a:pt x="2521204" y="722249"/>
                  </a:lnTo>
                  <a:lnTo>
                    <a:pt x="2568037" y="712795"/>
                  </a:lnTo>
                  <a:lnTo>
                    <a:pt x="2606309" y="687006"/>
                  </a:lnTo>
                  <a:lnTo>
                    <a:pt x="2632128" y="648739"/>
                  </a:lnTo>
                  <a:lnTo>
                    <a:pt x="2641600" y="601853"/>
                  </a:lnTo>
                  <a:lnTo>
                    <a:pt x="2641600" y="120396"/>
                  </a:lnTo>
                  <a:lnTo>
                    <a:pt x="2632128" y="73509"/>
                  </a:lnTo>
                  <a:lnTo>
                    <a:pt x="2606309" y="35242"/>
                  </a:lnTo>
                  <a:lnTo>
                    <a:pt x="2568037" y="9453"/>
                  </a:lnTo>
                  <a:lnTo>
                    <a:pt x="2521204" y="0"/>
                  </a:lnTo>
                  <a:close/>
                </a:path>
              </a:pathLst>
            </a:custGeom>
            <a:solidFill>
              <a:srgbClr val="EDEBE0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23741" y="2664079"/>
              <a:ext cx="2641600" cy="722630"/>
            </a:xfrm>
            <a:custGeom>
              <a:avLst/>
              <a:gdLst/>
              <a:ahLst/>
              <a:cxnLst/>
              <a:rect l="l" t="t" r="r" b="b"/>
              <a:pathLst>
                <a:path w="2641600" h="722629">
                  <a:moveTo>
                    <a:pt x="0" y="120396"/>
                  </a:moveTo>
                  <a:lnTo>
                    <a:pt x="9453" y="73509"/>
                  </a:lnTo>
                  <a:lnTo>
                    <a:pt x="35242" y="35242"/>
                  </a:lnTo>
                  <a:lnTo>
                    <a:pt x="73509" y="9453"/>
                  </a:lnTo>
                  <a:lnTo>
                    <a:pt x="120396" y="0"/>
                  </a:lnTo>
                  <a:lnTo>
                    <a:pt x="2521204" y="0"/>
                  </a:lnTo>
                  <a:lnTo>
                    <a:pt x="2568037" y="9453"/>
                  </a:lnTo>
                  <a:lnTo>
                    <a:pt x="2606309" y="35242"/>
                  </a:lnTo>
                  <a:lnTo>
                    <a:pt x="2632128" y="73509"/>
                  </a:lnTo>
                  <a:lnTo>
                    <a:pt x="2641600" y="120396"/>
                  </a:lnTo>
                  <a:lnTo>
                    <a:pt x="2641600" y="601853"/>
                  </a:lnTo>
                  <a:lnTo>
                    <a:pt x="2632128" y="648739"/>
                  </a:lnTo>
                  <a:lnTo>
                    <a:pt x="2606309" y="687006"/>
                  </a:lnTo>
                  <a:lnTo>
                    <a:pt x="2568037" y="712795"/>
                  </a:lnTo>
                  <a:lnTo>
                    <a:pt x="2521204" y="722249"/>
                  </a:lnTo>
                  <a:lnTo>
                    <a:pt x="120396" y="722249"/>
                  </a:lnTo>
                  <a:lnTo>
                    <a:pt x="73509" y="712795"/>
                  </a:lnTo>
                  <a:lnTo>
                    <a:pt x="35242" y="687006"/>
                  </a:lnTo>
                  <a:lnTo>
                    <a:pt x="9453" y="648739"/>
                  </a:lnTo>
                  <a:lnTo>
                    <a:pt x="0" y="601853"/>
                  </a:lnTo>
                  <a:lnTo>
                    <a:pt x="0" y="120396"/>
                  </a:lnTo>
                  <a:close/>
                </a:path>
              </a:pathLst>
            </a:custGeom>
            <a:ln w="25399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23741" y="3476625"/>
              <a:ext cx="2641600" cy="722630"/>
            </a:xfrm>
            <a:custGeom>
              <a:avLst/>
              <a:gdLst/>
              <a:ahLst/>
              <a:cxnLst/>
              <a:rect l="l" t="t" r="r" b="b"/>
              <a:pathLst>
                <a:path w="2641600" h="722629">
                  <a:moveTo>
                    <a:pt x="2521204" y="0"/>
                  </a:moveTo>
                  <a:lnTo>
                    <a:pt x="120396" y="0"/>
                  </a:lnTo>
                  <a:lnTo>
                    <a:pt x="73509" y="9453"/>
                  </a:lnTo>
                  <a:lnTo>
                    <a:pt x="35242" y="35242"/>
                  </a:lnTo>
                  <a:lnTo>
                    <a:pt x="9453" y="73509"/>
                  </a:lnTo>
                  <a:lnTo>
                    <a:pt x="0" y="120396"/>
                  </a:lnTo>
                  <a:lnTo>
                    <a:pt x="0" y="601980"/>
                  </a:lnTo>
                  <a:lnTo>
                    <a:pt x="9453" y="648813"/>
                  </a:lnTo>
                  <a:lnTo>
                    <a:pt x="35242" y="687085"/>
                  </a:lnTo>
                  <a:lnTo>
                    <a:pt x="73509" y="712904"/>
                  </a:lnTo>
                  <a:lnTo>
                    <a:pt x="120396" y="722376"/>
                  </a:lnTo>
                  <a:lnTo>
                    <a:pt x="2521204" y="722376"/>
                  </a:lnTo>
                  <a:lnTo>
                    <a:pt x="2568037" y="712904"/>
                  </a:lnTo>
                  <a:lnTo>
                    <a:pt x="2606309" y="687085"/>
                  </a:lnTo>
                  <a:lnTo>
                    <a:pt x="2632128" y="648813"/>
                  </a:lnTo>
                  <a:lnTo>
                    <a:pt x="2641600" y="601980"/>
                  </a:lnTo>
                  <a:lnTo>
                    <a:pt x="2641600" y="120396"/>
                  </a:lnTo>
                  <a:lnTo>
                    <a:pt x="2632128" y="73509"/>
                  </a:lnTo>
                  <a:lnTo>
                    <a:pt x="2606309" y="35242"/>
                  </a:lnTo>
                  <a:lnTo>
                    <a:pt x="2568037" y="9453"/>
                  </a:lnTo>
                  <a:lnTo>
                    <a:pt x="2521204" y="0"/>
                  </a:lnTo>
                  <a:close/>
                </a:path>
              </a:pathLst>
            </a:custGeom>
            <a:solidFill>
              <a:srgbClr val="EDEBE0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23741" y="3476625"/>
              <a:ext cx="2641600" cy="722630"/>
            </a:xfrm>
            <a:custGeom>
              <a:avLst/>
              <a:gdLst/>
              <a:ahLst/>
              <a:cxnLst/>
              <a:rect l="l" t="t" r="r" b="b"/>
              <a:pathLst>
                <a:path w="2641600" h="722629">
                  <a:moveTo>
                    <a:pt x="0" y="120396"/>
                  </a:moveTo>
                  <a:lnTo>
                    <a:pt x="9453" y="73509"/>
                  </a:lnTo>
                  <a:lnTo>
                    <a:pt x="35242" y="35242"/>
                  </a:lnTo>
                  <a:lnTo>
                    <a:pt x="73509" y="9453"/>
                  </a:lnTo>
                  <a:lnTo>
                    <a:pt x="120396" y="0"/>
                  </a:lnTo>
                  <a:lnTo>
                    <a:pt x="2521204" y="0"/>
                  </a:lnTo>
                  <a:lnTo>
                    <a:pt x="2568037" y="9453"/>
                  </a:lnTo>
                  <a:lnTo>
                    <a:pt x="2606309" y="35242"/>
                  </a:lnTo>
                  <a:lnTo>
                    <a:pt x="2632128" y="73509"/>
                  </a:lnTo>
                  <a:lnTo>
                    <a:pt x="2641600" y="120396"/>
                  </a:lnTo>
                  <a:lnTo>
                    <a:pt x="2641600" y="601980"/>
                  </a:lnTo>
                  <a:lnTo>
                    <a:pt x="2632128" y="648813"/>
                  </a:lnTo>
                  <a:lnTo>
                    <a:pt x="2606309" y="687085"/>
                  </a:lnTo>
                  <a:lnTo>
                    <a:pt x="2568037" y="712904"/>
                  </a:lnTo>
                  <a:lnTo>
                    <a:pt x="2521204" y="722376"/>
                  </a:lnTo>
                  <a:lnTo>
                    <a:pt x="120396" y="722376"/>
                  </a:lnTo>
                  <a:lnTo>
                    <a:pt x="73509" y="712904"/>
                  </a:lnTo>
                  <a:lnTo>
                    <a:pt x="35242" y="687085"/>
                  </a:lnTo>
                  <a:lnTo>
                    <a:pt x="9453" y="648813"/>
                  </a:lnTo>
                  <a:lnTo>
                    <a:pt x="0" y="601980"/>
                  </a:lnTo>
                  <a:lnTo>
                    <a:pt x="0" y="120396"/>
                  </a:lnTo>
                  <a:close/>
                </a:path>
              </a:pathLst>
            </a:custGeom>
            <a:ln w="25400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23741" y="4289298"/>
              <a:ext cx="2641600" cy="722630"/>
            </a:xfrm>
            <a:custGeom>
              <a:avLst/>
              <a:gdLst/>
              <a:ahLst/>
              <a:cxnLst/>
              <a:rect l="l" t="t" r="r" b="b"/>
              <a:pathLst>
                <a:path w="2641600" h="722629">
                  <a:moveTo>
                    <a:pt x="2521204" y="0"/>
                  </a:moveTo>
                  <a:lnTo>
                    <a:pt x="120396" y="0"/>
                  </a:lnTo>
                  <a:lnTo>
                    <a:pt x="73509" y="9451"/>
                  </a:lnTo>
                  <a:lnTo>
                    <a:pt x="35242" y="35226"/>
                  </a:lnTo>
                  <a:lnTo>
                    <a:pt x="9453" y="73455"/>
                  </a:lnTo>
                  <a:lnTo>
                    <a:pt x="0" y="120268"/>
                  </a:lnTo>
                  <a:lnTo>
                    <a:pt x="0" y="601852"/>
                  </a:lnTo>
                  <a:lnTo>
                    <a:pt x="9453" y="648739"/>
                  </a:lnTo>
                  <a:lnTo>
                    <a:pt x="35242" y="687006"/>
                  </a:lnTo>
                  <a:lnTo>
                    <a:pt x="73509" y="712795"/>
                  </a:lnTo>
                  <a:lnTo>
                    <a:pt x="120396" y="722249"/>
                  </a:lnTo>
                  <a:lnTo>
                    <a:pt x="2521204" y="722249"/>
                  </a:lnTo>
                  <a:lnTo>
                    <a:pt x="2568037" y="712795"/>
                  </a:lnTo>
                  <a:lnTo>
                    <a:pt x="2606309" y="687006"/>
                  </a:lnTo>
                  <a:lnTo>
                    <a:pt x="2632128" y="648739"/>
                  </a:lnTo>
                  <a:lnTo>
                    <a:pt x="2641600" y="601852"/>
                  </a:lnTo>
                  <a:lnTo>
                    <a:pt x="2641600" y="120268"/>
                  </a:lnTo>
                  <a:lnTo>
                    <a:pt x="2632128" y="73455"/>
                  </a:lnTo>
                  <a:lnTo>
                    <a:pt x="2606309" y="35226"/>
                  </a:lnTo>
                  <a:lnTo>
                    <a:pt x="2568037" y="9451"/>
                  </a:lnTo>
                  <a:lnTo>
                    <a:pt x="2521204" y="0"/>
                  </a:lnTo>
                  <a:close/>
                </a:path>
              </a:pathLst>
            </a:custGeom>
            <a:solidFill>
              <a:srgbClr val="EDEBE0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23741" y="4289298"/>
              <a:ext cx="2641600" cy="722630"/>
            </a:xfrm>
            <a:custGeom>
              <a:avLst/>
              <a:gdLst/>
              <a:ahLst/>
              <a:cxnLst/>
              <a:rect l="l" t="t" r="r" b="b"/>
              <a:pathLst>
                <a:path w="2641600" h="722629">
                  <a:moveTo>
                    <a:pt x="0" y="120268"/>
                  </a:moveTo>
                  <a:lnTo>
                    <a:pt x="9453" y="73455"/>
                  </a:lnTo>
                  <a:lnTo>
                    <a:pt x="35242" y="35226"/>
                  </a:lnTo>
                  <a:lnTo>
                    <a:pt x="73509" y="9451"/>
                  </a:lnTo>
                  <a:lnTo>
                    <a:pt x="120396" y="0"/>
                  </a:lnTo>
                  <a:lnTo>
                    <a:pt x="2521204" y="0"/>
                  </a:lnTo>
                  <a:lnTo>
                    <a:pt x="2568037" y="9451"/>
                  </a:lnTo>
                  <a:lnTo>
                    <a:pt x="2606309" y="35226"/>
                  </a:lnTo>
                  <a:lnTo>
                    <a:pt x="2632128" y="73455"/>
                  </a:lnTo>
                  <a:lnTo>
                    <a:pt x="2641600" y="120268"/>
                  </a:lnTo>
                  <a:lnTo>
                    <a:pt x="2641600" y="601852"/>
                  </a:lnTo>
                  <a:lnTo>
                    <a:pt x="2632128" y="648739"/>
                  </a:lnTo>
                  <a:lnTo>
                    <a:pt x="2606309" y="687006"/>
                  </a:lnTo>
                  <a:lnTo>
                    <a:pt x="2568037" y="712795"/>
                  </a:lnTo>
                  <a:lnTo>
                    <a:pt x="2521204" y="722249"/>
                  </a:lnTo>
                  <a:lnTo>
                    <a:pt x="120396" y="722249"/>
                  </a:lnTo>
                  <a:lnTo>
                    <a:pt x="73509" y="712795"/>
                  </a:lnTo>
                  <a:lnTo>
                    <a:pt x="35242" y="687006"/>
                  </a:lnTo>
                  <a:lnTo>
                    <a:pt x="9453" y="648739"/>
                  </a:lnTo>
                  <a:lnTo>
                    <a:pt x="0" y="601852"/>
                  </a:lnTo>
                  <a:lnTo>
                    <a:pt x="0" y="120268"/>
                  </a:lnTo>
                  <a:close/>
                </a:path>
              </a:pathLst>
            </a:custGeom>
            <a:ln w="25399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23741" y="5101844"/>
              <a:ext cx="2641600" cy="722630"/>
            </a:xfrm>
            <a:custGeom>
              <a:avLst/>
              <a:gdLst/>
              <a:ahLst/>
              <a:cxnLst/>
              <a:rect l="l" t="t" r="r" b="b"/>
              <a:pathLst>
                <a:path w="2641600" h="722629">
                  <a:moveTo>
                    <a:pt x="2521204" y="0"/>
                  </a:moveTo>
                  <a:lnTo>
                    <a:pt x="120396" y="0"/>
                  </a:lnTo>
                  <a:lnTo>
                    <a:pt x="73509" y="9453"/>
                  </a:lnTo>
                  <a:lnTo>
                    <a:pt x="35242" y="35242"/>
                  </a:lnTo>
                  <a:lnTo>
                    <a:pt x="9453" y="73509"/>
                  </a:lnTo>
                  <a:lnTo>
                    <a:pt x="0" y="120395"/>
                  </a:lnTo>
                  <a:lnTo>
                    <a:pt x="0" y="601916"/>
                  </a:lnTo>
                  <a:lnTo>
                    <a:pt x="9453" y="648776"/>
                  </a:lnTo>
                  <a:lnTo>
                    <a:pt x="35242" y="687046"/>
                  </a:lnTo>
                  <a:lnTo>
                    <a:pt x="73509" y="712850"/>
                  </a:lnTo>
                  <a:lnTo>
                    <a:pt x="120396" y="722312"/>
                  </a:lnTo>
                  <a:lnTo>
                    <a:pt x="2521204" y="722312"/>
                  </a:lnTo>
                  <a:lnTo>
                    <a:pt x="2568037" y="712850"/>
                  </a:lnTo>
                  <a:lnTo>
                    <a:pt x="2606309" y="687046"/>
                  </a:lnTo>
                  <a:lnTo>
                    <a:pt x="2632128" y="648776"/>
                  </a:lnTo>
                  <a:lnTo>
                    <a:pt x="2641600" y="601916"/>
                  </a:lnTo>
                  <a:lnTo>
                    <a:pt x="2641600" y="120395"/>
                  </a:lnTo>
                  <a:lnTo>
                    <a:pt x="2632128" y="73509"/>
                  </a:lnTo>
                  <a:lnTo>
                    <a:pt x="2606309" y="35242"/>
                  </a:lnTo>
                  <a:lnTo>
                    <a:pt x="2568037" y="9453"/>
                  </a:lnTo>
                  <a:lnTo>
                    <a:pt x="2521204" y="0"/>
                  </a:lnTo>
                  <a:close/>
                </a:path>
              </a:pathLst>
            </a:custGeom>
            <a:solidFill>
              <a:srgbClr val="EDEBE0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23741" y="5101844"/>
              <a:ext cx="2641600" cy="722630"/>
            </a:xfrm>
            <a:custGeom>
              <a:avLst/>
              <a:gdLst/>
              <a:ahLst/>
              <a:cxnLst/>
              <a:rect l="l" t="t" r="r" b="b"/>
              <a:pathLst>
                <a:path w="2641600" h="722629">
                  <a:moveTo>
                    <a:pt x="0" y="120395"/>
                  </a:moveTo>
                  <a:lnTo>
                    <a:pt x="9453" y="73509"/>
                  </a:lnTo>
                  <a:lnTo>
                    <a:pt x="35242" y="35242"/>
                  </a:lnTo>
                  <a:lnTo>
                    <a:pt x="73509" y="9453"/>
                  </a:lnTo>
                  <a:lnTo>
                    <a:pt x="120396" y="0"/>
                  </a:lnTo>
                  <a:lnTo>
                    <a:pt x="2521204" y="0"/>
                  </a:lnTo>
                  <a:lnTo>
                    <a:pt x="2568037" y="9453"/>
                  </a:lnTo>
                  <a:lnTo>
                    <a:pt x="2606309" y="35242"/>
                  </a:lnTo>
                  <a:lnTo>
                    <a:pt x="2632128" y="73509"/>
                  </a:lnTo>
                  <a:lnTo>
                    <a:pt x="2641600" y="120395"/>
                  </a:lnTo>
                  <a:lnTo>
                    <a:pt x="2641600" y="601916"/>
                  </a:lnTo>
                  <a:lnTo>
                    <a:pt x="2632128" y="648776"/>
                  </a:lnTo>
                  <a:lnTo>
                    <a:pt x="2606309" y="687046"/>
                  </a:lnTo>
                  <a:lnTo>
                    <a:pt x="2568037" y="712850"/>
                  </a:lnTo>
                  <a:lnTo>
                    <a:pt x="2521204" y="722312"/>
                  </a:lnTo>
                  <a:lnTo>
                    <a:pt x="120396" y="722312"/>
                  </a:lnTo>
                  <a:lnTo>
                    <a:pt x="73509" y="712850"/>
                  </a:lnTo>
                  <a:lnTo>
                    <a:pt x="35242" y="687046"/>
                  </a:lnTo>
                  <a:lnTo>
                    <a:pt x="9453" y="648776"/>
                  </a:lnTo>
                  <a:lnTo>
                    <a:pt x="0" y="601916"/>
                  </a:lnTo>
                  <a:lnTo>
                    <a:pt x="0" y="120395"/>
                  </a:lnTo>
                  <a:close/>
                </a:path>
              </a:pathLst>
            </a:custGeom>
            <a:ln w="25400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111497" y="2668650"/>
            <a:ext cx="2466975" cy="304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2759" marR="413384" indent="-73660">
              <a:lnSpc>
                <a:spcPct val="127299"/>
              </a:lnSpc>
              <a:spcBef>
                <a:spcPts val="100"/>
              </a:spcBef>
            </a:pPr>
            <a:r>
              <a:rPr sz="1500" b="1" spc="-10" dirty="0">
                <a:latin typeface="Calibri"/>
                <a:cs typeface="Calibri"/>
              </a:rPr>
              <a:t>Descriptive</a:t>
            </a:r>
            <a:r>
              <a:rPr sz="1500" b="1" spc="2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analytics </a:t>
            </a:r>
            <a:r>
              <a:rPr sz="1500" b="1" dirty="0">
                <a:latin typeface="Calibri"/>
                <a:cs typeface="Calibri"/>
              </a:rPr>
              <a:t>(What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happened?)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500">
              <a:latin typeface="Calibri"/>
              <a:cs typeface="Calibri"/>
            </a:endParaRPr>
          </a:p>
          <a:p>
            <a:pPr marL="413384">
              <a:lnSpc>
                <a:spcPct val="100000"/>
              </a:lnSpc>
            </a:pPr>
            <a:r>
              <a:rPr sz="1500" b="1" dirty="0">
                <a:latin typeface="Calibri"/>
                <a:cs typeface="Calibri"/>
              </a:rPr>
              <a:t>Diagnostics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analytics</a:t>
            </a:r>
            <a:endParaRPr sz="1500">
              <a:latin typeface="Calibri"/>
              <a:cs typeface="Calibri"/>
            </a:endParaRPr>
          </a:p>
          <a:p>
            <a:pPr marL="403225">
              <a:lnSpc>
                <a:spcPct val="100000"/>
              </a:lnSpc>
              <a:spcBef>
                <a:spcPts val="495"/>
              </a:spcBef>
            </a:pPr>
            <a:r>
              <a:rPr sz="1500" b="1" dirty="0">
                <a:latin typeface="Calibri"/>
                <a:cs typeface="Calibri"/>
              </a:rPr>
              <a:t>(Why</a:t>
            </a:r>
            <a:r>
              <a:rPr sz="1500" b="1" spc="-2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did</a:t>
            </a:r>
            <a:r>
              <a:rPr sz="1500" b="1" spc="-2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it</a:t>
            </a:r>
            <a:r>
              <a:rPr sz="1500" b="1" spc="-2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happen?)</a:t>
            </a:r>
            <a:endParaRPr sz="1500">
              <a:latin typeface="Calibri"/>
              <a:cs typeface="Calibri"/>
            </a:endParaRPr>
          </a:p>
          <a:p>
            <a:pPr marL="428625" marR="421640" indent="39370">
              <a:lnSpc>
                <a:spcPct val="127299"/>
              </a:lnSpc>
              <a:spcBef>
                <a:spcPts val="1814"/>
              </a:spcBef>
            </a:pPr>
            <a:r>
              <a:rPr sz="1500" b="1" dirty="0">
                <a:latin typeface="Calibri"/>
                <a:cs typeface="Calibri"/>
              </a:rPr>
              <a:t>Predictive</a:t>
            </a:r>
            <a:r>
              <a:rPr sz="1500" b="1" spc="-6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analytics </a:t>
            </a:r>
            <a:r>
              <a:rPr sz="1500" b="1" dirty="0">
                <a:latin typeface="Calibri"/>
                <a:cs typeface="Calibri"/>
              </a:rPr>
              <a:t>(What</a:t>
            </a:r>
            <a:r>
              <a:rPr sz="1500" b="1" spc="-1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will</a:t>
            </a:r>
            <a:r>
              <a:rPr sz="1500" b="1" spc="-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happen?)</a:t>
            </a:r>
            <a:endParaRPr sz="1500">
              <a:latin typeface="Calibri"/>
              <a:cs typeface="Calibri"/>
            </a:endParaRPr>
          </a:p>
          <a:p>
            <a:pPr marL="12700" marR="5080" indent="384175">
              <a:lnSpc>
                <a:spcPct val="127499"/>
              </a:lnSpc>
              <a:spcBef>
                <a:spcPts val="1810"/>
              </a:spcBef>
            </a:pPr>
            <a:r>
              <a:rPr sz="1500" b="1" spc="-10" dirty="0">
                <a:latin typeface="Calibri"/>
                <a:cs typeface="Calibri"/>
              </a:rPr>
              <a:t>Prescriptive</a:t>
            </a:r>
            <a:r>
              <a:rPr sz="1500" b="1" spc="1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analytics </a:t>
            </a:r>
            <a:r>
              <a:rPr sz="1500" b="1" dirty="0">
                <a:latin typeface="Calibri"/>
                <a:cs typeface="Calibri"/>
              </a:rPr>
              <a:t>(How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can</a:t>
            </a:r>
            <a:r>
              <a:rPr sz="1500" b="1" spc="-1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we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make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it</a:t>
            </a:r>
            <a:r>
              <a:rPr sz="1500" b="1" spc="-2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happen?)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7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Classification</a:t>
            </a:r>
            <a:r>
              <a:rPr spc="-7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Data</a:t>
            </a:r>
            <a:r>
              <a:rPr spc="-95" dirty="0"/>
              <a:t> </a:t>
            </a:r>
            <a:r>
              <a:rPr dirty="0"/>
              <a:t>analytics:</a:t>
            </a:r>
            <a:r>
              <a:rPr spc="-80" dirty="0"/>
              <a:t> </a:t>
            </a:r>
            <a:r>
              <a:rPr dirty="0"/>
              <a:t>Descriptive</a:t>
            </a:r>
            <a:r>
              <a:rPr spc="-90" dirty="0"/>
              <a:t> </a:t>
            </a:r>
            <a:r>
              <a:rPr spc="-10" dirty="0"/>
              <a:t>analytics</a:t>
            </a:r>
          </a:p>
        </p:txBody>
      </p:sp>
      <p:pic>
        <p:nvPicPr>
          <p:cNvPr id="3" name="object 3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3694" y="3009900"/>
            <a:ext cx="5430901" cy="28035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3410" y="2308301"/>
            <a:ext cx="8474710" cy="3684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dirty="0">
                <a:latin typeface="Calibri"/>
                <a:cs typeface="Calibri"/>
              </a:rPr>
              <a:t>Descriptive</a:t>
            </a:r>
            <a:r>
              <a:rPr sz="2400" spc="29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analytics</a:t>
            </a:r>
            <a:r>
              <a:rPr sz="2400" spc="28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9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9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conventional</a:t>
            </a:r>
            <a:r>
              <a:rPr sz="2400" spc="29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29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90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business</a:t>
            </a:r>
            <a:endParaRPr sz="2400">
              <a:latin typeface="Calibri"/>
              <a:cs typeface="Calibri"/>
            </a:endParaRPr>
          </a:p>
          <a:p>
            <a:pPr marL="355600" algn="just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intelligence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analysis.</a:t>
            </a:r>
            <a:endParaRPr sz="2400">
              <a:latin typeface="Calibri"/>
              <a:cs typeface="Calibri"/>
            </a:endParaRPr>
          </a:p>
          <a:p>
            <a:pPr marL="353060" marR="6985" indent="-340360" algn="just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seeks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provide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depiction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summary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view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facts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figures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understandable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format.</a:t>
            </a:r>
            <a:endParaRPr sz="2400">
              <a:latin typeface="Calibri"/>
              <a:cs typeface="Calibri"/>
            </a:endParaRPr>
          </a:p>
          <a:p>
            <a:pPr marL="353060" marR="5080" indent="-34036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These</a:t>
            </a:r>
            <a:r>
              <a:rPr sz="2400" spc="6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either</a:t>
            </a:r>
            <a:r>
              <a:rPr sz="2400" spc="6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inform</a:t>
            </a:r>
            <a:r>
              <a:rPr sz="2400" spc="6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6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prepare</a:t>
            </a:r>
            <a:r>
              <a:rPr sz="2400" spc="5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6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6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further</a:t>
            </a:r>
            <a:r>
              <a:rPr sz="2400" spc="5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analysis.</a:t>
            </a:r>
            <a:r>
              <a:rPr sz="2400" spc="60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so 	</a:t>
            </a:r>
            <a:r>
              <a:rPr sz="2400" dirty="0">
                <a:latin typeface="Calibri"/>
                <a:cs typeface="Calibri"/>
              </a:rPr>
              <a:t>descriptive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analysis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say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another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way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statistics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can 	</a:t>
            </a:r>
            <a:r>
              <a:rPr sz="2400" dirty="0">
                <a:latin typeface="Calibri"/>
                <a:cs typeface="Calibri"/>
              </a:rPr>
              <a:t>summarize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raw</a:t>
            </a:r>
            <a:r>
              <a:rPr sz="2400" spc="2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2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convert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your</a:t>
            </a:r>
            <a:r>
              <a:rPr sz="2400" spc="2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2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be 	</a:t>
            </a:r>
            <a:r>
              <a:rPr sz="2400" dirty="0">
                <a:latin typeface="Calibri"/>
                <a:cs typeface="Calibri"/>
              </a:rPr>
              <a:t>easily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understood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humans.</a:t>
            </a:r>
            <a:endParaRPr sz="2400">
              <a:latin typeface="Calibri"/>
              <a:cs typeface="Calibri"/>
            </a:endParaRPr>
          </a:p>
          <a:p>
            <a:pPr marL="353060" indent="-340360" algn="just">
              <a:lnSpc>
                <a:spcPct val="100000"/>
              </a:lnSpc>
              <a:buFont typeface="Arial MT"/>
              <a:buChar char="•"/>
              <a:tabLst>
                <a:tab pos="353060" algn="l"/>
              </a:tabLst>
            </a:pPr>
            <a:r>
              <a:rPr sz="2400" dirty="0">
                <a:latin typeface="Calibri"/>
                <a:cs typeface="Calibri"/>
              </a:rPr>
              <a:t>They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describe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detail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occurred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</a:t>
            </a:r>
            <a:endParaRPr sz="2400">
              <a:latin typeface="Calibri"/>
              <a:cs typeface="Calibri"/>
            </a:endParaRPr>
          </a:p>
          <a:p>
            <a:pPr marL="355600" algn="just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past.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7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Classification</a:t>
            </a:r>
            <a:r>
              <a:rPr spc="-7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Data</a:t>
            </a:r>
            <a:r>
              <a:rPr spc="-95" dirty="0"/>
              <a:t> </a:t>
            </a:r>
            <a:r>
              <a:rPr dirty="0"/>
              <a:t>analytics:</a:t>
            </a:r>
            <a:r>
              <a:rPr spc="-80" dirty="0"/>
              <a:t> </a:t>
            </a:r>
            <a:r>
              <a:rPr dirty="0"/>
              <a:t>Descriptive</a:t>
            </a:r>
            <a:r>
              <a:rPr spc="-90" dirty="0"/>
              <a:t> </a:t>
            </a:r>
            <a:r>
              <a:rPr spc="-10" dirty="0"/>
              <a:t>analytics</a:t>
            </a:r>
          </a:p>
        </p:txBody>
      </p:sp>
      <p:pic>
        <p:nvPicPr>
          <p:cNvPr id="3" name="object 3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3694" y="3009900"/>
            <a:ext cx="5430901" cy="28035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6334" y="2311349"/>
            <a:ext cx="8690610" cy="3714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Descriptive</a:t>
            </a:r>
            <a:r>
              <a:rPr sz="2200" spc="1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analytics</a:t>
            </a:r>
            <a:r>
              <a:rPr sz="2200" spc="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conventional</a:t>
            </a:r>
            <a:r>
              <a:rPr sz="2200" spc="1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form</a:t>
            </a:r>
            <a:r>
              <a:rPr sz="2200" spc="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business</a:t>
            </a:r>
            <a:r>
              <a:rPr sz="2200" spc="1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intelligence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or</a:t>
            </a:r>
            <a:endParaRPr sz="2200">
              <a:latin typeface="Calibri"/>
              <a:cs typeface="Calibri"/>
            </a:endParaRPr>
          </a:p>
          <a:p>
            <a:pPr marL="354965" algn="just">
              <a:lnSpc>
                <a:spcPct val="100000"/>
              </a:lnSpc>
            </a:pPr>
            <a:r>
              <a:rPr sz="2200" dirty="0">
                <a:latin typeface="Calibri"/>
                <a:cs typeface="Calibri"/>
              </a:rPr>
              <a:t>data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analysis.</a:t>
            </a:r>
            <a:endParaRPr sz="2200">
              <a:latin typeface="Calibri"/>
              <a:cs typeface="Calibri"/>
            </a:endParaRPr>
          </a:p>
          <a:p>
            <a:pPr marL="354965" marR="5080" indent="-342900" algn="just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It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seeks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provide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depiction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summary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view</a:t>
            </a:r>
            <a:r>
              <a:rPr sz="2200" spc="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facts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figures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in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understandable format.</a:t>
            </a:r>
            <a:endParaRPr sz="2200">
              <a:latin typeface="Calibri"/>
              <a:cs typeface="Calibri"/>
            </a:endParaRPr>
          </a:p>
          <a:p>
            <a:pPr marL="354965" marR="5080" indent="-342900" algn="just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These</a:t>
            </a:r>
            <a:r>
              <a:rPr sz="2200" spc="2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either</a:t>
            </a:r>
            <a:r>
              <a:rPr sz="2200" spc="2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inform</a:t>
            </a:r>
            <a:r>
              <a:rPr sz="2200" spc="2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2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prepare</a:t>
            </a:r>
            <a:r>
              <a:rPr sz="2200" spc="2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2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2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further</a:t>
            </a:r>
            <a:r>
              <a:rPr sz="2200" spc="22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analysis.</a:t>
            </a:r>
            <a:r>
              <a:rPr sz="2200" spc="2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</a:t>
            </a:r>
            <a:r>
              <a:rPr sz="2200" spc="2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descriptive </a:t>
            </a:r>
            <a:r>
              <a:rPr sz="2200" dirty="0">
                <a:latin typeface="Calibri"/>
                <a:cs typeface="Calibri"/>
              </a:rPr>
              <a:t>analysis</a:t>
            </a:r>
            <a:r>
              <a:rPr sz="2200" spc="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say</a:t>
            </a:r>
            <a:r>
              <a:rPr sz="2200" spc="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another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way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statistics</a:t>
            </a:r>
            <a:r>
              <a:rPr sz="2200" spc="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summarize</a:t>
            </a:r>
            <a:r>
              <a:rPr sz="2200" spc="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raw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data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convert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your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easily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understood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humans.</a:t>
            </a:r>
            <a:endParaRPr sz="2200">
              <a:latin typeface="Calibri"/>
              <a:cs typeface="Calibri"/>
            </a:endParaRPr>
          </a:p>
          <a:p>
            <a:pPr marL="355600" indent="-34290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They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describe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detail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about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even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occurred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past.</a:t>
            </a:r>
            <a:endParaRPr sz="2200">
              <a:latin typeface="Calibri"/>
              <a:cs typeface="Calibri"/>
            </a:endParaRPr>
          </a:p>
          <a:p>
            <a:pPr marL="354965" marR="6350" indent="-342900" algn="just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Example:</a:t>
            </a:r>
            <a:r>
              <a:rPr sz="2200" spc="2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company</a:t>
            </a:r>
            <a:r>
              <a:rPr sz="2200" spc="2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reports</a:t>
            </a:r>
            <a:r>
              <a:rPr sz="2200" spc="2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2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simply</a:t>
            </a:r>
            <a:r>
              <a:rPr sz="2200" spc="2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provide</a:t>
            </a:r>
            <a:r>
              <a:rPr sz="2200" spc="2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2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historic</a:t>
            </a:r>
            <a:r>
              <a:rPr sz="2200" spc="25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review</a:t>
            </a:r>
            <a:r>
              <a:rPr sz="2200" spc="2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like: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3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queries,</a:t>
            </a:r>
            <a:r>
              <a:rPr sz="2200" spc="3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reports,</a:t>
            </a:r>
            <a:r>
              <a:rPr sz="2200" spc="3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descriptive</a:t>
            </a:r>
            <a:r>
              <a:rPr sz="2200" spc="3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statistics,</a:t>
            </a:r>
            <a:r>
              <a:rPr sz="2200" spc="3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3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visualization</a:t>
            </a:r>
            <a:r>
              <a:rPr sz="2200" spc="3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3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data </a:t>
            </a:r>
            <a:r>
              <a:rPr sz="2200" spc="-10" dirty="0">
                <a:latin typeface="Calibri"/>
                <a:cs typeface="Calibri"/>
              </a:rPr>
              <a:t>dashboard.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7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Classification</a:t>
            </a:r>
            <a:r>
              <a:rPr spc="-9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dirty="0"/>
              <a:t>Data</a:t>
            </a:r>
            <a:r>
              <a:rPr spc="-110" dirty="0"/>
              <a:t> </a:t>
            </a:r>
            <a:r>
              <a:rPr dirty="0"/>
              <a:t>analytics:</a:t>
            </a:r>
            <a:r>
              <a:rPr spc="-95" dirty="0"/>
              <a:t> </a:t>
            </a:r>
            <a:r>
              <a:rPr dirty="0"/>
              <a:t>Diagnostic</a:t>
            </a:r>
            <a:r>
              <a:rPr spc="-85" dirty="0"/>
              <a:t> </a:t>
            </a:r>
            <a:r>
              <a:rPr spc="-10" dirty="0"/>
              <a:t>analytics</a:t>
            </a:r>
          </a:p>
        </p:txBody>
      </p:sp>
      <p:pic>
        <p:nvPicPr>
          <p:cNvPr id="3" name="object 3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3694" y="3009900"/>
            <a:ext cx="5430901" cy="28035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3410" y="2308301"/>
            <a:ext cx="8475345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5080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Diagnostic</a:t>
            </a:r>
            <a:r>
              <a:rPr sz="2400" spc="20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analytics</a:t>
            </a:r>
            <a:r>
              <a:rPr sz="2400" spc="20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9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9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19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9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advanced</a:t>
            </a:r>
            <a:r>
              <a:rPr sz="2400" spc="20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analytics</a:t>
            </a:r>
            <a:r>
              <a:rPr sz="2400" spc="200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which 	</a:t>
            </a:r>
            <a:r>
              <a:rPr sz="2400" dirty="0">
                <a:latin typeface="Calibri"/>
                <a:cs typeface="Calibri"/>
              </a:rPr>
              <a:t>examines</a:t>
            </a:r>
            <a:r>
              <a:rPr sz="2400" spc="5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5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50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content</a:t>
            </a:r>
            <a:r>
              <a:rPr sz="2400" spc="5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5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answer</a:t>
            </a:r>
            <a:r>
              <a:rPr sz="2400" spc="5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0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question</a:t>
            </a:r>
            <a:r>
              <a:rPr sz="2400" spc="50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why</a:t>
            </a:r>
            <a:r>
              <a:rPr sz="2400" spc="5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did</a:t>
            </a:r>
            <a:r>
              <a:rPr sz="2400" spc="5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 	</a:t>
            </a:r>
            <a:r>
              <a:rPr sz="2400" spc="-10" dirty="0">
                <a:latin typeface="Calibri"/>
                <a:cs typeface="Calibri"/>
              </a:rPr>
              <a:t>happen?</a:t>
            </a:r>
            <a:endParaRPr sz="2400">
              <a:latin typeface="Calibri"/>
              <a:cs typeface="Calibri"/>
            </a:endParaRPr>
          </a:p>
          <a:p>
            <a:pPr marL="353060" marR="5080" indent="-340360" algn="just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Diagnostic</a:t>
            </a:r>
            <a:r>
              <a:rPr sz="2400" spc="3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analytical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tools</a:t>
            </a:r>
            <a:r>
              <a:rPr sz="2400" spc="3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aid</a:t>
            </a:r>
            <a:r>
              <a:rPr sz="2400" spc="3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3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analyst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3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dig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deeper</a:t>
            </a:r>
            <a:r>
              <a:rPr sz="2400" spc="3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 	</a:t>
            </a:r>
            <a:r>
              <a:rPr sz="2400" dirty="0">
                <a:latin typeface="Calibri"/>
                <a:cs typeface="Calibri"/>
              </a:rPr>
              <a:t>issue.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arrive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source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problem.</a:t>
            </a:r>
            <a:endParaRPr sz="2400">
              <a:latin typeface="Calibri"/>
              <a:cs typeface="Calibri"/>
            </a:endParaRPr>
          </a:p>
          <a:p>
            <a:pPr marL="353060" marR="8890" indent="-34036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structured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business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environment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tools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descriptive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diagnostic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analytics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parallel.</a:t>
            </a:r>
            <a:endParaRPr sz="2400">
              <a:latin typeface="Calibri"/>
              <a:cs typeface="Calibri"/>
            </a:endParaRPr>
          </a:p>
          <a:p>
            <a:pPr marL="353060" indent="-340360" algn="just">
              <a:lnSpc>
                <a:spcPct val="100000"/>
              </a:lnSpc>
              <a:buFont typeface="Arial MT"/>
              <a:buChar char="•"/>
              <a:tabLst>
                <a:tab pos="353060" algn="l"/>
              </a:tabLst>
            </a:pPr>
            <a:r>
              <a:rPr sz="2400" spc="-10" dirty="0">
                <a:latin typeface="Calibri"/>
                <a:cs typeface="Calibri"/>
              </a:rPr>
              <a:t>Example: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discovery,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mining,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correlations.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7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Classification</a:t>
            </a:r>
            <a:r>
              <a:rPr spc="-7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Data</a:t>
            </a:r>
            <a:r>
              <a:rPr spc="-90" dirty="0"/>
              <a:t> </a:t>
            </a:r>
            <a:r>
              <a:rPr dirty="0"/>
              <a:t>analytics:</a:t>
            </a:r>
            <a:r>
              <a:rPr spc="-75" dirty="0"/>
              <a:t> </a:t>
            </a:r>
            <a:r>
              <a:rPr dirty="0"/>
              <a:t>Predictive</a:t>
            </a:r>
            <a:r>
              <a:rPr spc="-90" dirty="0"/>
              <a:t> </a:t>
            </a:r>
            <a:r>
              <a:rPr spc="-10" dirty="0"/>
              <a:t>analytics</a:t>
            </a:r>
          </a:p>
        </p:txBody>
      </p:sp>
      <p:pic>
        <p:nvPicPr>
          <p:cNvPr id="3" name="object 3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3694" y="3009900"/>
            <a:ext cx="5430901" cy="28035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3410" y="2308301"/>
            <a:ext cx="8474075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Predictive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analytics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helps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forecast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trends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current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events.</a:t>
            </a:r>
            <a:endParaRPr sz="2400">
              <a:latin typeface="Calibri"/>
              <a:cs typeface="Calibri"/>
            </a:endParaRPr>
          </a:p>
          <a:p>
            <a:pPr marL="353060" marR="5080" indent="-340360" algn="just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Predicting</a:t>
            </a:r>
            <a:r>
              <a:rPr sz="2400" spc="3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3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3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</a:t>
            </a:r>
            <a:r>
              <a:rPr sz="2400" spc="3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happening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3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future</a:t>
            </a:r>
            <a:r>
              <a:rPr sz="2400" spc="3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are 	</a:t>
            </a:r>
            <a:r>
              <a:rPr sz="2400" dirty="0">
                <a:latin typeface="Calibri"/>
                <a:cs typeface="Calibri"/>
              </a:rPr>
              <a:t>estimating</a:t>
            </a:r>
            <a:r>
              <a:rPr sz="2400" spc="3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accurate</a:t>
            </a:r>
            <a:r>
              <a:rPr sz="2400" spc="4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4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40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4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happen</a:t>
            </a:r>
            <a:r>
              <a:rPr sz="2400" spc="4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40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4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409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determined 	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help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predictive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analytical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models.</a:t>
            </a:r>
            <a:endParaRPr sz="2400">
              <a:latin typeface="Calibri"/>
              <a:cs typeface="Calibri"/>
            </a:endParaRPr>
          </a:p>
          <a:p>
            <a:pPr marL="353060" marR="8255" indent="-34036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Many</a:t>
            </a:r>
            <a:r>
              <a:rPr sz="2400" spc="15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different</a:t>
            </a:r>
            <a:r>
              <a:rPr sz="2400" spc="15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145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co-</a:t>
            </a:r>
            <a:r>
              <a:rPr sz="2400" dirty="0">
                <a:latin typeface="Calibri"/>
                <a:cs typeface="Calibri"/>
              </a:rPr>
              <a:t>dependent</a:t>
            </a:r>
            <a:r>
              <a:rPr sz="2400" spc="1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variables</a:t>
            </a:r>
            <a:r>
              <a:rPr sz="2400" spc="15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15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analysed</a:t>
            </a:r>
            <a:r>
              <a:rPr sz="2400" spc="145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to 	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analysis.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7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Classification</a:t>
            </a:r>
            <a:r>
              <a:rPr spc="-7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Data</a:t>
            </a:r>
            <a:r>
              <a:rPr spc="-90" dirty="0"/>
              <a:t> </a:t>
            </a:r>
            <a:r>
              <a:rPr dirty="0"/>
              <a:t>analytics:</a:t>
            </a:r>
            <a:r>
              <a:rPr spc="-75" dirty="0"/>
              <a:t> </a:t>
            </a:r>
            <a:r>
              <a:rPr dirty="0"/>
              <a:t>Predictive</a:t>
            </a:r>
            <a:r>
              <a:rPr spc="-90" dirty="0"/>
              <a:t> </a:t>
            </a:r>
            <a:r>
              <a:rPr spc="-10" dirty="0"/>
              <a:t>analytics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03603" y="2281682"/>
            <a:ext cx="6151245" cy="3531870"/>
            <a:chOff x="1403603" y="2281682"/>
            <a:chExt cx="6151245" cy="3531870"/>
          </a:xfrm>
        </p:grpSpPr>
        <p:pic>
          <p:nvPicPr>
            <p:cNvPr id="4" name="object 4" descr="C:\Users\parul\Desktop\Untitled-1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3693" y="3009900"/>
              <a:ext cx="5430901" cy="28035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3603" y="2281682"/>
              <a:ext cx="5976620" cy="246672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93928" y="4990591"/>
            <a:ext cx="854773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8486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help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historical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algorithm, </a:t>
            </a:r>
            <a:r>
              <a:rPr sz="2400" dirty="0">
                <a:latin typeface="Calibri"/>
                <a:cs typeface="Calibri"/>
              </a:rPr>
              <a:t>predictive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model.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Once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developed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predictions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events.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7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Classification</a:t>
            </a:r>
            <a:r>
              <a:rPr spc="-7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Data</a:t>
            </a:r>
            <a:r>
              <a:rPr spc="-90" dirty="0"/>
              <a:t> </a:t>
            </a:r>
            <a:r>
              <a:rPr dirty="0"/>
              <a:t>analytics:</a:t>
            </a:r>
            <a:r>
              <a:rPr spc="-75" dirty="0"/>
              <a:t> </a:t>
            </a:r>
            <a:r>
              <a:rPr dirty="0"/>
              <a:t>Predictive</a:t>
            </a:r>
            <a:r>
              <a:rPr spc="-90" dirty="0"/>
              <a:t> </a:t>
            </a:r>
            <a:r>
              <a:rPr spc="-10" dirty="0"/>
              <a:t>analytics</a:t>
            </a:r>
          </a:p>
        </p:txBody>
      </p:sp>
      <p:pic>
        <p:nvPicPr>
          <p:cNvPr id="3" name="object 3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3694" y="3009900"/>
            <a:ext cx="5430901" cy="28035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3410" y="2308301"/>
            <a:ext cx="847534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Example: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linear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regression,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series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analysis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forecasting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mining.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techniques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predictive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analytics.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7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Classification</a:t>
            </a:r>
            <a:r>
              <a:rPr spc="-80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Data</a:t>
            </a:r>
            <a:r>
              <a:rPr spc="-100" dirty="0"/>
              <a:t> </a:t>
            </a:r>
            <a:r>
              <a:rPr dirty="0"/>
              <a:t>analytics:</a:t>
            </a:r>
            <a:r>
              <a:rPr spc="-85" dirty="0"/>
              <a:t> </a:t>
            </a:r>
            <a:r>
              <a:rPr dirty="0"/>
              <a:t>Prescriptive</a:t>
            </a:r>
            <a:r>
              <a:rPr spc="-100" dirty="0"/>
              <a:t> </a:t>
            </a:r>
            <a:r>
              <a:rPr spc="-10" dirty="0"/>
              <a:t>analytics</a:t>
            </a:r>
          </a:p>
        </p:txBody>
      </p:sp>
      <p:pic>
        <p:nvPicPr>
          <p:cNvPr id="3" name="object 3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3694" y="3009900"/>
            <a:ext cx="5430901" cy="28035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017509" y="3040126"/>
            <a:ext cx="870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quality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3410" y="2308301"/>
            <a:ext cx="777557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techniques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indicate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best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course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action.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tells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decision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optimize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outcome.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  <a:tab pos="1080770" algn="l"/>
                <a:tab pos="1864360" algn="l"/>
                <a:tab pos="2382520" algn="l"/>
                <a:tab pos="2459990" algn="l"/>
                <a:tab pos="3563620" algn="l"/>
                <a:tab pos="4104640" algn="l"/>
                <a:tab pos="5452110" algn="l"/>
                <a:tab pos="5708015" algn="l"/>
                <a:tab pos="5904865" algn="l"/>
                <a:tab pos="6427470" algn="l"/>
              </a:tabLst>
            </a:pPr>
            <a:r>
              <a:rPr sz="2400" spc="-2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goal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prescriptive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analytics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is</a:t>
            </a:r>
            <a:r>
              <a:rPr sz="2400" dirty="0">
                <a:latin typeface="Calibri"/>
                <a:cs typeface="Calibri"/>
              </a:rPr>
              <a:t>		</a:t>
            </a:r>
            <a:r>
              <a:rPr sz="2400" spc="-25" dirty="0">
                <a:latin typeface="Calibri"/>
                <a:cs typeface="Calibri"/>
              </a:rPr>
              <a:t>to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enable: improvements,</a:t>
            </a:r>
            <a:r>
              <a:rPr sz="2400" dirty="0">
                <a:latin typeface="Calibri"/>
                <a:cs typeface="Calibri"/>
              </a:rPr>
              <a:t>		</a:t>
            </a:r>
            <a:r>
              <a:rPr sz="2400" spc="-10" dirty="0">
                <a:latin typeface="Calibri"/>
                <a:cs typeface="Calibri"/>
              </a:rPr>
              <a:t>service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enhancements,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cost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reductions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95843" y="3405885"/>
            <a:ext cx="491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3410" y="3771722"/>
            <a:ext cx="84740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increasing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productivity.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Examples: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tools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optimization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models, </a:t>
            </a:r>
            <a:r>
              <a:rPr sz="2400" spc="-10" dirty="0">
                <a:latin typeface="Calibri"/>
                <a:cs typeface="Calibri"/>
              </a:rPr>
              <a:t>simulation </a:t>
            </a:r>
            <a:r>
              <a:rPr sz="2400" dirty="0">
                <a:latin typeface="Calibri"/>
                <a:cs typeface="Calibri"/>
              </a:rPr>
              <a:t>model,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decision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analysis.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7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Element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Data</a:t>
            </a:r>
            <a:r>
              <a:rPr spc="-70" dirty="0"/>
              <a:t> </a:t>
            </a:r>
            <a:r>
              <a:rPr spc="-10" dirty="0"/>
              <a:t>analytics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34922" y="2359279"/>
            <a:ext cx="6019800" cy="4088765"/>
            <a:chOff x="1534922" y="2359279"/>
            <a:chExt cx="6019800" cy="4088765"/>
          </a:xfrm>
        </p:grpSpPr>
        <p:pic>
          <p:nvPicPr>
            <p:cNvPr id="4" name="object 4" descr="C:\Users\parul\Desktop\Untitled-1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3694" y="3009900"/>
              <a:ext cx="5430901" cy="28035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4922" y="2359279"/>
              <a:ext cx="5570093" cy="408863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617214" y="3837558"/>
            <a:ext cx="1398905" cy="10604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algn="ctr">
              <a:lnSpc>
                <a:spcPct val="91500"/>
              </a:lnSpc>
              <a:spcBef>
                <a:spcPts val="345"/>
              </a:spcBef>
            </a:pPr>
            <a:r>
              <a:rPr sz="2400" b="1" dirty="0">
                <a:latin typeface="Calibri"/>
                <a:cs typeface="Calibri"/>
              </a:rPr>
              <a:t>Element</a:t>
            </a:r>
            <a:r>
              <a:rPr sz="2400" b="1" spc="-12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of </a:t>
            </a:r>
            <a:r>
              <a:rPr sz="2400" b="1" spc="-20" dirty="0">
                <a:latin typeface="Calibri"/>
                <a:cs typeface="Calibri"/>
              </a:rPr>
              <a:t>Data </a:t>
            </a:r>
            <a:r>
              <a:rPr sz="2400" b="1" spc="-10" dirty="0">
                <a:latin typeface="Calibri"/>
                <a:cs typeface="Calibri"/>
              </a:rPr>
              <a:t>Analytics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29888" y="2778379"/>
            <a:ext cx="7747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Statistics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16702" y="3911853"/>
            <a:ext cx="1082040" cy="937894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indent="-1905" algn="ctr">
              <a:lnSpc>
                <a:spcPct val="91500"/>
              </a:lnSpc>
              <a:spcBef>
                <a:spcPts val="259"/>
              </a:spcBef>
            </a:pPr>
            <a:r>
              <a:rPr sz="1600" b="1" spc="-10" dirty="0">
                <a:latin typeface="Calibri"/>
                <a:cs typeface="Calibri"/>
              </a:rPr>
              <a:t>Business intelligence/ information systems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96715" y="5603240"/>
            <a:ext cx="1242060" cy="492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35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Modelling</a:t>
            </a:r>
            <a:r>
              <a:rPr sz="1600" b="1" spc="-75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and</a:t>
            </a:r>
            <a:endParaRPr sz="1600">
              <a:latin typeface="Calibri"/>
              <a:cs typeface="Calibri"/>
            </a:endParaRPr>
          </a:p>
          <a:p>
            <a:pPr marL="32384">
              <a:lnSpc>
                <a:spcPts val="1835"/>
              </a:lnSpc>
            </a:pPr>
            <a:r>
              <a:rPr sz="1600" b="1" spc="-10" dirty="0">
                <a:latin typeface="Calibri"/>
                <a:cs typeface="Calibri"/>
              </a:rPr>
              <a:t>Optimizations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93138" y="4134992"/>
            <a:ext cx="932815" cy="49149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33985" marR="5080" indent="-121920">
              <a:lnSpc>
                <a:spcPts val="1750"/>
              </a:lnSpc>
              <a:spcBef>
                <a:spcPts val="295"/>
              </a:spcBef>
            </a:pPr>
            <a:r>
              <a:rPr sz="1600" b="1" spc="-10" dirty="0">
                <a:latin typeface="Calibri"/>
                <a:cs typeface="Calibri"/>
              </a:rPr>
              <a:t>Simulation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risk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7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150" dirty="0"/>
              <a:t> </a:t>
            </a:r>
            <a:r>
              <a:rPr dirty="0"/>
              <a:t>analyst</a:t>
            </a:r>
            <a:r>
              <a:rPr spc="-135" dirty="0"/>
              <a:t> </a:t>
            </a:r>
            <a:r>
              <a:rPr dirty="0"/>
              <a:t>Vs.</a:t>
            </a:r>
            <a:r>
              <a:rPr spc="-145" dirty="0"/>
              <a:t> </a:t>
            </a:r>
            <a:r>
              <a:rPr dirty="0"/>
              <a:t>Data</a:t>
            </a:r>
            <a:r>
              <a:rPr spc="-145" dirty="0"/>
              <a:t> </a:t>
            </a:r>
            <a:r>
              <a:rPr spc="-10" dirty="0"/>
              <a:t>scientist</a:t>
            </a:r>
          </a:p>
        </p:txBody>
      </p:sp>
      <p:pic>
        <p:nvPicPr>
          <p:cNvPr id="3" name="object 3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3694" y="3009900"/>
            <a:ext cx="5430901" cy="2803525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81177" y="2317369"/>
          <a:ext cx="8658225" cy="4175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57658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Aspect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0185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Analyst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11633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Scientist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Focus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660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Analyzing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provide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insights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for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business</a:t>
                      </a:r>
                      <a:r>
                        <a:rPr sz="14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decisions.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657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advanced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statistical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computational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methods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solve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complex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problems.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Skills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Required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218440" indent="-127000">
                        <a:lnSpc>
                          <a:spcPct val="100000"/>
                        </a:lnSpc>
                        <a:spcBef>
                          <a:spcPts val="270"/>
                        </a:spcBef>
                        <a:buChar char="–"/>
                        <a:tabLst>
                          <a:tab pos="218440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Cleaning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Preparation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18440" indent="-127000">
                        <a:lnSpc>
                          <a:spcPct val="100000"/>
                        </a:lnSpc>
                        <a:buChar char="–"/>
                        <a:tabLst>
                          <a:tab pos="218440" algn="l"/>
                        </a:tabLst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Statistical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Analysis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18440" indent="-127000">
                        <a:lnSpc>
                          <a:spcPct val="100000"/>
                        </a:lnSpc>
                        <a:buChar char="–"/>
                        <a:tabLst>
                          <a:tab pos="218440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Visualization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18440" indent="-127000">
                        <a:lnSpc>
                          <a:spcPct val="100000"/>
                        </a:lnSpc>
                        <a:spcBef>
                          <a:spcPts val="5"/>
                        </a:spcBef>
                        <a:buChar char="–"/>
                        <a:tabLst>
                          <a:tab pos="218440" algn="l"/>
                        </a:tabLst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SQL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18440" indent="-127000">
                        <a:lnSpc>
                          <a:spcPct val="100000"/>
                        </a:lnSpc>
                        <a:buChar char="–"/>
                        <a:tabLst>
                          <a:tab pos="218440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Excel</a:t>
                      </a:r>
                      <a:r>
                        <a:rPr sz="1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Skills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18440" indent="-127000">
                        <a:lnSpc>
                          <a:spcPct val="100000"/>
                        </a:lnSpc>
                        <a:buChar char="–"/>
                        <a:tabLst>
                          <a:tab pos="218440" algn="l"/>
                        </a:tabLst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Problem-Solving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18440" indent="-127000">
                        <a:lnSpc>
                          <a:spcPct val="100000"/>
                        </a:lnSpc>
                        <a:buChar char="–"/>
                        <a:tabLst>
                          <a:tab pos="218440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Domain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Knowledge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18440" indent="-127000">
                        <a:lnSpc>
                          <a:spcPct val="100000"/>
                        </a:lnSpc>
                        <a:buChar char="–"/>
                        <a:tabLst>
                          <a:tab pos="218440" algn="l"/>
                        </a:tabLst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Communication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Skills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18440" indent="-127000">
                        <a:lnSpc>
                          <a:spcPct val="100000"/>
                        </a:lnSpc>
                        <a:buChar char="–"/>
                        <a:tabLst>
                          <a:tab pos="218440" algn="l"/>
                        </a:tabLst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Attention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Detail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18440" indent="-127000">
                        <a:lnSpc>
                          <a:spcPct val="100000"/>
                        </a:lnSpc>
                        <a:buChar char="–"/>
                        <a:tabLst>
                          <a:tab pos="218440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Management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18440" indent="-127000">
                        <a:lnSpc>
                          <a:spcPct val="100000"/>
                        </a:lnSpc>
                        <a:buChar char="–"/>
                        <a:tabLst>
                          <a:tab pos="218440" algn="l"/>
                        </a:tabLst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Continuous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Learning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219075" indent="-127000">
                        <a:lnSpc>
                          <a:spcPct val="100000"/>
                        </a:lnSpc>
                        <a:spcBef>
                          <a:spcPts val="270"/>
                        </a:spcBef>
                        <a:buChar char="–"/>
                        <a:tabLst>
                          <a:tab pos="21907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Learning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19075" indent="-127000">
                        <a:lnSpc>
                          <a:spcPct val="100000"/>
                        </a:lnSpc>
                        <a:buChar char="–"/>
                        <a:tabLst>
                          <a:tab pos="219075" algn="l"/>
                        </a:tabLst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Statistical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Analysis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19075" indent="-127000">
                        <a:lnSpc>
                          <a:spcPct val="100000"/>
                        </a:lnSpc>
                        <a:buChar char="–"/>
                        <a:tabLst>
                          <a:tab pos="21907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Cleaning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Preprocessing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19075" indent="-127000">
                        <a:lnSpc>
                          <a:spcPct val="100000"/>
                        </a:lnSpc>
                        <a:spcBef>
                          <a:spcPts val="5"/>
                        </a:spcBef>
                        <a:buChar char="–"/>
                        <a:tabLst>
                          <a:tab pos="21907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Visualization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19075" indent="-127000">
                        <a:lnSpc>
                          <a:spcPct val="100000"/>
                        </a:lnSpc>
                        <a:buChar char="–"/>
                        <a:tabLst>
                          <a:tab pos="21907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Big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Technologies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(e.g.,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Hadoop,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Spark)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19075" indent="-127000">
                        <a:lnSpc>
                          <a:spcPct val="100000"/>
                        </a:lnSpc>
                        <a:buChar char="–"/>
                        <a:tabLst>
                          <a:tab pos="21907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Deep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Learning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19075" indent="-127000">
                        <a:lnSpc>
                          <a:spcPct val="100000"/>
                        </a:lnSpc>
                        <a:buChar char="–"/>
                        <a:tabLst>
                          <a:tab pos="219075" algn="l"/>
                        </a:tabLst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Natural</a:t>
                      </a:r>
                      <a:r>
                        <a:rPr sz="1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Language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Processing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(NLP)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19075" indent="-127000">
                        <a:lnSpc>
                          <a:spcPct val="100000"/>
                        </a:lnSpc>
                        <a:buChar char="–"/>
                        <a:tabLst>
                          <a:tab pos="21907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SQL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Database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Management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19075" indent="-127000">
                        <a:lnSpc>
                          <a:spcPct val="100000"/>
                        </a:lnSpc>
                        <a:buChar char="–"/>
                        <a:tabLst>
                          <a:tab pos="21907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Experiment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Design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A/B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Testing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19075" indent="-127000">
                        <a:lnSpc>
                          <a:spcPct val="100000"/>
                        </a:lnSpc>
                        <a:buChar char="–"/>
                        <a:tabLst>
                          <a:tab pos="21907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Cloud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Computing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Platforms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(e.g.,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AWS,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Azure,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Google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Cloud)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19075" indent="-127000">
                        <a:lnSpc>
                          <a:spcPct val="100000"/>
                        </a:lnSpc>
                        <a:buChar char="–"/>
                        <a:tabLst>
                          <a:tab pos="219075" algn="l"/>
                        </a:tabLst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Communication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Presentation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Skills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19075" indent="-127000">
                        <a:lnSpc>
                          <a:spcPct val="100000"/>
                        </a:lnSpc>
                        <a:buChar char="–"/>
                        <a:tabLst>
                          <a:tab pos="21907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Domain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Knowledge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19075" indent="-127000">
                        <a:lnSpc>
                          <a:spcPct val="100000"/>
                        </a:lnSpc>
                        <a:buChar char="–"/>
                        <a:tabLst>
                          <a:tab pos="21907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Series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Analysis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19075" indent="-127000">
                        <a:lnSpc>
                          <a:spcPct val="100000"/>
                        </a:lnSpc>
                        <a:buChar char="–"/>
                        <a:tabLst>
                          <a:tab pos="219075" algn="l"/>
                        </a:tabLst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Feature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Engineering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7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150" dirty="0"/>
              <a:t> </a:t>
            </a:r>
            <a:r>
              <a:rPr dirty="0"/>
              <a:t>analyst</a:t>
            </a:r>
            <a:r>
              <a:rPr spc="-135" dirty="0"/>
              <a:t> </a:t>
            </a:r>
            <a:r>
              <a:rPr dirty="0"/>
              <a:t>Vs.</a:t>
            </a:r>
            <a:r>
              <a:rPr spc="-145" dirty="0"/>
              <a:t> </a:t>
            </a:r>
            <a:r>
              <a:rPr dirty="0"/>
              <a:t>Data</a:t>
            </a:r>
            <a:r>
              <a:rPr spc="-145" dirty="0"/>
              <a:t> </a:t>
            </a:r>
            <a:r>
              <a:rPr spc="-10" dirty="0"/>
              <a:t>scientist</a:t>
            </a:r>
          </a:p>
        </p:txBody>
      </p:sp>
      <p:pic>
        <p:nvPicPr>
          <p:cNvPr id="3" name="object 3" descr="C:\Users\parul\Desktop\Untitled-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3694" y="3009900"/>
            <a:ext cx="5430901" cy="2803525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81177" y="2317495"/>
          <a:ext cx="8658225" cy="3336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57658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Aspect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0185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Analyst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11633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Scientist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Typical</a:t>
                      </a:r>
                      <a:r>
                        <a:rPr sz="1800" b="1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Tasks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930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Cleaning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organizing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data,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creating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reports,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generating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dashboards,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and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performing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descriptive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analytics.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200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Building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predictive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models,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conducting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A/B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testing,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developing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algorithms,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and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performing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exploratory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analysis.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Example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Scenario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Analyzing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sales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identify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trends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optimize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marketing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strategies.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981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Developing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recommendation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e-commerce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platform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customer behavior.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Decision</a:t>
                      </a:r>
                      <a:r>
                        <a:rPr sz="18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Making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581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Helps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businesses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make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data-driven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decisions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providing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insights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from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existing data.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765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Involves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both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providing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insights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developing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solutions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complex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problems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data.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9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Tools</a:t>
                      </a:r>
                      <a:r>
                        <a:rPr sz="18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Used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476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Excel,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SQL,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Tableau,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Power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BI,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Google Analytics.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120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Python,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R,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SQL,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TensorFlow,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PyTorch,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Jupyter Notebooks,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Big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Data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Technologies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(e.g.,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Hadoop,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Spark).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59911" y="6016548"/>
            <a:ext cx="2425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1F487C"/>
                </a:solidFill>
                <a:latin typeface="Calibri"/>
                <a:cs typeface="Calibri"/>
                <a:hlinkClick r:id="rId2"/>
              </a:rPr>
              <a:t>www.paruluniversity.ac.in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F487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1481</Words>
  <Application>Microsoft Office PowerPoint</Application>
  <PresentationFormat>On-screen Show (4:3)</PresentationFormat>
  <Paragraphs>195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Arial MT</vt:lpstr>
      <vt:lpstr>Calibri</vt:lpstr>
      <vt:lpstr>Office Theme</vt:lpstr>
      <vt:lpstr>Data Analytics and Data Visualization (30310214) Unit 1: Introduction to Data Analytics</vt:lpstr>
      <vt:lpstr>Outline</vt:lpstr>
      <vt:lpstr>Introduction to Data Analysis </vt:lpstr>
      <vt:lpstr>Data and its importance</vt:lpstr>
      <vt:lpstr>Variable, Measurement and Data</vt:lpstr>
      <vt:lpstr>What is generating so much data?</vt:lpstr>
      <vt:lpstr>How data add value to business?</vt:lpstr>
      <vt:lpstr>Example of Data products</vt:lpstr>
      <vt:lpstr>Why data is important?</vt:lpstr>
      <vt:lpstr>Define Data analytics and its types</vt:lpstr>
      <vt:lpstr>Why data analytics is important?</vt:lpstr>
      <vt:lpstr>Data analysis</vt:lpstr>
      <vt:lpstr>Data analytics Vs. Data Analysis</vt:lpstr>
      <vt:lpstr>Data analytics Vs. Data Analysis</vt:lpstr>
      <vt:lpstr>Data analytics Vs. Data Analysis</vt:lpstr>
      <vt:lpstr>Data analytics Vs. Data Analysis</vt:lpstr>
      <vt:lpstr>Classification of Data analytics</vt:lpstr>
      <vt:lpstr>Classification of Data analytics</vt:lpstr>
      <vt:lpstr>Classification of Data analytics: Descriptive analytics</vt:lpstr>
      <vt:lpstr>Classification of Data analytics: Descriptive analytics</vt:lpstr>
      <vt:lpstr>Classification of Data analytics: Diagnostic analytics</vt:lpstr>
      <vt:lpstr>Classification of Data analytics: Predictive analytics</vt:lpstr>
      <vt:lpstr>Classification of Data analytics: Predictive analytics</vt:lpstr>
      <vt:lpstr>Classification of Data analytics: Predictive analytics</vt:lpstr>
      <vt:lpstr>Classification of Data analytics: Prescriptive analytics</vt:lpstr>
      <vt:lpstr>Element of Data analytics</vt:lpstr>
      <vt:lpstr>Data analyst Vs. Data scientist</vt:lpstr>
      <vt:lpstr>Data analyst Vs. Data scientist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parul</dc:creator>
  <cp:lastModifiedBy>ARNAB MANDAL</cp:lastModifiedBy>
  <cp:revision>1</cp:revision>
  <dcterms:created xsi:type="dcterms:W3CDTF">2026-06-11T08:20:26Z</dcterms:created>
  <dcterms:modified xsi:type="dcterms:W3CDTF">2026-07-11T05:22:25Z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2025-05-11T00:00:00Z</vt:filetime>
  </property>
  <property fmtid="{D5CDD505-2E9C-101B-9397-08002B2CF9AE}" pid="4" name="Creator">
    <vt:lpwstr>Microsoft® PowerPoint® 2010</vt:lpwstr>
  </property>
  <property fmtid="{D5CDD505-2E9C-101B-9397-08002B2CF9AE}" pid="5" name="LastSaved">
    <vt:filetime>2026-06-11T00:00:00Z</vt:filetime>
  </property>
  <property fmtid="{D5CDD505-2E9C-101B-9397-08002B2CF9AE}" pid="6" name="Producer">
    <vt:lpwstr>Microsoft® PowerPoint® 2010</vt:lpwstr>
  </property>
</Properties>
</file>