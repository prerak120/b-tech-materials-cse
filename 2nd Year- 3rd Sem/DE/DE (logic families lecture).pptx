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77" r:id="rId11"/>
    <p:sldId id="264" r:id="rId12"/>
    <p:sldId id="279" r:id="rId13"/>
    <p:sldId id="278" r:id="rId14"/>
    <p:sldId id="266" r:id="rId15"/>
    <p:sldId id="280" r:id="rId16"/>
    <p:sldId id="281" r:id="rId17"/>
    <p:sldId id="29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6678">
              <a:lnSpc>
                <a:spcPts val="930"/>
              </a:lnSpc>
            </a:pPr>
            <a:fld id="{81D60167-4931-47E6-BA6A-407CBD079E47}" type="slidenum">
              <a:rPr lang="en-IN" spc="-38" smtClean="0"/>
              <a:pPr marL="86678">
                <a:lnSpc>
                  <a:spcPts val="930"/>
                </a:lnSpc>
              </a:pPr>
              <a:t>‹#›</a:t>
            </a:fld>
            <a:endParaRPr lang="en-IN" spc="-38" dirty="0"/>
          </a:p>
        </p:txBody>
      </p:sp>
    </p:spTree>
    <p:extLst>
      <p:ext uri="{BB962C8B-B14F-4D97-AF65-F5344CB8AC3E}">
        <p14:creationId xmlns:p14="http://schemas.microsoft.com/office/powerpoint/2010/main" val="102954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199" y="1017"/>
            <a:ext cx="5792153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4776" y="1840229"/>
            <a:ext cx="5622607" cy="415498"/>
          </a:xfrm>
        </p:spPr>
        <p:txBody>
          <a:bodyPr lIns="0" tIns="0" rIns="0" bIns="0"/>
          <a:lstStyle>
            <a:lvl1pPr>
              <a:defRPr sz="27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6678">
              <a:lnSpc>
                <a:spcPts val="930"/>
              </a:lnSpc>
            </a:pPr>
            <a:fld id="{81D60167-4931-47E6-BA6A-407CBD079E47}" type="slidenum">
              <a:rPr lang="en-IN" spc="-38" smtClean="0"/>
              <a:pPr marL="86678">
                <a:lnSpc>
                  <a:spcPts val="930"/>
                </a:lnSpc>
              </a:pPr>
              <a:t>‹#›</a:t>
            </a:fld>
            <a:endParaRPr lang="en-IN" spc="-38" dirty="0"/>
          </a:p>
        </p:txBody>
      </p:sp>
    </p:spTree>
    <p:extLst>
      <p:ext uri="{BB962C8B-B14F-4D97-AF65-F5344CB8AC3E}">
        <p14:creationId xmlns:p14="http://schemas.microsoft.com/office/powerpoint/2010/main" val="81861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199" y="1017"/>
            <a:ext cx="5792153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6678">
              <a:lnSpc>
                <a:spcPts val="930"/>
              </a:lnSpc>
            </a:pPr>
            <a:fld id="{81D60167-4931-47E6-BA6A-407CBD079E47}" type="slidenum">
              <a:rPr lang="en-IN" spc="-38" smtClean="0"/>
              <a:pPr marL="86678">
                <a:lnSpc>
                  <a:spcPts val="930"/>
                </a:lnSpc>
              </a:pPr>
              <a:t>‹#›</a:t>
            </a:fld>
            <a:endParaRPr lang="en-IN" spc="-38" dirty="0"/>
          </a:p>
        </p:txBody>
      </p:sp>
    </p:spTree>
    <p:extLst>
      <p:ext uri="{BB962C8B-B14F-4D97-AF65-F5344CB8AC3E}">
        <p14:creationId xmlns:p14="http://schemas.microsoft.com/office/powerpoint/2010/main" val="175933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199" y="1017"/>
            <a:ext cx="5792153" cy="369332"/>
          </a:xfrm>
        </p:spPr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6678">
              <a:lnSpc>
                <a:spcPts val="930"/>
              </a:lnSpc>
            </a:pPr>
            <a:fld id="{81D60167-4931-47E6-BA6A-407CBD079E47}" type="slidenum">
              <a:rPr lang="en-IN" spc="-38" smtClean="0"/>
              <a:pPr marL="86678">
                <a:lnSpc>
                  <a:spcPts val="930"/>
                </a:lnSpc>
              </a:pPr>
              <a:t>‹#›</a:t>
            </a:fld>
            <a:endParaRPr lang="en-IN" spc="-38" dirty="0"/>
          </a:p>
        </p:txBody>
      </p:sp>
    </p:spTree>
    <p:extLst>
      <p:ext uri="{BB962C8B-B14F-4D97-AF65-F5344CB8AC3E}">
        <p14:creationId xmlns:p14="http://schemas.microsoft.com/office/powerpoint/2010/main" val="9958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6678">
              <a:lnSpc>
                <a:spcPts val="930"/>
              </a:lnSpc>
            </a:pPr>
            <a:fld id="{81D60167-4931-47E6-BA6A-407CBD079E47}" type="slidenum">
              <a:rPr lang="en-IN" spc="-38" smtClean="0"/>
              <a:pPr marL="86678">
                <a:lnSpc>
                  <a:spcPts val="930"/>
                </a:lnSpc>
              </a:pPr>
              <a:t>‹#›</a:t>
            </a:fld>
            <a:endParaRPr lang="en-IN" spc="-38" dirty="0"/>
          </a:p>
        </p:txBody>
      </p:sp>
    </p:spTree>
    <p:extLst>
      <p:ext uri="{BB962C8B-B14F-4D97-AF65-F5344CB8AC3E}">
        <p14:creationId xmlns:p14="http://schemas.microsoft.com/office/powerpoint/2010/main" val="1381349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176" y="204469"/>
            <a:ext cx="7581646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40" y="1078779"/>
            <a:ext cx="8681719" cy="3609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48828" y="6294656"/>
            <a:ext cx="267334" cy="222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199" y="1017"/>
            <a:ext cx="5792153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4776" y="1840229"/>
            <a:ext cx="562260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73535" y="6465214"/>
            <a:ext cx="183356" cy="2324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6678">
              <a:lnSpc>
                <a:spcPts val="930"/>
              </a:lnSpc>
            </a:pPr>
            <a:fld id="{81D60167-4931-47E6-BA6A-407CBD079E47}" type="slidenum">
              <a:rPr lang="en-IN" spc="-38" smtClean="0"/>
              <a:pPr marL="86678">
                <a:lnSpc>
                  <a:spcPts val="930"/>
                </a:lnSpc>
              </a:pPr>
              <a:t>‹#›</a:t>
            </a:fld>
            <a:endParaRPr lang="en-IN" spc="-38" dirty="0"/>
          </a:p>
        </p:txBody>
      </p:sp>
    </p:spTree>
    <p:extLst>
      <p:ext uri="{BB962C8B-B14F-4D97-AF65-F5344CB8AC3E}">
        <p14:creationId xmlns:p14="http://schemas.microsoft.com/office/powerpoint/2010/main" val="109152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9332" y="2947669"/>
            <a:ext cx="50831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Digital</a:t>
            </a:r>
            <a:r>
              <a:rPr spc="-85" dirty="0"/>
              <a:t> </a:t>
            </a:r>
            <a:r>
              <a:rPr dirty="0"/>
              <a:t>Logic</a:t>
            </a:r>
            <a:r>
              <a:rPr spc="-85" dirty="0"/>
              <a:t> </a:t>
            </a:r>
            <a:r>
              <a:rPr spc="-10" dirty="0"/>
              <a:t>Families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0695">
              <a:lnSpc>
                <a:spcPct val="100000"/>
              </a:lnSpc>
              <a:spcBef>
                <a:spcPts val="95"/>
              </a:spcBef>
            </a:pPr>
            <a:r>
              <a:rPr dirty="0"/>
              <a:t>Integration</a:t>
            </a:r>
            <a:r>
              <a:rPr spc="-125" dirty="0"/>
              <a:t> </a:t>
            </a:r>
            <a:r>
              <a:rPr spc="-10" dirty="0"/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1163828"/>
            <a:ext cx="54400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Gate/transistor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ratio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roughly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1/10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212" y="1590852"/>
            <a:ext cx="1102360" cy="30981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770"/>
              </a:spcBef>
              <a:buChar char="–"/>
              <a:tabLst>
                <a:tab pos="297815" algn="l"/>
              </a:tabLst>
            </a:pPr>
            <a:r>
              <a:rPr sz="2800" spc="-25" dirty="0">
                <a:latin typeface="Times New Roman"/>
                <a:cs typeface="Times New Roman"/>
              </a:rPr>
              <a:t>SSI</a:t>
            </a:r>
            <a:endParaRPr sz="28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670"/>
              </a:spcBef>
              <a:buChar char="–"/>
              <a:tabLst>
                <a:tab pos="297815" algn="l"/>
              </a:tabLst>
            </a:pPr>
            <a:r>
              <a:rPr sz="2800" spc="-25" dirty="0">
                <a:latin typeface="Times New Roman"/>
                <a:cs typeface="Times New Roman"/>
              </a:rPr>
              <a:t>MSI</a:t>
            </a:r>
            <a:endParaRPr sz="28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297815" algn="l"/>
              </a:tabLst>
            </a:pPr>
            <a:r>
              <a:rPr sz="2800" spc="-25" dirty="0">
                <a:latin typeface="Times New Roman"/>
                <a:cs typeface="Times New Roman"/>
              </a:rPr>
              <a:t>LSI</a:t>
            </a:r>
            <a:endParaRPr sz="28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670"/>
              </a:spcBef>
              <a:buChar char="–"/>
              <a:tabLst>
                <a:tab pos="297815" algn="l"/>
              </a:tabLst>
            </a:pPr>
            <a:r>
              <a:rPr sz="2800" spc="-20" dirty="0">
                <a:latin typeface="Times New Roman"/>
                <a:cs typeface="Times New Roman"/>
              </a:rPr>
              <a:t>VLSI</a:t>
            </a:r>
            <a:endParaRPr sz="28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297815" algn="l"/>
              </a:tabLst>
            </a:pPr>
            <a:r>
              <a:rPr sz="2800" spc="-20" dirty="0">
                <a:latin typeface="Times New Roman"/>
                <a:cs typeface="Times New Roman"/>
              </a:rPr>
              <a:t>ULSI</a:t>
            </a:r>
            <a:endParaRPr sz="28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670"/>
              </a:spcBef>
              <a:buChar char="–"/>
              <a:tabLst>
                <a:tab pos="297815" algn="l"/>
              </a:tabLst>
            </a:pPr>
            <a:r>
              <a:rPr sz="2800" spc="-25" dirty="0">
                <a:latin typeface="Times New Roman"/>
                <a:cs typeface="Times New Roman"/>
              </a:rPr>
              <a:t>GSI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3673" y="1590852"/>
            <a:ext cx="2738755" cy="30981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Times New Roman"/>
                <a:cs typeface="Times New Roman"/>
              </a:rPr>
              <a:t>&lt;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12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gates/chip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Times New Roman"/>
                <a:cs typeface="Times New Roman"/>
              </a:rPr>
              <a:t>&lt;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100</a:t>
            </a:r>
            <a:r>
              <a:rPr sz="2800" spc="-10" dirty="0">
                <a:latin typeface="Times New Roman"/>
                <a:cs typeface="Times New Roman"/>
              </a:rPr>
              <a:t> gates/chip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…1K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gates/chip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Times New Roman"/>
                <a:cs typeface="Times New Roman"/>
              </a:rPr>
              <a:t>…10K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gates/chip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…100K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gates/chip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Times New Roman"/>
                <a:cs typeface="Times New Roman"/>
              </a:rPr>
              <a:t>…1Meg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gates/chip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67425" y="1733549"/>
            <a:ext cx="2238323" cy="177161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1725">
              <a:lnSpc>
                <a:spcPct val="100000"/>
              </a:lnSpc>
              <a:spcBef>
                <a:spcPts val="95"/>
              </a:spcBef>
            </a:pPr>
            <a:r>
              <a:rPr dirty="0"/>
              <a:t>Moore’s</a:t>
            </a:r>
            <a:r>
              <a:rPr spc="-100" dirty="0"/>
              <a:t> </a:t>
            </a:r>
            <a:r>
              <a:rPr spc="-25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1163828"/>
            <a:ext cx="8096884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800" spc="-30" dirty="0">
                <a:latin typeface="Times New Roman"/>
                <a:cs typeface="Times New Roman"/>
              </a:rPr>
              <a:t>A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prediction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Moore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co-founder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Intel)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1965: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“…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transistors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double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every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2 </a:t>
            </a:r>
            <a:r>
              <a:rPr sz="2800" spc="-10" dirty="0">
                <a:latin typeface="Times New Roman"/>
                <a:cs typeface="Times New Roman"/>
              </a:rPr>
              <a:t>years.”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459075"/>
            <a:ext cx="6705523" cy="38337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54585" y="1894713"/>
            <a:ext cx="202644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  <a:tabLst>
                <a:tab pos="676751" algn="l"/>
              </a:tabLst>
            </a:pPr>
            <a:r>
              <a:rPr sz="2100" b="1" u="sng" dirty="0">
                <a:uFill>
                  <a:solidFill>
                    <a:srgbClr val="497DBA"/>
                  </a:solidFill>
                </a:uFill>
                <a:latin typeface="Calibri"/>
                <a:cs typeface="Calibri"/>
              </a:rPr>
              <a:t>	Lo</a:t>
            </a:r>
            <a:r>
              <a:rPr sz="2100" b="1" dirty="0">
                <a:latin typeface="Calibri"/>
                <a:cs typeface="Calibri"/>
              </a:rPr>
              <a:t>gic</a:t>
            </a:r>
            <a:r>
              <a:rPr sz="2100" b="1" spc="-53" dirty="0">
                <a:latin typeface="Calibri"/>
                <a:cs typeface="Calibri"/>
              </a:rPr>
              <a:t> </a:t>
            </a:r>
            <a:r>
              <a:rPr sz="2100" b="1" spc="-8" dirty="0">
                <a:latin typeface="Calibri"/>
                <a:cs typeface="Calibri"/>
              </a:rPr>
              <a:t>Family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9877" y="2599753"/>
            <a:ext cx="1549241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dirty="0">
                <a:latin typeface="Calibri"/>
                <a:cs typeface="Calibri"/>
              </a:rPr>
              <a:t>Bipolar</a:t>
            </a:r>
            <a:r>
              <a:rPr sz="1500" spc="-1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Logic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Family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34184" y="2219420"/>
            <a:ext cx="4589145" cy="443865"/>
          </a:xfrm>
          <a:custGeom>
            <a:avLst/>
            <a:gdLst/>
            <a:ahLst/>
            <a:cxnLst/>
            <a:rect l="l" t="t" r="r" b="b"/>
            <a:pathLst>
              <a:path w="6118859" h="591819">
                <a:moveTo>
                  <a:pt x="1239901" y="0"/>
                </a:moveTo>
                <a:lnTo>
                  <a:pt x="34671" y="0"/>
                </a:lnTo>
                <a:lnTo>
                  <a:pt x="31750" y="2794"/>
                </a:lnTo>
                <a:lnTo>
                  <a:pt x="31750" y="413893"/>
                </a:lnTo>
                <a:lnTo>
                  <a:pt x="0" y="413893"/>
                </a:lnTo>
                <a:lnTo>
                  <a:pt x="38100" y="490093"/>
                </a:lnTo>
                <a:lnTo>
                  <a:pt x="69850" y="426593"/>
                </a:lnTo>
                <a:lnTo>
                  <a:pt x="76200" y="413893"/>
                </a:lnTo>
                <a:lnTo>
                  <a:pt x="44450" y="413893"/>
                </a:lnTo>
                <a:lnTo>
                  <a:pt x="44450" y="12700"/>
                </a:lnTo>
                <a:lnTo>
                  <a:pt x="1239901" y="12700"/>
                </a:lnTo>
                <a:lnTo>
                  <a:pt x="1239901" y="6350"/>
                </a:lnTo>
                <a:lnTo>
                  <a:pt x="1239901" y="0"/>
                </a:lnTo>
                <a:close/>
              </a:path>
              <a:path w="6118859" h="591819">
                <a:moveTo>
                  <a:pt x="6087237" y="2794"/>
                </a:moveTo>
                <a:lnTo>
                  <a:pt x="6084316" y="0"/>
                </a:lnTo>
                <a:lnTo>
                  <a:pt x="2410587" y="0"/>
                </a:lnTo>
                <a:lnTo>
                  <a:pt x="2410587" y="12700"/>
                </a:lnTo>
                <a:lnTo>
                  <a:pt x="6074549" y="12700"/>
                </a:lnTo>
                <a:lnTo>
                  <a:pt x="6074537" y="6350"/>
                </a:lnTo>
                <a:lnTo>
                  <a:pt x="6087237" y="6350"/>
                </a:lnTo>
                <a:lnTo>
                  <a:pt x="6087237" y="2794"/>
                </a:lnTo>
                <a:close/>
              </a:path>
              <a:path w="6118859" h="591819">
                <a:moveTo>
                  <a:pt x="6118479" y="510032"/>
                </a:moveTo>
                <a:lnTo>
                  <a:pt x="6089205" y="514934"/>
                </a:lnTo>
                <a:lnTo>
                  <a:pt x="6087249" y="12700"/>
                </a:lnTo>
                <a:lnTo>
                  <a:pt x="6080887" y="12700"/>
                </a:lnTo>
                <a:lnTo>
                  <a:pt x="6074549" y="12700"/>
                </a:lnTo>
                <a:lnTo>
                  <a:pt x="6076493" y="510032"/>
                </a:lnTo>
                <a:lnTo>
                  <a:pt x="6076518" y="517055"/>
                </a:lnTo>
                <a:lnTo>
                  <a:pt x="6043295" y="522605"/>
                </a:lnTo>
                <a:lnTo>
                  <a:pt x="6093460" y="591439"/>
                </a:lnTo>
                <a:lnTo>
                  <a:pt x="6112700" y="528828"/>
                </a:lnTo>
                <a:lnTo>
                  <a:pt x="6118479" y="510032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4417" y="3173063"/>
            <a:ext cx="770096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spc="-8" dirty="0">
                <a:latin typeface="Calibri"/>
                <a:cs typeface="Calibri"/>
              </a:rPr>
              <a:t>Saturated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8871" y="3255835"/>
            <a:ext cx="1134428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dirty="0">
                <a:latin typeface="Calibri"/>
                <a:cs typeface="Calibri"/>
              </a:rPr>
              <a:t>Non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Saturated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52788" y="5033201"/>
            <a:ext cx="17145" cy="17145"/>
          </a:xfrm>
          <a:custGeom>
            <a:avLst/>
            <a:gdLst/>
            <a:ahLst/>
            <a:cxnLst/>
            <a:rect l="l" t="t" r="r" b="b"/>
            <a:pathLst>
              <a:path w="22860" h="22860">
                <a:moveTo>
                  <a:pt x="0" y="0"/>
                </a:moveTo>
                <a:lnTo>
                  <a:pt x="8876" y="1785"/>
                </a:lnTo>
                <a:lnTo>
                  <a:pt x="16144" y="6662"/>
                </a:lnTo>
                <a:lnTo>
                  <a:pt x="21056" y="13914"/>
                </a:lnTo>
                <a:lnTo>
                  <a:pt x="22860" y="22821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76408" y="3795713"/>
            <a:ext cx="221932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b="1" spc="-8" dirty="0">
                <a:latin typeface="Calibri"/>
                <a:cs typeface="Calibri"/>
              </a:rPr>
              <a:t>RTL(resistor</a:t>
            </a:r>
            <a:r>
              <a:rPr sz="1500" b="1" spc="-38" dirty="0">
                <a:latin typeface="Calibri"/>
                <a:cs typeface="Calibri"/>
              </a:rPr>
              <a:t> </a:t>
            </a:r>
            <a:r>
              <a:rPr sz="1500" b="1" spc="-8" dirty="0">
                <a:latin typeface="Calibri"/>
                <a:cs typeface="Calibri"/>
              </a:rPr>
              <a:t>transistor</a:t>
            </a:r>
            <a:r>
              <a:rPr sz="1500" b="1" spc="-23" dirty="0">
                <a:latin typeface="Calibri"/>
                <a:cs typeface="Calibri"/>
              </a:rPr>
              <a:t> </a:t>
            </a:r>
            <a:r>
              <a:rPr sz="1500" b="1" spc="-8" dirty="0">
                <a:latin typeface="Calibri"/>
                <a:cs typeface="Calibri"/>
              </a:rPr>
              <a:t>logic)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8292" y="3417284"/>
            <a:ext cx="895826" cy="1503521"/>
          </a:xfrm>
          <a:custGeom>
            <a:avLst/>
            <a:gdLst/>
            <a:ahLst/>
            <a:cxnLst/>
            <a:rect l="l" t="t" r="r" b="b"/>
            <a:pathLst>
              <a:path w="1194435" h="2004695">
                <a:moveTo>
                  <a:pt x="1193914" y="0"/>
                </a:moveTo>
                <a:lnTo>
                  <a:pt x="1181214" y="0"/>
                </a:lnTo>
                <a:lnTo>
                  <a:pt x="1181214" y="246253"/>
                </a:lnTo>
                <a:lnTo>
                  <a:pt x="6616" y="246253"/>
                </a:lnTo>
                <a:lnTo>
                  <a:pt x="3771" y="249047"/>
                </a:lnTo>
                <a:lnTo>
                  <a:pt x="3771" y="411734"/>
                </a:lnTo>
                <a:lnTo>
                  <a:pt x="1816" y="411734"/>
                </a:lnTo>
                <a:lnTo>
                  <a:pt x="1816" y="1155827"/>
                </a:lnTo>
                <a:lnTo>
                  <a:pt x="1816" y="1174623"/>
                </a:lnTo>
                <a:lnTo>
                  <a:pt x="1816" y="1596771"/>
                </a:lnTo>
                <a:lnTo>
                  <a:pt x="0" y="1596771"/>
                </a:lnTo>
                <a:lnTo>
                  <a:pt x="0" y="1969643"/>
                </a:lnTo>
                <a:lnTo>
                  <a:pt x="2844" y="1972564"/>
                </a:lnTo>
                <a:lnTo>
                  <a:pt x="160705" y="1972564"/>
                </a:lnTo>
                <a:lnTo>
                  <a:pt x="160705" y="2004314"/>
                </a:lnTo>
                <a:lnTo>
                  <a:pt x="224205" y="1972564"/>
                </a:lnTo>
                <a:lnTo>
                  <a:pt x="236905" y="1966214"/>
                </a:lnTo>
                <a:lnTo>
                  <a:pt x="224205" y="1959864"/>
                </a:lnTo>
                <a:lnTo>
                  <a:pt x="160705" y="1928114"/>
                </a:lnTo>
                <a:lnTo>
                  <a:pt x="160705" y="1959864"/>
                </a:lnTo>
                <a:lnTo>
                  <a:pt x="12700" y="1959864"/>
                </a:lnTo>
                <a:lnTo>
                  <a:pt x="12700" y="1622298"/>
                </a:lnTo>
                <a:lnTo>
                  <a:pt x="162521" y="1622298"/>
                </a:lnTo>
                <a:lnTo>
                  <a:pt x="162521" y="1654048"/>
                </a:lnTo>
                <a:lnTo>
                  <a:pt x="226021" y="1622298"/>
                </a:lnTo>
                <a:lnTo>
                  <a:pt x="238721" y="1615948"/>
                </a:lnTo>
                <a:lnTo>
                  <a:pt x="226021" y="1609598"/>
                </a:lnTo>
                <a:lnTo>
                  <a:pt x="162521" y="1577848"/>
                </a:lnTo>
                <a:lnTo>
                  <a:pt x="162521" y="1609598"/>
                </a:lnTo>
                <a:lnTo>
                  <a:pt x="14516" y="1609598"/>
                </a:lnTo>
                <a:lnTo>
                  <a:pt x="14516" y="1177544"/>
                </a:lnTo>
                <a:lnTo>
                  <a:pt x="162521" y="1177544"/>
                </a:lnTo>
                <a:lnTo>
                  <a:pt x="162521" y="1209294"/>
                </a:lnTo>
                <a:lnTo>
                  <a:pt x="226021" y="1177544"/>
                </a:lnTo>
                <a:lnTo>
                  <a:pt x="238721" y="1171194"/>
                </a:lnTo>
                <a:lnTo>
                  <a:pt x="226021" y="1164844"/>
                </a:lnTo>
                <a:lnTo>
                  <a:pt x="162521" y="1133094"/>
                </a:lnTo>
                <a:lnTo>
                  <a:pt x="162521" y="1164844"/>
                </a:lnTo>
                <a:lnTo>
                  <a:pt x="14516" y="1164844"/>
                </a:lnTo>
                <a:lnTo>
                  <a:pt x="14516" y="1155827"/>
                </a:lnTo>
                <a:lnTo>
                  <a:pt x="14516" y="696087"/>
                </a:lnTo>
                <a:lnTo>
                  <a:pt x="162521" y="696087"/>
                </a:lnTo>
                <a:lnTo>
                  <a:pt x="162521" y="727837"/>
                </a:lnTo>
                <a:lnTo>
                  <a:pt x="226021" y="696087"/>
                </a:lnTo>
                <a:lnTo>
                  <a:pt x="238721" y="689737"/>
                </a:lnTo>
                <a:lnTo>
                  <a:pt x="226021" y="683387"/>
                </a:lnTo>
                <a:lnTo>
                  <a:pt x="162521" y="651637"/>
                </a:lnTo>
                <a:lnTo>
                  <a:pt x="162521" y="683387"/>
                </a:lnTo>
                <a:lnTo>
                  <a:pt x="16471" y="683387"/>
                </a:lnTo>
                <a:lnTo>
                  <a:pt x="16471" y="258953"/>
                </a:lnTo>
                <a:lnTo>
                  <a:pt x="1191120" y="258953"/>
                </a:lnTo>
                <a:lnTo>
                  <a:pt x="1193914" y="256032"/>
                </a:lnTo>
                <a:lnTo>
                  <a:pt x="1193914" y="246253"/>
                </a:lnTo>
                <a:lnTo>
                  <a:pt x="1193914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76408" y="4053821"/>
            <a:ext cx="2820353" cy="1552316"/>
          </a:xfrm>
          <a:prstGeom prst="rect">
            <a:avLst/>
          </a:prstGeom>
        </p:spPr>
        <p:txBody>
          <a:bodyPr vert="horz" wrap="square" lIns="0" tIns="25241" rIns="0" bIns="0" rtlCol="0">
            <a:spAutoFit/>
          </a:bodyPr>
          <a:lstStyle/>
          <a:p>
            <a:pPr marL="9525" marR="3810">
              <a:lnSpc>
                <a:spcPct val="139100"/>
              </a:lnSpc>
              <a:spcBef>
                <a:spcPts val="199"/>
              </a:spcBef>
            </a:pPr>
            <a:r>
              <a:rPr sz="1500" dirty="0">
                <a:latin typeface="Calibri"/>
                <a:cs typeface="Calibri"/>
              </a:rPr>
              <a:t>DCTL(direct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coupled</a:t>
            </a:r>
            <a:r>
              <a:rPr sz="1500" spc="-64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transistor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logic) IIL(integrated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injection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logic) </a:t>
            </a:r>
            <a:r>
              <a:rPr sz="1500" b="1" dirty="0">
                <a:latin typeface="Calibri"/>
                <a:cs typeface="Calibri"/>
              </a:rPr>
              <a:t>DTL(diode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spc="-8" dirty="0">
                <a:latin typeface="Calibri"/>
                <a:cs typeface="Calibri"/>
              </a:rPr>
              <a:t>transistor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8" dirty="0">
                <a:latin typeface="Calibri"/>
                <a:cs typeface="Calibri"/>
              </a:rPr>
              <a:t>logic)</a:t>
            </a:r>
            <a:endParaRPr sz="1500">
              <a:latin typeface="Calibri"/>
              <a:cs typeface="Calibri"/>
            </a:endParaRPr>
          </a:p>
          <a:p>
            <a:pPr marL="9525">
              <a:spcBef>
                <a:spcPts val="435"/>
              </a:spcBef>
            </a:pPr>
            <a:r>
              <a:rPr sz="1500" dirty="0">
                <a:latin typeface="Calibri"/>
                <a:cs typeface="Calibri"/>
              </a:rPr>
              <a:t>HTL(high</a:t>
            </a:r>
            <a:r>
              <a:rPr sz="1500" spc="-5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threshold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logic)</a:t>
            </a:r>
            <a:endParaRPr sz="1500">
              <a:latin typeface="Calibri"/>
              <a:cs typeface="Calibri"/>
            </a:endParaRPr>
          </a:p>
          <a:p>
            <a:pPr marL="9525">
              <a:spcBef>
                <a:spcPts val="386"/>
              </a:spcBef>
            </a:pPr>
            <a:r>
              <a:rPr sz="1500" b="1" spc="-8" dirty="0">
                <a:latin typeface="Calibri"/>
                <a:cs typeface="Calibri"/>
              </a:rPr>
              <a:t>TTL(transistor</a:t>
            </a:r>
            <a:r>
              <a:rPr sz="1500" b="1" spc="-19" dirty="0">
                <a:latin typeface="Calibri"/>
                <a:cs typeface="Calibri"/>
              </a:rPr>
              <a:t> </a:t>
            </a:r>
            <a:r>
              <a:rPr sz="1500" b="1" spc="-8" dirty="0">
                <a:latin typeface="Calibri"/>
                <a:cs typeface="Calibri"/>
              </a:rPr>
              <a:t>transistor</a:t>
            </a:r>
            <a:r>
              <a:rPr sz="1500" b="1" spc="4" dirty="0">
                <a:latin typeface="Calibri"/>
                <a:cs typeface="Calibri"/>
              </a:rPr>
              <a:t> </a:t>
            </a:r>
            <a:r>
              <a:rPr sz="1500" b="1" spc="-8" dirty="0">
                <a:latin typeface="Calibri"/>
                <a:cs typeface="Calibri"/>
              </a:rPr>
              <a:t>logic)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8292" y="4882705"/>
            <a:ext cx="196691" cy="646271"/>
          </a:xfrm>
          <a:custGeom>
            <a:avLst/>
            <a:gdLst/>
            <a:ahLst/>
            <a:cxnLst/>
            <a:rect l="l" t="t" r="r" b="b"/>
            <a:pathLst>
              <a:path w="262255" h="861695">
                <a:moveTo>
                  <a:pt x="262051" y="823163"/>
                </a:moveTo>
                <a:lnTo>
                  <a:pt x="249351" y="816813"/>
                </a:lnTo>
                <a:lnTo>
                  <a:pt x="185851" y="785063"/>
                </a:lnTo>
                <a:lnTo>
                  <a:pt x="185851" y="816813"/>
                </a:lnTo>
                <a:lnTo>
                  <a:pt x="12700" y="816813"/>
                </a:lnTo>
                <a:lnTo>
                  <a:pt x="12700" y="396951"/>
                </a:lnTo>
                <a:lnTo>
                  <a:pt x="162521" y="396951"/>
                </a:lnTo>
                <a:lnTo>
                  <a:pt x="162521" y="428701"/>
                </a:lnTo>
                <a:lnTo>
                  <a:pt x="226021" y="396951"/>
                </a:lnTo>
                <a:lnTo>
                  <a:pt x="238721" y="390601"/>
                </a:lnTo>
                <a:lnTo>
                  <a:pt x="226021" y="384251"/>
                </a:lnTo>
                <a:lnTo>
                  <a:pt x="162521" y="352501"/>
                </a:lnTo>
                <a:lnTo>
                  <a:pt x="162521" y="384251"/>
                </a:lnTo>
                <a:lnTo>
                  <a:pt x="14516" y="384251"/>
                </a:lnTo>
                <a:lnTo>
                  <a:pt x="14516" y="0"/>
                </a:lnTo>
                <a:lnTo>
                  <a:pt x="1816" y="0"/>
                </a:lnTo>
                <a:lnTo>
                  <a:pt x="1816" y="377901"/>
                </a:lnTo>
                <a:lnTo>
                  <a:pt x="0" y="377901"/>
                </a:lnTo>
                <a:lnTo>
                  <a:pt x="0" y="826668"/>
                </a:lnTo>
                <a:lnTo>
                  <a:pt x="2844" y="829513"/>
                </a:lnTo>
                <a:lnTo>
                  <a:pt x="185851" y="829513"/>
                </a:lnTo>
                <a:lnTo>
                  <a:pt x="185851" y="861263"/>
                </a:lnTo>
                <a:lnTo>
                  <a:pt x="249351" y="829513"/>
                </a:lnTo>
                <a:lnTo>
                  <a:pt x="262051" y="823163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53891" y="3882390"/>
            <a:ext cx="1019651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b="1" dirty="0">
                <a:latin typeface="Calibri"/>
                <a:cs typeface="Calibri"/>
              </a:rPr>
              <a:t>Schottky</a:t>
            </a:r>
            <a:r>
              <a:rPr sz="1500" b="1" spc="-68" dirty="0">
                <a:latin typeface="Calibri"/>
                <a:cs typeface="Calibri"/>
              </a:rPr>
              <a:t> </a:t>
            </a:r>
            <a:r>
              <a:rPr sz="1500" b="1" spc="-19" dirty="0">
                <a:latin typeface="Calibri"/>
                <a:cs typeface="Calibri"/>
              </a:rPr>
              <a:t>TTL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53890" y="4206526"/>
            <a:ext cx="208216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b="1" spc="-8" dirty="0">
                <a:latin typeface="Calibri"/>
                <a:cs typeface="Calibri"/>
              </a:rPr>
              <a:t>ECL(emitter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coupled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spc="-8" dirty="0">
                <a:latin typeface="Calibri"/>
                <a:cs typeface="Calibri"/>
              </a:rPr>
              <a:t>logic)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00391" y="2887122"/>
            <a:ext cx="2226469" cy="363379"/>
          </a:xfrm>
          <a:custGeom>
            <a:avLst/>
            <a:gdLst/>
            <a:ahLst/>
            <a:cxnLst/>
            <a:rect l="l" t="t" r="r" b="b"/>
            <a:pathLst>
              <a:path w="2968625" h="484505">
                <a:moveTo>
                  <a:pt x="2937129" y="170307"/>
                </a:moveTo>
                <a:lnTo>
                  <a:pt x="2936367" y="168656"/>
                </a:lnTo>
                <a:lnTo>
                  <a:pt x="2935224" y="167513"/>
                </a:lnTo>
                <a:lnTo>
                  <a:pt x="2934081" y="166243"/>
                </a:lnTo>
                <a:lnTo>
                  <a:pt x="2932430" y="165608"/>
                </a:lnTo>
                <a:lnTo>
                  <a:pt x="889508" y="165608"/>
                </a:lnTo>
                <a:lnTo>
                  <a:pt x="889508" y="0"/>
                </a:lnTo>
                <a:lnTo>
                  <a:pt x="876808" y="0"/>
                </a:lnTo>
                <a:lnTo>
                  <a:pt x="876808" y="175768"/>
                </a:lnTo>
                <a:lnTo>
                  <a:pt x="34544" y="175768"/>
                </a:lnTo>
                <a:lnTo>
                  <a:pt x="31750" y="178562"/>
                </a:lnTo>
                <a:lnTo>
                  <a:pt x="31750" y="288036"/>
                </a:lnTo>
                <a:lnTo>
                  <a:pt x="0" y="288036"/>
                </a:lnTo>
                <a:lnTo>
                  <a:pt x="38100" y="364236"/>
                </a:lnTo>
                <a:lnTo>
                  <a:pt x="69850" y="300736"/>
                </a:lnTo>
                <a:lnTo>
                  <a:pt x="76200" y="288036"/>
                </a:lnTo>
                <a:lnTo>
                  <a:pt x="44450" y="288036"/>
                </a:lnTo>
                <a:lnTo>
                  <a:pt x="44450" y="188468"/>
                </a:lnTo>
                <a:lnTo>
                  <a:pt x="886714" y="188468"/>
                </a:lnTo>
                <a:lnTo>
                  <a:pt x="889508" y="185674"/>
                </a:lnTo>
                <a:lnTo>
                  <a:pt x="889508" y="178308"/>
                </a:lnTo>
                <a:lnTo>
                  <a:pt x="2924251" y="178308"/>
                </a:lnTo>
                <a:lnTo>
                  <a:pt x="2924289" y="171958"/>
                </a:lnTo>
                <a:lnTo>
                  <a:pt x="2924416" y="171958"/>
                </a:lnTo>
                <a:lnTo>
                  <a:pt x="2937002" y="171958"/>
                </a:lnTo>
                <a:lnTo>
                  <a:pt x="2937129" y="170307"/>
                </a:lnTo>
                <a:close/>
              </a:path>
              <a:path w="2968625" h="484505">
                <a:moveTo>
                  <a:pt x="2968371" y="415036"/>
                </a:moveTo>
                <a:lnTo>
                  <a:pt x="2935186" y="409727"/>
                </a:lnTo>
                <a:lnTo>
                  <a:pt x="2936951" y="178308"/>
                </a:lnTo>
                <a:lnTo>
                  <a:pt x="2930652" y="178308"/>
                </a:lnTo>
                <a:lnTo>
                  <a:pt x="2924251" y="178308"/>
                </a:lnTo>
                <a:lnTo>
                  <a:pt x="2922536" y="402971"/>
                </a:lnTo>
                <a:lnTo>
                  <a:pt x="2922498" y="407695"/>
                </a:lnTo>
                <a:lnTo>
                  <a:pt x="2893060" y="402971"/>
                </a:lnTo>
                <a:lnTo>
                  <a:pt x="2918587" y="484251"/>
                </a:lnTo>
                <a:lnTo>
                  <a:pt x="2963710" y="421513"/>
                </a:lnTo>
                <a:lnTo>
                  <a:pt x="2968371" y="415036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313236" y="2728150"/>
            <a:ext cx="198691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dirty="0">
                <a:latin typeface="Calibri"/>
                <a:cs typeface="Calibri"/>
              </a:rPr>
              <a:t>ULF(unipolar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logic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family)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79794" y="2860738"/>
            <a:ext cx="2229326" cy="1509713"/>
          </a:xfrm>
          <a:custGeom>
            <a:avLst/>
            <a:gdLst/>
            <a:ahLst/>
            <a:cxnLst/>
            <a:rect l="l" t="t" r="r" b="b"/>
            <a:pathLst>
              <a:path w="2972434" h="2012950">
                <a:moveTo>
                  <a:pt x="952500" y="1545082"/>
                </a:moveTo>
                <a:lnTo>
                  <a:pt x="939800" y="1538732"/>
                </a:lnTo>
                <a:lnTo>
                  <a:pt x="876300" y="1506982"/>
                </a:lnTo>
                <a:lnTo>
                  <a:pt x="876300" y="1538732"/>
                </a:lnTo>
                <a:lnTo>
                  <a:pt x="489458" y="1538732"/>
                </a:lnTo>
                <a:lnTo>
                  <a:pt x="489458" y="1513078"/>
                </a:lnTo>
                <a:lnTo>
                  <a:pt x="482600" y="1513078"/>
                </a:lnTo>
                <a:lnTo>
                  <a:pt x="482600" y="885444"/>
                </a:lnTo>
                <a:lnTo>
                  <a:pt x="482600" y="879094"/>
                </a:lnTo>
                <a:lnTo>
                  <a:pt x="482600" y="875538"/>
                </a:lnTo>
                <a:lnTo>
                  <a:pt x="479679" y="872744"/>
                </a:lnTo>
                <a:lnTo>
                  <a:pt x="0" y="872744"/>
                </a:lnTo>
                <a:lnTo>
                  <a:pt x="0" y="885444"/>
                </a:lnTo>
                <a:lnTo>
                  <a:pt x="469900" y="885444"/>
                </a:lnTo>
                <a:lnTo>
                  <a:pt x="469900" y="1548638"/>
                </a:lnTo>
                <a:lnTo>
                  <a:pt x="472694" y="1551432"/>
                </a:lnTo>
                <a:lnTo>
                  <a:pt x="476758" y="1551432"/>
                </a:lnTo>
                <a:lnTo>
                  <a:pt x="476758" y="1978406"/>
                </a:lnTo>
                <a:lnTo>
                  <a:pt x="479679" y="1981200"/>
                </a:lnTo>
                <a:lnTo>
                  <a:pt x="848995" y="1981200"/>
                </a:lnTo>
                <a:lnTo>
                  <a:pt x="848995" y="2012950"/>
                </a:lnTo>
                <a:lnTo>
                  <a:pt x="912495" y="1981200"/>
                </a:lnTo>
                <a:lnTo>
                  <a:pt x="925195" y="1974850"/>
                </a:lnTo>
                <a:lnTo>
                  <a:pt x="912495" y="1968500"/>
                </a:lnTo>
                <a:lnTo>
                  <a:pt x="848995" y="1936750"/>
                </a:lnTo>
                <a:lnTo>
                  <a:pt x="848995" y="1968500"/>
                </a:lnTo>
                <a:lnTo>
                  <a:pt x="489458" y="1968500"/>
                </a:lnTo>
                <a:lnTo>
                  <a:pt x="489458" y="1551432"/>
                </a:lnTo>
                <a:lnTo>
                  <a:pt x="876300" y="1551432"/>
                </a:lnTo>
                <a:lnTo>
                  <a:pt x="876300" y="1583182"/>
                </a:lnTo>
                <a:lnTo>
                  <a:pt x="939800" y="1551432"/>
                </a:lnTo>
                <a:lnTo>
                  <a:pt x="952500" y="1545082"/>
                </a:lnTo>
                <a:close/>
              </a:path>
              <a:path w="2972434" h="2012950">
                <a:moveTo>
                  <a:pt x="2971927" y="1078611"/>
                </a:moveTo>
                <a:lnTo>
                  <a:pt x="2959227" y="1072261"/>
                </a:lnTo>
                <a:lnTo>
                  <a:pt x="2895727" y="1040511"/>
                </a:lnTo>
                <a:lnTo>
                  <a:pt x="2895727" y="1072261"/>
                </a:lnTo>
                <a:lnTo>
                  <a:pt x="1895729" y="1072261"/>
                </a:lnTo>
                <a:lnTo>
                  <a:pt x="1895729" y="700786"/>
                </a:lnTo>
                <a:lnTo>
                  <a:pt x="2874137" y="700786"/>
                </a:lnTo>
                <a:lnTo>
                  <a:pt x="2874137" y="732536"/>
                </a:lnTo>
                <a:lnTo>
                  <a:pt x="2937637" y="700786"/>
                </a:lnTo>
                <a:lnTo>
                  <a:pt x="2950337" y="694436"/>
                </a:lnTo>
                <a:lnTo>
                  <a:pt x="2937637" y="688086"/>
                </a:lnTo>
                <a:lnTo>
                  <a:pt x="2874137" y="656336"/>
                </a:lnTo>
                <a:lnTo>
                  <a:pt x="2874137" y="688086"/>
                </a:lnTo>
                <a:lnTo>
                  <a:pt x="1892935" y="688086"/>
                </a:lnTo>
                <a:lnTo>
                  <a:pt x="1875790" y="688086"/>
                </a:lnTo>
                <a:lnTo>
                  <a:pt x="1875790" y="12700"/>
                </a:lnTo>
                <a:lnTo>
                  <a:pt x="2098040" y="12700"/>
                </a:lnTo>
                <a:lnTo>
                  <a:pt x="2098040" y="6350"/>
                </a:lnTo>
                <a:lnTo>
                  <a:pt x="2098040" y="0"/>
                </a:lnTo>
                <a:lnTo>
                  <a:pt x="1866011" y="0"/>
                </a:lnTo>
                <a:lnTo>
                  <a:pt x="1863090" y="2921"/>
                </a:lnTo>
                <a:lnTo>
                  <a:pt x="1863090" y="697865"/>
                </a:lnTo>
                <a:lnTo>
                  <a:pt x="1864614" y="699389"/>
                </a:lnTo>
                <a:lnTo>
                  <a:pt x="1864614" y="700786"/>
                </a:lnTo>
                <a:lnTo>
                  <a:pt x="1866011" y="700786"/>
                </a:lnTo>
                <a:lnTo>
                  <a:pt x="1883029" y="700786"/>
                </a:lnTo>
                <a:lnTo>
                  <a:pt x="1883029" y="1082040"/>
                </a:lnTo>
                <a:lnTo>
                  <a:pt x="1885823" y="1084961"/>
                </a:lnTo>
                <a:lnTo>
                  <a:pt x="1904873" y="1084961"/>
                </a:lnTo>
                <a:lnTo>
                  <a:pt x="1904873" y="1096772"/>
                </a:lnTo>
                <a:lnTo>
                  <a:pt x="2431288" y="1096772"/>
                </a:lnTo>
                <a:lnTo>
                  <a:pt x="2431288" y="1476756"/>
                </a:lnTo>
                <a:lnTo>
                  <a:pt x="2434082" y="1479677"/>
                </a:lnTo>
                <a:lnTo>
                  <a:pt x="2894203" y="1479677"/>
                </a:lnTo>
                <a:lnTo>
                  <a:pt x="2894203" y="1511427"/>
                </a:lnTo>
                <a:lnTo>
                  <a:pt x="2957703" y="1479677"/>
                </a:lnTo>
                <a:lnTo>
                  <a:pt x="2970403" y="1473327"/>
                </a:lnTo>
                <a:lnTo>
                  <a:pt x="2957703" y="1466977"/>
                </a:lnTo>
                <a:lnTo>
                  <a:pt x="2894203" y="1435227"/>
                </a:lnTo>
                <a:lnTo>
                  <a:pt x="2894203" y="1466977"/>
                </a:lnTo>
                <a:lnTo>
                  <a:pt x="2443988" y="1466977"/>
                </a:lnTo>
                <a:lnTo>
                  <a:pt x="2443988" y="1096772"/>
                </a:lnTo>
                <a:lnTo>
                  <a:pt x="2443988" y="1090422"/>
                </a:lnTo>
                <a:lnTo>
                  <a:pt x="2443988" y="1086993"/>
                </a:lnTo>
                <a:lnTo>
                  <a:pt x="2442032" y="1084961"/>
                </a:lnTo>
                <a:lnTo>
                  <a:pt x="2895727" y="1084961"/>
                </a:lnTo>
                <a:lnTo>
                  <a:pt x="2895727" y="1116711"/>
                </a:lnTo>
                <a:lnTo>
                  <a:pt x="2959227" y="1084961"/>
                </a:lnTo>
                <a:lnTo>
                  <a:pt x="2971927" y="1078611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952363" y="3195647"/>
            <a:ext cx="2099786" cy="859178"/>
          </a:xfrm>
          <a:prstGeom prst="rect">
            <a:avLst/>
          </a:prstGeom>
        </p:spPr>
        <p:txBody>
          <a:bodyPr vert="horz" wrap="square" lIns="0" tIns="14764" rIns="0" bIns="0" rtlCol="0">
            <a:spAutoFit/>
          </a:bodyPr>
          <a:lstStyle/>
          <a:p>
            <a:pPr marL="9525" marR="3810" algn="just">
              <a:lnSpc>
                <a:spcPct val="124900"/>
              </a:lnSpc>
              <a:spcBef>
                <a:spcPts val="116"/>
              </a:spcBef>
            </a:pPr>
            <a:r>
              <a:rPr sz="1500" spc="-15" dirty="0">
                <a:latin typeface="Calibri"/>
                <a:cs typeface="Calibri"/>
              </a:rPr>
              <a:t>PMOS(p-</a:t>
            </a:r>
            <a:r>
              <a:rPr sz="1500" dirty="0">
                <a:latin typeface="Calibri"/>
                <a:cs typeface="Calibri"/>
              </a:rPr>
              <a:t>channel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MOSFET) NMOS(n-</a:t>
            </a:r>
            <a:r>
              <a:rPr sz="1500" dirty="0">
                <a:latin typeface="Calibri"/>
                <a:cs typeface="Calibri"/>
              </a:rPr>
              <a:t>channel</a:t>
            </a:r>
            <a:r>
              <a:rPr sz="1500" spc="-11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MOSFET) </a:t>
            </a:r>
            <a:r>
              <a:rPr sz="1500" spc="-15" dirty="0">
                <a:latin typeface="Calibri"/>
                <a:cs typeface="Calibri"/>
              </a:rPr>
              <a:t>CMOS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585882" y="1010602"/>
            <a:ext cx="5686235" cy="470802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929414">
              <a:spcBef>
                <a:spcPts val="71"/>
              </a:spcBef>
            </a:pPr>
            <a:r>
              <a:rPr sz="3000" spc="-8" dirty="0"/>
              <a:t>Classification</a:t>
            </a:r>
            <a:endParaRPr sz="3000"/>
          </a:p>
        </p:txBody>
      </p:sp>
      <p:sp>
        <p:nvSpPr>
          <p:cNvPr id="20" name="object 20"/>
          <p:cNvSpPr txBox="1"/>
          <p:nvPr/>
        </p:nvSpPr>
        <p:spPr>
          <a:xfrm>
            <a:off x="8541735" y="5326456"/>
            <a:ext cx="8715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38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9575">
              <a:lnSpc>
                <a:spcPct val="100000"/>
              </a:lnSpc>
              <a:spcBef>
                <a:spcPts val="95"/>
              </a:spcBef>
            </a:pP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beginning…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5525" y="1295400"/>
            <a:ext cx="2743200" cy="1828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540" y="1162240"/>
            <a:ext cx="36004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Diode</a:t>
            </a:r>
            <a:r>
              <a:rPr sz="2800" spc="-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Logic</a:t>
            </a:r>
            <a:r>
              <a:rPr sz="2800" spc="-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(DL)</a:t>
            </a:r>
            <a:endParaRPr sz="2800">
              <a:latin typeface="Arial MT"/>
              <a:cs typeface="Arial MT"/>
            </a:endParaRPr>
          </a:p>
          <a:p>
            <a:pPr marL="224790" indent="-212090">
              <a:lnSpc>
                <a:spcPct val="100000"/>
              </a:lnSpc>
              <a:buChar char="•"/>
              <a:tabLst>
                <a:tab pos="224790" algn="l"/>
              </a:tabLst>
            </a:pPr>
            <a:r>
              <a:rPr sz="2800" dirty="0">
                <a:latin typeface="Times New Roman"/>
                <a:cs typeface="Times New Roman"/>
              </a:rPr>
              <a:t>simplest;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does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scale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2015578"/>
            <a:ext cx="363791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2090">
              <a:lnSpc>
                <a:spcPct val="100000"/>
              </a:lnSpc>
              <a:spcBef>
                <a:spcPts val="100"/>
              </a:spcBef>
              <a:buChar char="•"/>
              <a:tabLst>
                <a:tab pos="224790" algn="l"/>
              </a:tabLst>
            </a:pP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possible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(need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active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element)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6265" y="2079752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9800" y="3505200"/>
            <a:ext cx="2667000" cy="2971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7850" y="5095874"/>
            <a:ext cx="1009650" cy="5238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676265" y="5108702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0550" y="2019300"/>
            <a:ext cx="990600" cy="5143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83540" y="3452114"/>
            <a:ext cx="3331210" cy="25838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313055">
              <a:lnSpc>
                <a:spcPts val="3340"/>
              </a:lnSpc>
              <a:spcBef>
                <a:spcPts val="229"/>
              </a:spcBef>
            </a:pP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Resistor-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Transistor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Logic</a:t>
            </a:r>
            <a:r>
              <a:rPr sz="2800" spc="-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(RTL)</a:t>
            </a:r>
            <a:endParaRPr sz="2800">
              <a:latin typeface="Arial MT"/>
              <a:cs typeface="Arial MT"/>
            </a:endParaRPr>
          </a:p>
          <a:p>
            <a:pPr marL="12700" marR="5080" indent="212090">
              <a:lnSpc>
                <a:spcPts val="3360"/>
              </a:lnSpc>
              <a:spcBef>
                <a:spcPts val="5"/>
              </a:spcBef>
              <a:buChar char="•"/>
              <a:tabLst>
                <a:tab pos="224790" algn="l"/>
              </a:tabLst>
            </a:pPr>
            <a:r>
              <a:rPr sz="2800" dirty="0">
                <a:latin typeface="Times New Roman"/>
                <a:cs typeface="Times New Roman"/>
              </a:rPr>
              <a:t>replace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diode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switch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transistor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switch</a:t>
            </a:r>
            <a:endParaRPr sz="2800">
              <a:latin typeface="Times New Roman"/>
              <a:cs typeface="Times New Roman"/>
            </a:endParaRPr>
          </a:p>
          <a:p>
            <a:pPr marL="224790" indent="-212090">
              <a:lnSpc>
                <a:spcPts val="3245"/>
              </a:lnSpc>
              <a:buChar char="•"/>
              <a:tabLst>
                <a:tab pos="224790" algn="l"/>
              </a:tabLst>
            </a:pP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cascaded</a:t>
            </a:r>
            <a:endParaRPr sz="2800">
              <a:latin typeface="Times New Roman"/>
              <a:cs typeface="Times New Roman"/>
            </a:endParaRPr>
          </a:p>
          <a:p>
            <a:pPr marL="224790" indent="-212090">
              <a:lnSpc>
                <a:spcPct val="100000"/>
              </a:lnSpc>
              <a:buChar char="•"/>
              <a:tabLst>
                <a:tab pos="224790" algn="l"/>
              </a:tabLst>
            </a:pPr>
            <a:r>
              <a:rPr sz="2800" dirty="0">
                <a:latin typeface="Times New Roman"/>
                <a:cs typeface="Times New Roman"/>
              </a:rPr>
              <a:t>large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power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draw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7721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was…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4333875"/>
            <a:ext cx="1009650" cy="5238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64814" y="4346702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1100328"/>
            <a:ext cx="7524115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0000FF"/>
                </a:solidFill>
                <a:latin typeface="Arial MT"/>
                <a:cs typeface="Arial MT"/>
              </a:rPr>
              <a:t>Diode-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Transistor</a:t>
            </a:r>
            <a:r>
              <a:rPr sz="2800" spc="-8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FF"/>
                </a:solidFill>
                <a:latin typeface="Arial MT"/>
                <a:cs typeface="Arial MT"/>
              </a:rPr>
              <a:t>Logic</a:t>
            </a:r>
            <a:r>
              <a:rPr sz="2800" spc="-8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(DTL)</a:t>
            </a:r>
            <a:endParaRPr sz="2800">
              <a:latin typeface="Arial MT"/>
              <a:cs typeface="Arial MT"/>
            </a:endParaRPr>
          </a:p>
          <a:p>
            <a:pPr marL="224790" indent="-212090">
              <a:lnSpc>
                <a:spcPct val="100000"/>
              </a:lnSpc>
              <a:buChar char="•"/>
              <a:tabLst>
                <a:tab pos="224790" algn="l"/>
              </a:tabLst>
            </a:pPr>
            <a:r>
              <a:rPr sz="2800" dirty="0">
                <a:latin typeface="Times New Roman"/>
                <a:cs typeface="Times New Roman"/>
              </a:rPr>
              <a:t>essentially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diode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transistor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amplification</a:t>
            </a:r>
            <a:endParaRPr sz="2800">
              <a:latin typeface="Times New Roman"/>
              <a:cs typeface="Times New Roman"/>
            </a:endParaRPr>
          </a:p>
          <a:p>
            <a:pPr marL="224790" indent="-212090">
              <a:lnSpc>
                <a:spcPct val="100000"/>
              </a:lnSpc>
              <a:buChar char="•"/>
              <a:tabLst>
                <a:tab pos="224790" algn="l"/>
              </a:tabLst>
            </a:pPr>
            <a:r>
              <a:rPr sz="2800" dirty="0">
                <a:latin typeface="Times New Roman"/>
                <a:cs typeface="Times New Roman"/>
              </a:rPr>
              <a:t>reduced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power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consumption</a:t>
            </a:r>
            <a:endParaRPr sz="2800">
              <a:latin typeface="Times New Roman"/>
              <a:cs typeface="Times New Roman"/>
            </a:endParaRPr>
          </a:p>
          <a:p>
            <a:pPr marL="224790" indent="-212090">
              <a:lnSpc>
                <a:spcPct val="100000"/>
              </a:lnSpc>
              <a:buChar char="•"/>
              <a:tabLst>
                <a:tab pos="224790" algn="l"/>
              </a:tabLst>
            </a:pPr>
            <a:r>
              <a:rPr sz="2800" dirty="0">
                <a:latin typeface="Times New Roman"/>
                <a:cs typeface="Times New Roman"/>
              </a:rPr>
              <a:t>faster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than</a:t>
            </a:r>
            <a:r>
              <a:rPr sz="2800" spc="-25" dirty="0">
                <a:latin typeface="Times New Roman"/>
                <a:cs typeface="Times New Roman"/>
              </a:rPr>
              <a:t> RTL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71837" y="3343275"/>
            <a:ext cx="4505325" cy="2676525"/>
            <a:chOff x="3271837" y="3195637"/>
            <a:chExt cx="4505325" cy="26765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5675" y="3200400"/>
              <a:ext cx="3962400" cy="2590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76600" y="3200400"/>
              <a:ext cx="4495800" cy="2667000"/>
            </a:xfrm>
            <a:custGeom>
              <a:avLst/>
              <a:gdLst/>
              <a:ahLst/>
              <a:cxnLst/>
              <a:rect l="l" t="t" r="r" b="b"/>
              <a:pathLst>
                <a:path w="4495800" h="2667000">
                  <a:moveTo>
                    <a:pt x="0" y="0"/>
                  </a:moveTo>
                  <a:lnTo>
                    <a:pt x="2971800" y="0"/>
                  </a:lnTo>
                  <a:lnTo>
                    <a:pt x="2971800" y="2667000"/>
                  </a:lnTo>
                  <a:lnTo>
                    <a:pt x="0" y="2667000"/>
                  </a:lnTo>
                  <a:lnTo>
                    <a:pt x="0" y="0"/>
                  </a:lnTo>
                  <a:close/>
                </a:path>
                <a:path w="4495800" h="2667000">
                  <a:moveTo>
                    <a:pt x="3048000" y="0"/>
                  </a:moveTo>
                  <a:lnTo>
                    <a:pt x="4495800" y="0"/>
                  </a:lnTo>
                  <a:lnTo>
                    <a:pt x="4495800" y="2667000"/>
                  </a:lnTo>
                  <a:lnTo>
                    <a:pt x="3048000" y="2667000"/>
                  </a:lnTo>
                  <a:lnTo>
                    <a:pt x="3048000" y="0"/>
                  </a:lnTo>
                  <a:close/>
                </a:path>
              </a:pathLst>
            </a:custGeom>
            <a:ln w="9525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355340" y="5966650"/>
            <a:ext cx="18757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1655" algn="l"/>
              </a:tabLst>
            </a:pPr>
            <a:r>
              <a:rPr sz="2400" spc="-25" dirty="0">
                <a:latin typeface="Arial MT"/>
                <a:cs typeface="Arial MT"/>
              </a:rPr>
              <a:t>DL</a:t>
            </a:r>
            <a:r>
              <a:rPr sz="2400" dirty="0">
                <a:latin typeface="Arial MT"/>
                <a:cs typeface="Arial MT"/>
              </a:rPr>
              <a:t>	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gate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6327140" y="5890450"/>
            <a:ext cx="2513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Saturating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inverter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marR="238125" indent="-635">
              <a:lnSpc>
                <a:spcPct val="100000"/>
              </a:lnSpc>
              <a:spcBef>
                <a:spcPts val="100"/>
              </a:spcBef>
            </a:pPr>
            <a:r>
              <a:rPr dirty="0"/>
              <a:t>V</a:t>
            </a:r>
            <a:r>
              <a:rPr sz="2400" baseline="-20833" dirty="0"/>
              <a:t>OH</a:t>
            </a:r>
            <a:r>
              <a:rPr sz="2400" dirty="0"/>
              <a:t>(min)</a:t>
            </a:r>
            <a:r>
              <a:rPr sz="2400" spc="-40" dirty="0"/>
              <a:t> </a:t>
            </a:r>
            <a:r>
              <a:rPr sz="2400" dirty="0"/>
              <a:t>–</a:t>
            </a:r>
            <a:r>
              <a:rPr sz="2400" spc="-55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dirty="0"/>
              <a:t>minimum</a:t>
            </a:r>
            <a:r>
              <a:rPr sz="2400" spc="-35" dirty="0"/>
              <a:t> </a:t>
            </a:r>
            <a:r>
              <a:rPr sz="2400" dirty="0"/>
              <a:t>voltage</a:t>
            </a:r>
            <a:r>
              <a:rPr sz="2400" spc="-30" dirty="0"/>
              <a:t> </a:t>
            </a:r>
            <a:r>
              <a:rPr sz="2400" dirty="0"/>
              <a:t>level</a:t>
            </a:r>
            <a:r>
              <a:rPr sz="2400" spc="-35" dirty="0"/>
              <a:t> </a:t>
            </a:r>
            <a:r>
              <a:rPr sz="2400" dirty="0"/>
              <a:t>at</a:t>
            </a:r>
            <a:r>
              <a:rPr sz="2400" spc="-20" dirty="0"/>
              <a:t> </a:t>
            </a:r>
            <a:r>
              <a:rPr sz="2400" dirty="0"/>
              <a:t>an</a:t>
            </a:r>
            <a:r>
              <a:rPr sz="2400" spc="-20" dirty="0"/>
              <a:t> </a:t>
            </a:r>
            <a:r>
              <a:rPr sz="2400" dirty="0"/>
              <a:t>output</a:t>
            </a:r>
            <a:r>
              <a:rPr sz="2400" spc="-20" dirty="0"/>
              <a:t> </a:t>
            </a:r>
            <a:r>
              <a:rPr sz="2400" dirty="0"/>
              <a:t>in</a:t>
            </a:r>
            <a:r>
              <a:rPr sz="2400" spc="-20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spc="-10" dirty="0"/>
              <a:t>logical </a:t>
            </a:r>
            <a:r>
              <a:rPr sz="2400" dirty="0"/>
              <a:t>“1”</a:t>
            </a:r>
            <a:r>
              <a:rPr sz="2400" spc="-30" dirty="0"/>
              <a:t> </a:t>
            </a:r>
            <a:r>
              <a:rPr sz="2400" dirty="0"/>
              <a:t>state</a:t>
            </a:r>
            <a:r>
              <a:rPr sz="2400" spc="-25" dirty="0"/>
              <a:t> </a:t>
            </a:r>
            <a:r>
              <a:rPr sz="2400" dirty="0"/>
              <a:t>under</a:t>
            </a:r>
            <a:r>
              <a:rPr sz="2400" spc="-30" dirty="0"/>
              <a:t> </a:t>
            </a:r>
            <a:r>
              <a:rPr sz="2400" dirty="0"/>
              <a:t>defined</a:t>
            </a:r>
            <a:r>
              <a:rPr sz="2400" spc="-20" dirty="0"/>
              <a:t> </a:t>
            </a:r>
            <a:r>
              <a:rPr sz="2400" dirty="0"/>
              <a:t>load</a:t>
            </a:r>
            <a:r>
              <a:rPr sz="2400" spc="-25" dirty="0"/>
              <a:t> </a:t>
            </a:r>
            <a:r>
              <a:rPr sz="2400" spc="-10" dirty="0"/>
              <a:t>conditions</a:t>
            </a:r>
            <a:endParaRPr sz="2400"/>
          </a:p>
          <a:p>
            <a:pPr marL="279400" marR="158115">
              <a:lnSpc>
                <a:spcPct val="100000"/>
              </a:lnSpc>
              <a:spcBef>
                <a:spcPts val="575"/>
              </a:spcBef>
            </a:pPr>
            <a:r>
              <a:rPr dirty="0"/>
              <a:t>V</a:t>
            </a:r>
            <a:r>
              <a:rPr sz="2400" baseline="-20833" dirty="0"/>
              <a:t>OL</a:t>
            </a:r>
            <a:r>
              <a:rPr sz="2400" dirty="0"/>
              <a:t>(max)</a:t>
            </a:r>
            <a:r>
              <a:rPr sz="2400" spc="-35" dirty="0"/>
              <a:t> </a:t>
            </a:r>
            <a:r>
              <a:rPr sz="2400" dirty="0"/>
              <a:t>–</a:t>
            </a:r>
            <a:r>
              <a:rPr sz="2400" spc="-55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dirty="0"/>
              <a:t>maximum</a:t>
            </a:r>
            <a:r>
              <a:rPr sz="2400" spc="-40" dirty="0"/>
              <a:t> </a:t>
            </a:r>
            <a:r>
              <a:rPr sz="2400" dirty="0"/>
              <a:t>voltage</a:t>
            </a:r>
            <a:r>
              <a:rPr sz="2400" spc="-30" dirty="0"/>
              <a:t> </a:t>
            </a:r>
            <a:r>
              <a:rPr sz="2400" dirty="0"/>
              <a:t>level</a:t>
            </a:r>
            <a:r>
              <a:rPr sz="2400" spc="-35" dirty="0"/>
              <a:t> </a:t>
            </a:r>
            <a:r>
              <a:rPr sz="2400" dirty="0"/>
              <a:t>at</a:t>
            </a:r>
            <a:r>
              <a:rPr sz="2400" spc="-20" dirty="0"/>
              <a:t> </a:t>
            </a:r>
            <a:r>
              <a:rPr sz="2400" dirty="0"/>
              <a:t>an</a:t>
            </a:r>
            <a:r>
              <a:rPr sz="2400" spc="-20" dirty="0"/>
              <a:t> </a:t>
            </a:r>
            <a:r>
              <a:rPr sz="2400" dirty="0"/>
              <a:t>output</a:t>
            </a:r>
            <a:r>
              <a:rPr sz="2400" spc="-20" dirty="0"/>
              <a:t> </a:t>
            </a:r>
            <a:r>
              <a:rPr sz="2400" dirty="0"/>
              <a:t>in</a:t>
            </a:r>
            <a:r>
              <a:rPr sz="2400" spc="-20" dirty="0"/>
              <a:t> </a:t>
            </a:r>
            <a:r>
              <a:rPr sz="2400" dirty="0"/>
              <a:t>the</a:t>
            </a:r>
            <a:r>
              <a:rPr sz="2400" spc="-20" dirty="0"/>
              <a:t> </a:t>
            </a:r>
            <a:r>
              <a:rPr sz="2400" spc="-10" dirty="0"/>
              <a:t>logical </a:t>
            </a:r>
            <a:r>
              <a:rPr sz="2400" dirty="0"/>
              <a:t>“0”</a:t>
            </a:r>
            <a:r>
              <a:rPr sz="2400" spc="-30" dirty="0"/>
              <a:t> </a:t>
            </a:r>
            <a:r>
              <a:rPr sz="2400" dirty="0"/>
              <a:t>state</a:t>
            </a:r>
            <a:r>
              <a:rPr sz="2400" spc="-25" dirty="0"/>
              <a:t> </a:t>
            </a:r>
            <a:r>
              <a:rPr sz="2400" dirty="0"/>
              <a:t>under</a:t>
            </a:r>
            <a:r>
              <a:rPr sz="2400" spc="-30" dirty="0"/>
              <a:t> </a:t>
            </a:r>
            <a:r>
              <a:rPr sz="2400" dirty="0"/>
              <a:t>defined</a:t>
            </a:r>
            <a:r>
              <a:rPr sz="2400" spc="-20" dirty="0"/>
              <a:t> </a:t>
            </a:r>
            <a:r>
              <a:rPr sz="2400" dirty="0"/>
              <a:t>load</a:t>
            </a:r>
            <a:r>
              <a:rPr sz="2400" spc="-25" dirty="0"/>
              <a:t> </a:t>
            </a:r>
            <a:r>
              <a:rPr sz="2400" spc="-10" dirty="0"/>
              <a:t>conditions</a:t>
            </a:r>
            <a:endParaRPr sz="2400"/>
          </a:p>
          <a:p>
            <a:pPr marL="279400" marR="1033144">
              <a:lnSpc>
                <a:spcPct val="100000"/>
              </a:lnSpc>
              <a:spcBef>
                <a:spcPts val="575"/>
              </a:spcBef>
            </a:pPr>
            <a:r>
              <a:rPr dirty="0"/>
              <a:t>V</a:t>
            </a:r>
            <a:r>
              <a:rPr sz="2400" baseline="-20833" dirty="0"/>
              <a:t>IH</a:t>
            </a:r>
            <a:r>
              <a:rPr sz="2400" dirty="0"/>
              <a:t>(min)</a:t>
            </a:r>
            <a:r>
              <a:rPr sz="2400" spc="-25" dirty="0"/>
              <a:t> </a:t>
            </a:r>
            <a:r>
              <a:rPr sz="2400" dirty="0"/>
              <a:t>–</a:t>
            </a:r>
            <a:r>
              <a:rPr sz="2400" spc="-60" dirty="0"/>
              <a:t> </a:t>
            </a:r>
            <a:r>
              <a:rPr sz="2400" dirty="0"/>
              <a:t>The</a:t>
            </a:r>
            <a:r>
              <a:rPr sz="2400" spc="-20" dirty="0"/>
              <a:t> </a:t>
            </a:r>
            <a:r>
              <a:rPr sz="2400" dirty="0"/>
              <a:t>minimum</a:t>
            </a:r>
            <a:r>
              <a:rPr sz="2400" spc="-40" dirty="0"/>
              <a:t> </a:t>
            </a:r>
            <a:r>
              <a:rPr sz="2400" dirty="0"/>
              <a:t>voltage</a:t>
            </a:r>
            <a:r>
              <a:rPr sz="2400" spc="-35" dirty="0"/>
              <a:t> </a:t>
            </a:r>
            <a:r>
              <a:rPr sz="2400" dirty="0"/>
              <a:t>required</a:t>
            </a:r>
            <a:r>
              <a:rPr sz="2400" spc="-25" dirty="0"/>
              <a:t> </a:t>
            </a:r>
            <a:r>
              <a:rPr sz="2400" dirty="0"/>
              <a:t>at</a:t>
            </a:r>
            <a:r>
              <a:rPr sz="2400" spc="-25" dirty="0"/>
              <a:t> </a:t>
            </a:r>
            <a:r>
              <a:rPr sz="2400" dirty="0"/>
              <a:t>an</a:t>
            </a:r>
            <a:r>
              <a:rPr sz="2400" spc="-25" dirty="0"/>
              <a:t> </a:t>
            </a:r>
            <a:r>
              <a:rPr sz="2400" dirty="0"/>
              <a:t>input</a:t>
            </a:r>
            <a:r>
              <a:rPr sz="2400" spc="-25" dirty="0"/>
              <a:t> </a:t>
            </a:r>
            <a:r>
              <a:rPr sz="2400" dirty="0"/>
              <a:t>to</a:t>
            </a:r>
            <a:r>
              <a:rPr sz="2400" spc="-25" dirty="0"/>
              <a:t> be </a:t>
            </a:r>
            <a:r>
              <a:rPr sz="2400" dirty="0"/>
              <a:t>recognized</a:t>
            </a:r>
            <a:r>
              <a:rPr sz="2400" spc="-40" dirty="0"/>
              <a:t> </a:t>
            </a:r>
            <a:r>
              <a:rPr sz="2400" dirty="0"/>
              <a:t>as</a:t>
            </a:r>
            <a:r>
              <a:rPr sz="2400" spc="-15" dirty="0"/>
              <a:t> </a:t>
            </a:r>
            <a:r>
              <a:rPr sz="2400" dirty="0"/>
              <a:t>“1”</a:t>
            </a:r>
            <a:r>
              <a:rPr sz="2400" spc="-15" dirty="0"/>
              <a:t> </a:t>
            </a:r>
            <a:r>
              <a:rPr sz="2400" dirty="0"/>
              <a:t>logical</a:t>
            </a:r>
            <a:r>
              <a:rPr sz="2400" spc="-40" dirty="0"/>
              <a:t> </a:t>
            </a:r>
            <a:r>
              <a:rPr sz="2400" spc="-10" dirty="0"/>
              <a:t>state</a:t>
            </a:r>
            <a:endParaRPr sz="2400"/>
          </a:p>
          <a:p>
            <a:pPr marL="279400" marR="17780">
              <a:lnSpc>
                <a:spcPct val="100000"/>
              </a:lnSpc>
              <a:spcBef>
                <a:spcPts val="575"/>
              </a:spcBef>
            </a:pPr>
            <a:r>
              <a:rPr dirty="0"/>
              <a:t>V</a:t>
            </a:r>
            <a:r>
              <a:rPr sz="2400" baseline="-20833" dirty="0"/>
              <a:t>IL</a:t>
            </a:r>
            <a:r>
              <a:rPr sz="2400" dirty="0"/>
              <a:t>(max)</a:t>
            </a:r>
            <a:r>
              <a:rPr sz="2400" spc="-25" dirty="0"/>
              <a:t> </a:t>
            </a:r>
            <a:r>
              <a:rPr sz="2400" dirty="0"/>
              <a:t>–</a:t>
            </a:r>
            <a:r>
              <a:rPr sz="2400" spc="-60" dirty="0"/>
              <a:t> </a:t>
            </a:r>
            <a:r>
              <a:rPr sz="2400" dirty="0"/>
              <a:t>The</a:t>
            </a:r>
            <a:r>
              <a:rPr sz="2400" spc="-25" dirty="0"/>
              <a:t> </a:t>
            </a:r>
            <a:r>
              <a:rPr sz="2400" dirty="0"/>
              <a:t>maximum</a:t>
            </a:r>
            <a:r>
              <a:rPr sz="2400" spc="-40" dirty="0"/>
              <a:t> </a:t>
            </a:r>
            <a:r>
              <a:rPr sz="2400" dirty="0"/>
              <a:t>voltage</a:t>
            </a:r>
            <a:r>
              <a:rPr sz="2400" spc="-35" dirty="0"/>
              <a:t> </a:t>
            </a:r>
            <a:r>
              <a:rPr sz="2400" dirty="0"/>
              <a:t>required</a:t>
            </a:r>
            <a:r>
              <a:rPr sz="2400" spc="-30" dirty="0"/>
              <a:t> </a:t>
            </a:r>
            <a:r>
              <a:rPr sz="2400" dirty="0"/>
              <a:t>at</a:t>
            </a:r>
            <a:r>
              <a:rPr sz="2400" spc="-25" dirty="0"/>
              <a:t> </a:t>
            </a:r>
            <a:r>
              <a:rPr sz="2400" dirty="0"/>
              <a:t>an</a:t>
            </a:r>
            <a:r>
              <a:rPr sz="2400" spc="-25" dirty="0"/>
              <a:t> </a:t>
            </a:r>
            <a:r>
              <a:rPr sz="2400" dirty="0"/>
              <a:t>input</a:t>
            </a:r>
            <a:r>
              <a:rPr sz="2400" spc="-25" dirty="0"/>
              <a:t> </a:t>
            </a:r>
            <a:r>
              <a:rPr sz="2400" dirty="0"/>
              <a:t>that</a:t>
            </a:r>
            <a:r>
              <a:rPr sz="2400" spc="-35" dirty="0"/>
              <a:t> </a:t>
            </a:r>
            <a:r>
              <a:rPr sz="2400" dirty="0"/>
              <a:t>still</a:t>
            </a:r>
            <a:r>
              <a:rPr sz="2400" spc="-30" dirty="0"/>
              <a:t> </a:t>
            </a:r>
            <a:r>
              <a:rPr sz="2400" spc="-20" dirty="0"/>
              <a:t>will </a:t>
            </a:r>
            <a:r>
              <a:rPr sz="2400" dirty="0"/>
              <a:t>be</a:t>
            </a:r>
            <a:r>
              <a:rPr sz="2400" spc="-15" dirty="0"/>
              <a:t> </a:t>
            </a:r>
            <a:r>
              <a:rPr sz="2400" dirty="0"/>
              <a:t>recognized</a:t>
            </a:r>
            <a:r>
              <a:rPr sz="2400" spc="-25" dirty="0"/>
              <a:t> </a:t>
            </a:r>
            <a:r>
              <a:rPr sz="2400" dirty="0"/>
              <a:t>as</a:t>
            </a:r>
            <a:r>
              <a:rPr sz="2400" spc="-30" dirty="0"/>
              <a:t> </a:t>
            </a:r>
            <a:r>
              <a:rPr sz="2400" dirty="0"/>
              <a:t>“0”</a:t>
            </a:r>
            <a:r>
              <a:rPr sz="2400" spc="-10" dirty="0"/>
              <a:t> </a:t>
            </a:r>
            <a:r>
              <a:rPr sz="2400" dirty="0"/>
              <a:t>logical</a:t>
            </a:r>
            <a:r>
              <a:rPr sz="2400" spc="-35" dirty="0"/>
              <a:t> </a:t>
            </a:r>
            <a:r>
              <a:rPr sz="2400" spc="-10" dirty="0"/>
              <a:t>state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7915">
              <a:lnSpc>
                <a:spcPct val="100000"/>
              </a:lnSpc>
              <a:spcBef>
                <a:spcPts val="95"/>
              </a:spcBef>
            </a:pPr>
            <a:r>
              <a:rPr dirty="0"/>
              <a:t>Logic</a:t>
            </a:r>
            <a:r>
              <a:rPr spc="-95" dirty="0"/>
              <a:t> </a:t>
            </a:r>
            <a:r>
              <a:rPr dirty="0"/>
              <a:t>families:</a:t>
            </a:r>
            <a:r>
              <a:rPr spc="-70" dirty="0"/>
              <a:t> </a:t>
            </a:r>
            <a:r>
              <a:rPr dirty="0"/>
              <a:t>V</a:t>
            </a:r>
            <a:r>
              <a:rPr spc="-85" dirty="0"/>
              <a:t> </a:t>
            </a:r>
            <a:r>
              <a:rPr spc="-10" dirty="0"/>
              <a:t>levels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951" y="4414653"/>
            <a:ext cx="7456050" cy="23434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85389" y="5966810"/>
            <a:ext cx="448945" cy="3536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ts val="2380"/>
              </a:lnSpc>
              <a:spcBef>
                <a:spcPts val="400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OH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2540" y="5963635"/>
            <a:ext cx="364490" cy="3536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ts val="2380"/>
              </a:lnSpc>
              <a:spcBef>
                <a:spcPts val="400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IH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5140" y="6009673"/>
            <a:ext cx="429895" cy="3536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ts val="2380"/>
              </a:lnSpc>
              <a:spcBef>
                <a:spcPts val="400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OL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25615" y="6006498"/>
            <a:ext cx="345440" cy="3536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ts val="2380"/>
              </a:lnSpc>
              <a:spcBef>
                <a:spcPts val="400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IL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9273" rIns="0" bIns="0" rtlCol="0">
            <a:spAutoFit/>
          </a:bodyPr>
          <a:lstStyle/>
          <a:p>
            <a:pPr marL="278765" marR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I</a:t>
            </a:r>
            <a:r>
              <a:rPr sz="2400" baseline="-20833" dirty="0"/>
              <a:t>OH</a:t>
            </a:r>
            <a:r>
              <a:rPr sz="2400" spc="254" baseline="-20833" dirty="0"/>
              <a:t> </a:t>
            </a:r>
            <a:r>
              <a:rPr sz="2400" dirty="0"/>
              <a:t>–</a:t>
            </a:r>
            <a:r>
              <a:rPr sz="2400" spc="-10" dirty="0"/>
              <a:t> </a:t>
            </a:r>
            <a:r>
              <a:rPr sz="2400" dirty="0"/>
              <a:t>Current</a:t>
            </a:r>
            <a:r>
              <a:rPr sz="2400" spc="-20" dirty="0"/>
              <a:t> </a:t>
            </a:r>
            <a:r>
              <a:rPr sz="2400" dirty="0"/>
              <a:t>flowing</a:t>
            </a:r>
            <a:r>
              <a:rPr sz="2400" spc="-20" dirty="0"/>
              <a:t> </a:t>
            </a:r>
            <a:r>
              <a:rPr sz="2400" dirty="0"/>
              <a:t>into</a:t>
            </a:r>
            <a:r>
              <a:rPr sz="2400" spc="-20" dirty="0"/>
              <a:t> </a:t>
            </a:r>
            <a:r>
              <a:rPr sz="2400" dirty="0"/>
              <a:t>an</a:t>
            </a:r>
            <a:r>
              <a:rPr sz="2400" spc="-15" dirty="0"/>
              <a:t> </a:t>
            </a:r>
            <a:r>
              <a:rPr sz="2400" dirty="0"/>
              <a:t>output</a:t>
            </a:r>
            <a:r>
              <a:rPr sz="2400" spc="-20" dirty="0"/>
              <a:t> </a:t>
            </a:r>
            <a:r>
              <a:rPr sz="2400" dirty="0"/>
              <a:t>in</a:t>
            </a:r>
            <a:r>
              <a:rPr sz="2400" spc="-20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dirty="0"/>
              <a:t>logical</a:t>
            </a:r>
            <a:r>
              <a:rPr sz="2400" spc="-40" dirty="0"/>
              <a:t> </a:t>
            </a:r>
            <a:r>
              <a:rPr sz="2400" dirty="0"/>
              <a:t>“1”</a:t>
            </a:r>
            <a:r>
              <a:rPr sz="2400" spc="-10" dirty="0"/>
              <a:t> </a:t>
            </a:r>
            <a:r>
              <a:rPr sz="2400" dirty="0"/>
              <a:t>state</a:t>
            </a:r>
            <a:r>
              <a:rPr sz="2400" spc="-30" dirty="0"/>
              <a:t> </a:t>
            </a:r>
            <a:r>
              <a:rPr sz="2400" spc="-10" dirty="0"/>
              <a:t>under </a:t>
            </a:r>
            <a:r>
              <a:rPr sz="2400" dirty="0"/>
              <a:t>specified</a:t>
            </a:r>
            <a:r>
              <a:rPr sz="2400" spc="-45" dirty="0"/>
              <a:t> </a:t>
            </a:r>
            <a:r>
              <a:rPr sz="2400" dirty="0"/>
              <a:t>load</a:t>
            </a:r>
            <a:r>
              <a:rPr sz="2400" spc="-35" dirty="0"/>
              <a:t> </a:t>
            </a:r>
            <a:r>
              <a:rPr sz="2400" spc="-10" dirty="0"/>
              <a:t>conditions</a:t>
            </a:r>
            <a:endParaRPr sz="2400"/>
          </a:p>
          <a:p>
            <a:pPr marL="278765" marR="46355">
              <a:lnSpc>
                <a:spcPct val="100000"/>
              </a:lnSpc>
              <a:spcBef>
                <a:spcPts val="575"/>
              </a:spcBef>
            </a:pPr>
            <a:r>
              <a:rPr dirty="0"/>
              <a:t>I</a:t>
            </a:r>
            <a:r>
              <a:rPr sz="2400" baseline="-20833" dirty="0"/>
              <a:t>OL</a:t>
            </a:r>
            <a:r>
              <a:rPr sz="2400" spc="172" baseline="-20833" dirty="0"/>
              <a:t> </a:t>
            </a:r>
            <a:r>
              <a:rPr sz="2400" dirty="0"/>
              <a:t>–</a:t>
            </a:r>
            <a:r>
              <a:rPr sz="2400" spc="-10" dirty="0"/>
              <a:t> </a:t>
            </a:r>
            <a:r>
              <a:rPr sz="2400" dirty="0"/>
              <a:t>Current</a:t>
            </a:r>
            <a:r>
              <a:rPr sz="2400" spc="-25" dirty="0"/>
              <a:t> </a:t>
            </a:r>
            <a:r>
              <a:rPr sz="2400" dirty="0"/>
              <a:t>flowing</a:t>
            </a:r>
            <a:r>
              <a:rPr sz="2400" spc="-10" dirty="0"/>
              <a:t> </a:t>
            </a:r>
            <a:r>
              <a:rPr sz="2400" dirty="0"/>
              <a:t>into</a:t>
            </a:r>
            <a:r>
              <a:rPr sz="2400" spc="-20" dirty="0"/>
              <a:t> </a:t>
            </a:r>
            <a:r>
              <a:rPr sz="2400" dirty="0"/>
              <a:t>an</a:t>
            </a:r>
            <a:r>
              <a:rPr sz="2400" spc="-20" dirty="0"/>
              <a:t> </a:t>
            </a:r>
            <a:r>
              <a:rPr sz="2400" dirty="0"/>
              <a:t>output</a:t>
            </a:r>
            <a:r>
              <a:rPr sz="2400" spc="-20" dirty="0"/>
              <a:t> </a:t>
            </a:r>
            <a:r>
              <a:rPr sz="2400" dirty="0"/>
              <a:t>in</a:t>
            </a:r>
            <a:r>
              <a:rPr sz="2400" spc="-15" dirty="0"/>
              <a:t> </a:t>
            </a:r>
            <a:r>
              <a:rPr sz="2400" dirty="0"/>
              <a:t>the</a:t>
            </a:r>
            <a:r>
              <a:rPr sz="2400" spc="-15" dirty="0"/>
              <a:t> </a:t>
            </a:r>
            <a:r>
              <a:rPr sz="2400" dirty="0"/>
              <a:t>logical</a:t>
            </a:r>
            <a:r>
              <a:rPr sz="2400" spc="-40" dirty="0"/>
              <a:t> </a:t>
            </a:r>
            <a:r>
              <a:rPr sz="2400" dirty="0"/>
              <a:t>“0”</a:t>
            </a:r>
            <a:r>
              <a:rPr sz="2400" spc="-15" dirty="0"/>
              <a:t> </a:t>
            </a:r>
            <a:r>
              <a:rPr sz="2400" dirty="0"/>
              <a:t>state</a:t>
            </a:r>
            <a:r>
              <a:rPr sz="2400" spc="-20" dirty="0"/>
              <a:t> </a:t>
            </a:r>
            <a:r>
              <a:rPr sz="2400" spc="-10" dirty="0"/>
              <a:t>under </a:t>
            </a:r>
            <a:r>
              <a:rPr sz="2400" dirty="0"/>
              <a:t>specified</a:t>
            </a:r>
            <a:r>
              <a:rPr sz="2400" spc="-45" dirty="0"/>
              <a:t> </a:t>
            </a:r>
            <a:r>
              <a:rPr sz="2400" dirty="0"/>
              <a:t>load</a:t>
            </a:r>
            <a:r>
              <a:rPr sz="2400" spc="-35" dirty="0"/>
              <a:t> </a:t>
            </a:r>
            <a:r>
              <a:rPr sz="2400" spc="-10" dirty="0"/>
              <a:t>conditions</a:t>
            </a:r>
            <a:endParaRPr sz="2400"/>
          </a:p>
          <a:p>
            <a:pPr marL="278765" marR="346710" indent="-635">
              <a:lnSpc>
                <a:spcPct val="100000"/>
              </a:lnSpc>
              <a:spcBef>
                <a:spcPts val="575"/>
              </a:spcBef>
            </a:pPr>
            <a:r>
              <a:rPr dirty="0"/>
              <a:t>I</a:t>
            </a:r>
            <a:r>
              <a:rPr sz="2400" baseline="-20833" dirty="0"/>
              <a:t>IH</a:t>
            </a:r>
            <a:r>
              <a:rPr sz="2400" spc="270" baseline="-20833" dirty="0"/>
              <a:t> </a:t>
            </a:r>
            <a:r>
              <a:rPr sz="2400" dirty="0"/>
              <a:t>–</a:t>
            </a:r>
            <a:r>
              <a:rPr sz="2400" spc="-15" dirty="0"/>
              <a:t> </a:t>
            </a:r>
            <a:r>
              <a:rPr sz="2400" dirty="0"/>
              <a:t>Current</a:t>
            </a:r>
            <a:r>
              <a:rPr sz="2400" spc="-30" dirty="0"/>
              <a:t> </a:t>
            </a:r>
            <a:r>
              <a:rPr sz="2400" dirty="0"/>
              <a:t>flowing</a:t>
            </a:r>
            <a:r>
              <a:rPr sz="2400" spc="-15" dirty="0"/>
              <a:t> </a:t>
            </a:r>
            <a:r>
              <a:rPr sz="2400" dirty="0"/>
              <a:t>into</a:t>
            </a:r>
            <a:r>
              <a:rPr sz="2400" spc="-25" dirty="0"/>
              <a:t> </a:t>
            </a:r>
            <a:r>
              <a:rPr sz="2400" dirty="0"/>
              <a:t>an</a:t>
            </a:r>
            <a:r>
              <a:rPr sz="2400" spc="-25" dirty="0"/>
              <a:t> </a:t>
            </a:r>
            <a:r>
              <a:rPr sz="2400" dirty="0"/>
              <a:t>input</a:t>
            </a:r>
            <a:r>
              <a:rPr sz="2400" spc="-20" dirty="0"/>
              <a:t> </a:t>
            </a:r>
            <a:r>
              <a:rPr sz="2400" dirty="0"/>
              <a:t>when</a:t>
            </a:r>
            <a:r>
              <a:rPr sz="2400" spc="-20" dirty="0"/>
              <a:t> </a:t>
            </a:r>
            <a:r>
              <a:rPr sz="2400" dirty="0"/>
              <a:t>a</a:t>
            </a:r>
            <a:r>
              <a:rPr sz="2400" spc="-15" dirty="0"/>
              <a:t> </a:t>
            </a:r>
            <a:r>
              <a:rPr sz="2400" dirty="0"/>
              <a:t>specified</a:t>
            </a:r>
            <a:r>
              <a:rPr sz="2400" spc="-35" dirty="0"/>
              <a:t> </a:t>
            </a:r>
            <a:r>
              <a:rPr sz="2400" dirty="0"/>
              <a:t>HI</a:t>
            </a:r>
            <a:r>
              <a:rPr sz="2400" spc="-15" dirty="0"/>
              <a:t> </a:t>
            </a:r>
            <a:r>
              <a:rPr sz="2400" dirty="0"/>
              <a:t>level</a:t>
            </a:r>
            <a:r>
              <a:rPr sz="2400" spc="-40" dirty="0"/>
              <a:t> </a:t>
            </a:r>
            <a:r>
              <a:rPr sz="2400" spc="-25" dirty="0"/>
              <a:t>is </a:t>
            </a:r>
            <a:r>
              <a:rPr sz="2400" dirty="0"/>
              <a:t>applied</a:t>
            </a:r>
            <a:r>
              <a:rPr sz="2400" spc="-45" dirty="0"/>
              <a:t> </a:t>
            </a:r>
            <a:r>
              <a:rPr sz="2400" dirty="0"/>
              <a:t>to</a:t>
            </a:r>
            <a:r>
              <a:rPr sz="2400" spc="-15" dirty="0"/>
              <a:t> </a:t>
            </a:r>
            <a:r>
              <a:rPr sz="2400" dirty="0"/>
              <a:t>that</a:t>
            </a:r>
            <a:r>
              <a:rPr sz="2400" spc="-20" dirty="0"/>
              <a:t> </a:t>
            </a:r>
            <a:r>
              <a:rPr sz="2400" spc="-10" dirty="0"/>
              <a:t>input</a:t>
            </a:r>
            <a:endParaRPr sz="2400"/>
          </a:p>
          <a:p>
            <a:pPr marL="278765" marR="291465" indent="-635">
              <a:lnSpc>
                <a:spcPct val="100000"/>
              </a:lnSpc>
              <a:spcBef>
                <a:spcPts val="575"/>
              </a:spcBef>
            </a:pPr>
            <a:r>
              <a:rPr dirty="0"/>
              <a:t>I</a:t>
            </a:r>
            <a:r>
              <a:rPr sz="2400" baseline="-20833" dirty="0"/>
              <a:t>IL</a:t>
            </a:r>
            <a:r>
              <a:rPr sz="2400" spc="187" baseline="-20833" dirty="0"/>
              <a:t> </a:t>
            </a:r>
            <a:r>
              <a:rPr sz="2400" dirty="0"/>
              <a:t>–</a:t>
            </a:r>
            <a:r>
              <a:rPr sz="2400" spc="-15" dirty="0"/>
              <a:t> </a:t>
            </a:r>
            <a:r>
              <a:rPr sz="2400" dirty="0"/>
              <a:t>Current</a:t>
            </a:r>
            <a:r>
              <a:rPr sz="2400" spc="-30" dirty="0"/>
              <a:t> </a:t>
            </a:r>
            <a:r>
              <a:rPr sz="2400" dirty="0"/>
              <a:t>flowing</a:t>
            </a:r>
            <a:r>
              <a:rPr sz="2400" spc="-20" dirty="0"/>
              <a:t> </a:t>
            </a:r>
            <a:r>
              <a:rPr sz="2400" dirty="0"/>
              <a:t>into</a:t>
            </a:r>
            <a:r>
              <a:rPr sz="2400" spc="-25" dirty="0"/>
              <a:t> </a:t>
            </a:r>
            <a:r>
              <a:rPr sz="2400" dirty="0"/>
              <a:t>an</a:t>
            </a:r>
            <a:r>
              <a:rPr sz="2400" spc="-25" dirty="0"/>
              <a:t> </a:t>
            </a:r>
            <a:r>
              <a:rPr sz="2400" dirty="0"/>
              <a:t>input</a:t>
            </a:r>
            <a:r>
              <a:rPr sz="2400" spc="-25" dirty="0"/>
              <a:t> </a:t>
            </a:r>
            <a:r>
              <a:rPr sz="2400" dirty="0"/>
              <a:t>when</a:t>
            </a:r>
            <a:r>
              <a:rPr sz="2400" spc="-20" dirty="0"/>
              <a:t> </a:t>
            </a:r>
            <a:r>
              <a:rPr sz="2400" dirty="0"/>
              <a:t>a</a:t>
            </a:r>
            <a:r>
              <a:rPr sz="2400" spc="-15" dirty="0"/>
              <a:t> </a:t>
            </a:r>
            <a:r>
              <a:rPr sz="2400" dirty="0"/>
              <a:t>specified</a:t>
            </a:r>
            <a:r>
              <a:rPr sz="2400" spc="-40" dirty="0"/>
              <a:t> </a:t>
            </a:r>
            <a:r>
              <a:rPr sz="2400" dirty="0"/>
              <a:t>LO</a:t>
            </a:r>
            <a:r>
              <a:rPr sz="2400" spc="-15" dirty="0"/>
              <a:t> </a:t>
            </a:r>
            <a:r>
              <a:rPr sz="2400" dirty="0"/>
              <a:t>level</a:t>
            </a:r>
            <a:r>
              <a:rPr sz="2400" spc="-40" dirty="0"/>
              <a:t> </a:t>
            </a:r>
            <a:r>
              <a:rPr sz="2400" spc="-25" dirty="0"/>
              <a:t>is </a:t>
            </a:r>
            <a:r>
              <a:rPr sz="2400" dirty="0"/>
              <a:t>applied</a:t>
            </a:r>
            <a:r>
              <a:rPr sz="2400" spc="-45" dirty="0"/>
              <a:t> </a:t>
            </a:r>
            <a:r>
              <a:rPr sz="2400" dirty="0"/>
              <a:t>to</a:t>
            </a:r>
            <a:r>
              <a:rPr sz="2400" spc="-15" dirty="0"/>
              <a:t> </a:t>
            </a:r>
            <a:r>
              <a:rPr sz="2400" dirty="0"/>
              <a:t>that</a:t>
            </a:r>
            <a:r>
              <a:rPr sz="2400" spc="-20" dirty="0"/>
              <a:t> </a:t>
            </a:r>
            <a:r>
              <a:rPr sz="2400" spc="-10" dirty="0"/>
              <a:t>input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95"/>
              </a:spcBef>
            </a:pPr>
            <a:r>
              <a:rPr dirty="0"/>
              <a:t>Logic</a:t>
            </a:r>
            <a:r>
              <a:rPr spc="-95" dirty="0"/>
              <a:t> </a:t>
            </a:r>
            <a:r>
              <a:rPr dirty="0"/>
              <a:t>families:</a:t>
            </a:r>
            <a:r>
              <a:rPr spc="-70" dirty="0"/>
              <a:t> </a:t>
            </a:r>
            <a:r>
              <a:rPr dirty="0"/>
              <a:t>I</a:t>
            </a:r>
            <a:r>
              <a:rPr spc="-85" dirty="0"/>
              <a:t> </a:t>
            </a:r>
            <a:r>
              <a:rPr spc="-10" dirty="0"/>
              <a:t>requirements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951" y="4414653"/>
            <a:ext cx="7456050" cy="23434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71077" y="5194046"/>
            <a:ext cx="4013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OH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5389" y="5966810"/>
            <a:ext cx="448945" cy="3536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ts val="2380"/>
              </a:lnSpc>
              <a:spcBef>
                <a:spcPts val="400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OH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2540" y="5963635"/>
            <a:ext cx="364490" cy="3536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ts val="2380"/>
              </a:lnSpc>
              <a:spcBef>
                <a:spcPts val="400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IH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5140" y="6009673"/>
            <a:ext cx="429895" cy="3536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ts val="2380"/>
              </a:lnSpc>
              <a:spcBef>
                <a:spcPts val="400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OL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25615" y="6006498"/>
            <a:ext cx="345440" cy="35369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ts val="2380"/>
              </a:lnSpc>
              <a:spcBef>
                <a:spcPts val="400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IL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2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4015740" y="5194046"/>
            <a:ext cx="3168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IH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0977" y="5194046"/>
            <a:ext cx="3822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OL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25640" y="5194046"/>
            <a:ext cx="2978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300" b="1" spc="-25" dirty="0">
                <a:solidFill>
                  <a:srgbClr val="0000FF"/>
                </a:solidFill>
                <a:latin typeface="Arial"/>
                <a:cs typeface="Arial"/>
              </a:rPr>
              <a:t>IL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945" y="1560005"/>
            <a:ext cx="5759291" cy="60109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66224" indent="-256699" defTabSz="685800">
              <a:lnSpc>
                <a:spcPts val="1774"/>
              </a:lnSpc>
              <a:spcBef>
                <a:spcPts val="79"/>
              </a:spcBef>
              <a:buFont typeface="Arial MT"/>
              <a:buChar char="•"/>
              <a:tabLst>
                <a:tab pos="266224" algn="l"/>
              </a:tabLst>
            </a:pPr>
            <a:r>
              <a:rPr sz="1500" dirty="0">
                <a:latin typeface="Calibri"/>
                <a:cs typeface="Calibri"/>
              </a:rPr>
              <a:t>Fan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gate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number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inputs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practically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supported</a:t>
            </a:r>
            <a:endParaRPr sz="1500">
              <a:latin typeface="Calibri"/>
              <a:cs typeface="Calibri"/>
            </a:endParaRPr>
          </a:p>
          <a:p>
            <a:pPr marL="266700" defTabSz="685800">
              <a:lnSpc>
                <a:spcPts val="2853"/>
              </a:lnSpc>
            </a:pPr>
            <a:r>
              <a:rPr sz="1500" dirty="0">
                <a:latin typeface="Calibri"/>
                <a:cs typeface="Calibri"/>
              </a:rPr>
              <a:t>without</a:t>
            </a:r>
            <a:r>
              <a:rPr sz="1500" spc="-5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degrading</a:t>
            </a:r>
            <a:r>
              <a:rPr sz="1500" spc="-6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practically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input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voltage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level</a:t>
            </a:r>
            <a:r>
              <a:rPr sz="2400" spc="-8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6253" y="3368993"/>
            <a:ext cx="531495" cy="1200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3954" y="1613846"/>
            <a:ext cx="1752379" cy="7965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73886" y="2563559"/>
            <a:ext cx="68389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350" dirty="0">
                <a:latin typeface="Calibri"/>
                <a:cs typeface="Calibri"/>
              </a:rPr>
              <a:t>Fan</a:t>
            </a:r>
            <a:r>
              <a:rPr sz="1350" spc="-3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-11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=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38" dirty="0">
                <a:latin typeface="Calibri"/>
                <a:cs typeface="Calibri"/>
              </a:rPr>
              <a:t>4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431083" y="2237422"/>
            <a:ext cx="5877153" cy="105349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Fan</a:t>
            </a:r>
            <a:r>
              <a:rPr spc="-98" dirty="0"/>
              <a:t> </a:t>
            </a:r>
            <a:r>
              <a:rPr spc="-19" dirty="0"/>
              <a:t>Out</a:t>
            </a:r>
          </a:p>
          <a:p>
            <a:pPr marL="217646" indent="-72866">
              <a:spcBef>
                <a:spcPts val="1256"/>
              </a:spcBef>
              <a:buSzPct val="95000"/>
              <a:buFont typeface="Arial MT"/>
              <a:buChar char="•"/>
              <a:tabLst>
                <a:tab pos="217646" algn="l"/>
              </a:tabLst>
            </a:pPr>
            <a:r>
              <a:rPr sz="1500" dirty="0">
                <a:solidFill>
                  <a:srgbClr val="000000"/>
                </a:solidFill>
              </a:rPr>
              <a:t>The</a:t>
            </a:r>
            <a:r>
              <a:rPr sz="1500" spc="-41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maximum</a:t>
            </a:r>
            <a:r>
              <a:rPr sz="1500" spc="-19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number</a:t>
            </a:r>
            <a:r>
              <a:rPr sz="1500" spc="-34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of</a:t>
            </a:r>
            <a:r>
              <a:rPr sz="1500" spc="-30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digital</a:t>
            </a:r>
            <a:r>
              <a:rPr sz="1500" spc="-23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input</a:t>
            </a:r>
            <a:r>
              <a:rPr sz="1500" spc="-23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that</a:t>
            </a:r>
            <a:r>
              <a:rPr sz="1500" spc="-23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the</a:t>
            </a:r>
            <a:r>
              <a:rPr sz="1500" spc="-30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output</a:t>
            </a:r>
            <a:r>
              <a:rPr sz="1500" spc="-38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of</a:t>
            </a:r>
            <a:r>
              <a:rPr sz="1500" spc="-30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a</a:t>
            </a:r>
            <a:r>
              <a:rPr sz="1500" spc="-23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single</a:t>
            </a:r>
            <a:r>
              <a:rPr sz="1500" spc="-23" dirty="0">
                <a:solidFill>
                  <a:srgbClr val="000000"/>
                </a:solidFill>
              </a:rPr>
              <a:t> </a:t>
            </a:r>
            <a:r>
              <a:rPr sz="1500" spc="-8" dirty="0">
                <a:solidFill>
                  <a:srgbClr val="000000"/>
                </a:solidFill>
              </a:rPr>
              <a:t>logic</a:t>
            </a:r>
            <a:endParaRPr sz="1500" dirty="0"/>
          </a:p>
          <a:p>
            <a:pPr marL="151924"/>
            <a:r>
              <a:rPr sz="1500" spc="-8" dirty="0">
                <a:solidFill>
                  <a:srgbClr val="000000"/>
                </a:solidFill>
              </a:rPr>
              <a:t>gate</a:t>
            </a:r>
            <a:r>
              <a:rPr sz="1500" spc="-41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can</a:t>
            </a:r>
            <a:r>
              <a:rPr sz="1500" spc="-38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feed</a:t>
            </a:r>
            <a:r>
              <a:rPr sz="1500" spc="-38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and</a:t>
            </a:r>
            <a:r>
              <a:rPr sz="1500" spc="-34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the</a:t>
            </a:r>
            <a:r>
              <a:rPr sz="1500" spc="-30" dirty="0">
                <a:solidFill>
                  <a:srgbClr val="000000"/>
                </a:solidFill>
              </a:rPr>
              <a:t> </a:t>
            </a:r>
            <a:r>
              <a:rPr sz="1500" spc="-8" dirty="0">
                <a:solidFill>
                  <a:srgbClr val="000000"/>
                </a:solidFill>
              </a:rPr>
              <a:t>gate</a:t>
            </a:r>
            <a:r>
              <a:rPr sz="1500" spc="-34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must</a:t>
            </a:r>
            <a:r>
              <a:rPr sz="1500" spc="-30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be</a:t>
            </a:r>
            <a:r>
              <a:rPr sz="1500" spc="-41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same</a:t>
            </a:r>
            <a:r>
              <a:rPr sz="1500" spc="-23" dirty="0">
                <a:solidFill>
                  <a:srgbClr val="000000"/>
                </a:solidFill>
              </a:rPr>
              <a:t> </a:t>
            </a:r>
            <a:r>
              <a:rPr sz="1500" dirty="0">
                <a:solidFill>
                  <a:srgbClr val="000000"/>
                </a:solidFill>
              </a:rPr>
              <a:t>logic</a:t>
            </a:r>
            <a:r>
              <a:rPr sz="1500" spc="-38" dirty="0">
                <a:solidFill>
                  <a:srgbClr val="000000"/>
                </a:solidFill>
              </a:rPr>
              <a:t> </a:t>
            </a:r>
            <a:r>
              <a:rPr sz="1500" spc="-8" dirty="0">
                <a:solidFill>
                  <a:srgbClr val="000000"/>
                </a:solidFill>
              </a:rPr>
              <a:t>family.</a:t>
            </a:r>
            <a:endParaRPr sz="1500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4344115" cy="615552"/>
          </a:xfrm>
          <a:prstGeom prst="rect">
            <a:avLst/>
          </a:prstGeom>
        </p:spPr>
        <p:txBody>
          <a:bodyPr vert="horz" wrap="square" lIns="0" tIns="198119" rIns="0" bIns="0" rtlCol="0">
            <a:spAutoFit/>
          </a:bodyPr>
          <a:lstStyle/>
          <a:p>
            <a:pPr marL="85725">
              <a:spcBef>
                <a:spcPts val="75"/>
              </a:spcBef>
            </a:pPr>
            <a:r>
              <a:rPr sz="2700" dirty="0"/>
              <a:t>Fan</a:t>
            </a:r>
            <a:r>
              <a:rPr sz="2700" spc="-98" dirty="0"/>
              <a:t> </a:t>
            </a:r>
            <a:r>
              <a:rPr sz="2700" spc="-19" dirty="0"/>
              <a:t>In</a:t>
            </a:r>
            <a:endParaRPr sz="270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01376" y="3479134"/>
            <a:ext cx="1632299" cy="199953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677341" y="5488991"/>
            <a:ext cx="75438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350" spc="-8" dirty="0">
                <a:latin typeface="Calibri"/>
                <a:cs typeface="Calibri"/>
              </a:rPr>
              <a:t>Fanout</a:t>
            </a:r>
            <a:r>
              <a:rPr sz="1350" spc="-3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=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38" dirty="0">
                <a:latin typeface="Calibri"/>
                <a:cs typeface="Calibri"/>
              </a:rPr>
              <a:t>4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117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9</a:t>
            </a:fld>
            <a:endParaRPr spc="-19" dirty="0"/>
          </a:p>
        </p:txBody>
      </p:sp>
      <p:sp>
        <p:nvSpPr>
          <p:cNvPr id="10" name="object 10"/>
          <p:cNvSpPr txBox="1"/>
          <p:nvPr/>
        </p:nvSpPr>
        <p:spPr>
          <a:xfrm>
            <a:off x="725652" y="3477101"/>
            <a:ext cx="5896451" cy="192087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marR="3810" indent="106680" defTabSz="685800">
              <a:spcBef>
                <a:spcPts val="79"/>
              </a:spcBef>
              <a:buFont typeface="Arial MT"/>
              <a:buChar char="•"/>
              <a:tabLst>
                <a:tab pos="116205" algn="l"/>
              </a:tabLst>
            </a:pP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Fan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Out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is</a:t>
            </a:r>
            <a:r>
              <a:rPr sz="1500" spc="-19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373737"/>
                </a:solidFill>
                <a:latin typeface="Calibri"/>
                <a:cs typeface="Calibri"/>
              </a:rPr>
              <a:t>calculated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from</a:t>
            </a:r>
            <a:r>
              <a:rPr sz="1500" spc="-23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the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amount</a:t>
            </a:r>
            <a:r>
              <a:rPr sz="1500" spc="-34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of</a:t>
            </a:r>
            <a:r>
              <a:rPr sz="1500" spc="-30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current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373737"/>
                </a:solidFill>
                <a:latin typeface="Calibri"/>
                <a:cs typeface="Calibri"/>
              </a:rPr>
              <a:t>available</a:t>
            </a:r>
            <a:r>
              <a:rPr sz="1500" spc="-19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in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output</a:t>
            </a:r>
            <a:r>
              <a:rPr sz="1500" spc="-41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spc="-19" dirty="0">
                <a:solidFill>
                  <a:srgbClr val="373737"/>
                </a:solidFill>
                <a:latin typeface="Calibri"/>
                <a:cs typeface="Calibri"/>
              </a:rPr>
              <a:t>of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a</a:t>
            </a:r>
            <a:r>
              <a:rPr sz="1500" spc="-38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gate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and</a:t>
            </a:r>
            <a:r>
              <a:rPr sz="1500" spc="-38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the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amount</a:t>
            </a:r>
            <a:r>
              <a:rPr sz="1500" spc="-38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of</a:t>
            </a:r>
            <a:r>
              <a:rPr sz="1500" spc="-34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current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needed</a:t>
            </a:r>
            <a:r>
              <a:rPr sz="1500" spc="-34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in</a:t>
            </a:r>
            <a:r>
              <a:rPr sz="1500" spc="-30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each</a:t>
            </a:r>
            <a:r>
              <a:rPr sz="1500" spc="-30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input</a:t>
            </a:r>
            <a:r>
              <a:rPr sz="1500" spc="-34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of</a:t>
            </a:r>
            <a:r>
              <a:rPr sz="1500" spc="-34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373737"/>
                </a:solidFill>
                <a:latin typeface="Calibri"/>
                <a:cs typeface="Calibri"/>
              </a:rPr>
              <a:t>connecting gate</a:t>
            </a:r>
            <a:r>
              <a:rPr sz="1350" spc="-8" dirty="0">
                <a:solidFill>
                  <a:srgbClr val="373737"/>
                </a:solidFill>
                <a:latin typeface="Arial MT"/>
                <a:cs typeface="Arial MT"/>
              </a:rPr>
              <a:t>.</a:t>
            </a:r>
            <a:endParaRPr sz="1350" dirty="0">
              <a:latin typeface="Arial MT"/>
              <a:cs typeface="Arial MT"/>
            </a:endParaRPr>
          </a:p>
          <a:p>
            <a:pPr defTabSz="685800">
              <a:spcBef>
                <a:spcPts val="529"/>
              </a:spcBef>
              <a:buClr>
                <a:srgbClr val="373737"/>
              </a:buClr>
              <a:buFont typeface="Arial MT"/>
              <a:buChar char="•"/>
            </a:pPr>
            <a:endParaRPr sz="1500" dirty="0">
              <a:latin typeface="Arial MT"/>
              <a:cs typeface="Arial MT"/>
            </a:endParaRPr>
          </a:p>
          <a:p>
            <a:pPr marL="104299" indent="-76200" defTabSz="685800">
              <a:buFont typeface="Arial MT"/>
              <a:buChar char="•"/>
              <a:tabLst>
                <a:tab pos="104299" algn="l"/>
              </a:tabLst>
            </a:pP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It</a:t>
            </a:r>
            <a:r>
              <a:rPr sz="1500" spc="-41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is</a:t>
            </a:r>
            <a:r>
              <a:rPr sz="1500" spc="-19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specified</a:t>
            </a:r>
            <a:r>
              <a:rPr sz="1500" spc="-19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by</a:t>
            </a:r>
            <a:r>
              <a:rPr sz="1500" spc="-30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373737"/>
                </a:solidFill>
                <a:latin typeface="Calibri"/>
                <a:cs typeface="Calibri"/>
              </a:rPr>
              <a:t>manufacturer</a:t>
            </a:r>
            <a:r>
              <a:rPr sz="1500" spc="-34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and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is</a:t>
            </a:r>
            <a:r>
              <a:rPr sz="1500" spc="-19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provided</a:t>
            </a:r>
            <a:r>
              <a:rPr sz="1500" spc="-23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in</a:t>
            </a:r>
            <a:r>
              <a:rPr sz="1500" spc="-23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the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data</a:t>
            </a:r>
            <a:r>
              <a:rPr sz="1500" spc="-23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373737"/>
                </a:solidFill>
                <a:latin typeface="Calibri"/>
                <a:cs typeface="Calibri"/>
              </a:rPr>
              <a:t>sheet.</a:t>
            </a:r>
            <a:endParaRPr sz="1500" dirty="0">
              <a:latin typeface="Calibri"/>
              <a:cs typeface="Calibri"/>
            </a:endParaRPr>
          </a:p>
          <a:p>
            <a:pPr marL="38576" marR="130969" indent="-10478" defTabSz="685800">
              <a:spcBef>
                <a:spcPts val="1804"/>
              </a:spcBef>
              <a:buFont typeface="Arial MT"/>
              <a:buChar char="•"/>
              <a:tabLst>
                <a:tab pos="104299" algn="l"/>
              </a:tabLst>
            </a:pP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	Exceeding</a:t>
            </a:r>
            <a:r>
              <a:rPr sz="1500" spc="-53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the</a:t>
            </a:r>
            <a:r>
              <a:rPr sz="1500" spc="-38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specified</a:t>
            </a:r>
            <a:r>
              <a:rPr sz="1500" spc="-34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maximum</a:t>
            </a:r>
            <a:r>
              <a:rPr sz="1500" spc="-30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load</a:t>
            </a:r>
            <a:r>
              <a:rPr sz="1500" spc="-38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may</a:t>
            </a:r>
            <a:r>
              <a:rPr sz="1500" spc="-34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cause</a:t>
            </a:r>
            <a:r>
              <a:rPr sz="1500" spc="-41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a</a:t>
            </a:r>
            <a:r>
              <a:rPr sz="1500" spc="-38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malfunction</a:t>
            </a:r>
            <a:r>
              <a:rPr sz="1500" spc="-34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373737"/>
                </a:solidFill>
                <a:latin typeface="Calibri"/>
                <a:cs typeface="Calibri"/>
              </a:rPr>
              <a:t>because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circuit</a:t>
            </a:r>
            <a:r>
              <a:rPr sz="1500" spc="-30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will</a:t>
            </a:r>
            <a:r>
              <a:rPr sz="1500" spc="-15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not</a:t>
            </a:r>
            <a:r>
              <a:rPr sz="1500" spc="-19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be</a:t>
            </a:r>
            <a:r>
              <a:rPr sz="1500" spc="-26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able</a:t>
            </a:r>
            <a:r>
              <a:rPr sz="1500" spc="-11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supply</a:t>
            </a:r>
            <a:r>
              <a:rPr sz="1500" spc="-38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the</a:t>
            </a:r>
            <a:r>
              <a:rPr sz="1500" spc="-23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73737"/>
                </a:solidFill>
                <a:latin typeface="Calibri"/>
                <a:cs typeface="Calibri"/>
              </a:rPr>
              <a:t>demanded</a:t>
            </a:r>
            <a:r>
              <a:rPr sz="1500" spc="-19" dirty="0">
                <a:solidFill>
                  <a:srgbClr val="373737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373737"/>
                </a:solidFill>
                <a:latin typeface="Calibri"/>
                <a:cs typeface="Calibri"/>
              </a:rPr>
              <a:t>power.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7840" y="1163828"/>
            <a:ext cx="832104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Fanout: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maximum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inputs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same </a:t>
            </a:r>
            <a:r>
              <a:rPr sz="2800" dirty="0">
                <a:latin typeface="Times New Roman"/>
                <a:cs typeface="Times New Roman"/>
              </a:rPr>
              <a:t>logic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family)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drive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reliably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06830">
              <a:lnSpc>
                <a:spcPct val="100000"/>
              </a:lnSpc>
              <a:spcBef>
                <a:spcPts val="95"/>
              </a:spcBef>
            </a:pPr>
            <a:r>
              <a:rPr dirty="0"/>
              <a:t>Logic</a:t>
            </a:r>
            <a:r>
              <a:rPr spc="-114" dirty="0"/>
              <a:t> </a:t>
            </a:r>
            <a:r>
              <a:rPr dirty="0"/>
              <a:t>families:</a:t>
            </a:r>
            <a:r>
              <a:rPr spc="-90" dirty="0"/>
              <a:t> </a:t>
            </a:r>
            <a:r>
              <a:rPr spc="-10" dirty="0"/>
              <a:t>fanout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8988" y="2495550"/>
            <a:ext cx="2476500" cy="32099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41472" y="5357114"/>
            <a:ext cx="12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65200" y="5597850"/>
            <a:ext cx="1188085" cy="16510"/>
            <a:chOff x="3265200" y="5597850"/>
            <a:chExt cx="1188085" cy="16510"/>
          </a:xfrm>
        </p:grpSpPr>
        <p:sp>
          <p:nvSpPr>
            <p:cNvPr id="7" name="object 7"/>
            <p:cNvSpPr/>
            <p:nvPr/>
          </p:nvSpPr>
          <p:spPr>
            <a:xfrm>
              <a:off x="3265200" y="5605933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4">
                  <a:moveTo>
                    <a:pt x="0" y="0"/>
                  </a:moveTo>
                  <a:lnTo>
                    <a:pt x="535118" y="0"/>
                  </a:lnTo>
                </a:path>
              </a:pathLst>
            </a:custGeom>
            <a:ln w="161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72285" y="5605933"/>
              <a:ext cx="480695" cy="0"/>
            </a:xfrm>
            <a:custGeom>
              <a:avLst/>
              <a:gdLst/>
              <a:ahLst/>
              <a:cxnLst/>
              <a:rect l="l" t="t" r="r" b="b"/>
              <a:pathLst>
                <a:path w="480695">
                  <a:moveTo>
                    <a:pt x="0" y="0"/>
                  </a:moveTo>
                  <a:lnTo>
                    <a:pt x="480494" y="0"/>
                  </a:lnTo>
                </a:path>
              </a:pathLst>
            </a:custGeom>
            <a:ln w="161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82921" y="5686220"/>
            <a:ext cx="1125220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757555" algn="l"/>
              </a:tabLst>
            </a:pPr>
            <a:r>
              <a:rPr sz="3825" i="1" spc="-15" baseline="14161" dirty="0">
                <a:latin typeface="Times New Roman"/>
                <a:cs typeface="Times New Roman"/>
              </a:rPr>
              <a:t>I</a:t>
            </a:r>
            <a:r>
              <a:rPr sz="3825" i="1" spc="-532" baseline="14161" dirty="0">
                <a:latin typeface="Times New Roman"/>
                <a:cs typeface="Times New Roman"/>
              </a:rPr>
              <a:t> </a:t>
            </a:r>
            <a:r>
              <a:rPr sz="1500" i="1" spc="-25" dirty="0">
                <a:latin typeface="Times New Roman"/>
                <a:cs typeface="Times New Roman"/>
              </a:rPr>
              <a:t>IH</a:t>
            </a:r>
            <a:r>
              <a:rPr sz="1500" i="1" dirty="0">
                <a:latin typeface="Times New Roman"/>
                <a:cs typeface="Times New Roman"/>
              </a:rPr>
              <a:t>	</a:t>
            </a:r>
            <a:r>
              <a:rPr sz="3825" i="1" spc="-15" baseline="14161" dirty="0">
                <a:latin typeface="Times New Roman"/>
                <a:cs typeface="Times New Roman"/>
              </a:rPr>
              <a:t>I</a:t>
            </a:r>
            <a:r>
              <a:rPr sz="3825" i="1" spc="-540" baseline="14161" dirty="0">
                <a:latin typeface="Times New Roman"/>
                <a:cs typeface="Times New Roman"/>
              </a:rPr>
              <a:t> </a:t>
            </a:r>
            <a:r>
              <a:rPr sz="1500" i="1" spc="-25" dirty="0">
                <a:latin typeface="Times New Roman"/>
                <a:cs typeface="Times New Roman"/>
              </a:rPr>
              <a:t>IL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1527" y="5338593"/>
            <a:ext cx="2962275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DC</a:t>
            </a:r>
            <a:r>
              <a:rPr sz="24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fanout</a:t>
            </a:r>
            <a:r>
              <a:rPr sz="2400" b="1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min(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3825" i="1" spc="60" baseline="34858" dirty="0">
                <a:latin typeface="Times New Roman"/>
                <a:cs typeface="Times New Roman"/>
              </a:rPr>
              <a:t>I</a:t>
            </a:r>
            <a:r>
              <a:rPr sz="2250" i="1" spc="60" baseline="35185" dirty="0">
                <a:latin typeface="Times New Roman"/>
                <a:cs typeface="Times New Roman"/>
              </a:rPr>
              <a:t>OH</a:t>
            </a:r>
            <a:endParaRPr sz="2250" baseline="35185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7383" y="5218504"/>
            <a:ext cx="621030" cy="41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825" baseline="-22875" dirty="0">
                <a:latin typeface="Times New Roman"/>
                <a:cs typeface="Times New Roman"/>
              </a:rPr>
              <a:t>,</a:t>
            </a:r>
            <a:r>
              <a:rPr sz="3825" spc="7" baseline="-22875" dirty="0">
                <a:latin typeface="Times New Roman"/>
                <a:cs typeface="Times New Roman"/>
              </a:rPr>
              <a:t> </a:t>
            </a:r>
            <a:r>
              <a:rPr sz="3825" i="1" spc="60" baseline="14161" dirty="0">
                <a:latin typeface="Times New Roman"/>
                <a:cs typeface="Times New Roman"/>
              </a:rPr>
              <a:t>I</a:t>
            </a:r>
            <a:r>
              <a:rPr sz="1500" i="1" spc="40" dirty="0">
                <a:latin typeface="Times New Roman"/>
                <a:cs typeface="Times New Roman"/>
              </a:rPr>
              <a:t>OL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3331" y="1784577"/>
            <a:ext cx="6138482" cy="36128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994981"/>
            <a:ext cx="6553200" cy="592469"/>
          </a:xfrm>
          <a:prstGeom prst="rect">
            <a:avLst/>
          </a:prstGeom>
        </p:spPr>
        <p:txBody>
          <a:bodyPr vert="horz" wrap="square" lIns="0" tIns="220979" rIns="0" bIns="0" rtlCol="0">
            <a:spAutoFit/>
          </a:bodyPr>
          <a:lstStyle/>
          <a:p>
            <a:pPr marL="2967514">
              <a:spcBef>
                <a:spcPts val="75"/>
              </a:spcBef>
            </a:pPr>
            <a:r>
              <a:rPr b="1" spc="-8" dirty="0"/>
              <a:t>Propagation</a:t>
            </a:r>
            <a:r>
              <a:rPr b="1" spc="-75" dirty="0"/>
              <a:t> </a:t>
            </a:r>
            <a:r>
              <a:rPr b="1" spc="-8" dirty="0"/>
              <a:t>Delay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117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11</a:t>
            </a:fld>
            <a:endParaRPr spc="-1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5850750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942272">
              <a:spcBef>
                <a:spcPts val="75"/>
              </a:spcBef>
            </a:pPr>
            <a:r>
              <a:rPr sz="2700" dirty="0"/>
              <a:t>Noise</a:t>
            </a:r>
            <a:r>
              <a:rPr sz="2700" spc="-79" dirty="0"/>
              <a:t> </a:t>
            </a:r>
            <a:r>
              <a:rPr sz="2700" spc="-8" dirty="0"/>
              <a:t>Margin</a:t>
            </a:r>
            <a:endParaRPr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633983" y="1887378"/>
            <a:ext cx="4583430" cy="334386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indent="-6191" algn="just" defTabSz="685800">
              <a:spcBef>
                <a:spcPts val="75"/>
              </a:spcBef>
              <a:buSzPct val="95833"/>
              <a:buFont typeface="Arial MT"/>
              <a:buChar char="•"/>
              <a:tabLst>
                <a:tab pos="89059" algn="l"/>
              </a:tabLst>
            </a:pPr>
            <a:r>
              <a:rPr dirty="0">
                <a:latin typeface="Calibri"/>
                <a:cs typeface="Calibri"/>
              </a:rPr>
              <a:t>	Noise</a:t>
            </a:r>
            <a:r>
              <a:rPr spc="29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29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present</a:t>
            </a:r>
            <a:r>
              <a:rPr spc="3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29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29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real</a:t>
            </a:r>
            <a:r>
              <a:rPr spc="3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systems.</a:t>
            </a:r>
            <a:r>
              <a:rPr spc="28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29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adds </a:t>
            </a:r>
            <a:r>
              <a:rPr dirty="0">
                <a:latin typeface="Calibri"/>
                <a:cs typeface="Calibri"/>
              </a:rPr>
              <a:t>random</a:t>
            </a:r>
            <a:r>
              <a:rPr spc="14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fluctuations</a:t>
            </a:r>
            <a:r>
              <a:rPr spc="14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14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voltages</a:t>
            </a:r>
            <a:r>
              <a:rPr spc="146" dirty="0">
                <a:latin typeface="Calibri"/>
                <a:cs typeface="Calibri"/>
              </a:rPr>
              <a:t>  </a:t>
            </a:r>
            <a:r>
              <a:rPr spc="-8" dirty="0">
                <a:latin typeface="Calibri"/>
                <a:cs typeface="Calibri"/>
              </a:rPr>
              <a:t>representing </a:t>
            </a:r>
            <a:r>
              <a:rPr dirty="0">
                <a:latin typeface="Calibri"/>
                <a:cs typeface="Calibri"/>
              </a:rPr>
              <a:t>logic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levels.</a:t>
            </a:r>
            <a:endParaRPr>
              <a:latin typeface="Calibri"/>
              <a:cs typeface="Calibri"/>
            </a:endParaRPr>
          </a:p>
          <a:p>
            <a:pPr marL="9525" marR="3810" indent="-6191" algn="just" defTabSz="685800">
              <a:spcBef>
                <a:spcPts val="2164"/>
              </a:spcBef>
              <a:buSzPct val="95833"/>
              <a:buFont typeface="Arial MT"/>
              <a:buChar char="•"/>
              <a:tabLst>
                <a:tab pos="89059" algn="l"/>
              </a:tabLst>
            </a:pPr>
            <a:r>
              <a:rPr dirty="0">
                <a:latin typeface="Calibri"/>
                <a:cs typeface="Calibri"/>
              </a:rPr>
              <a:t>	Hence,</a:t>
            </a:r>
            <a:r>
              <a:rPr spc="56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56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voltage</a:t>
            </a:r>
            <a:r>
              <a:rPr spc="6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ranges</a:t>
            </a:r>
            <a:r>
              <a:rPr spc="5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defining</a:t>
            </a:r>
            <a:r>
              <a:rPr spc="56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56" dirty="0">
                <a:latin typeface="Calibri"/>
                <a:cs typeface="Calibri"/>
              </a:rPr>
              <a:t>  </a:t>
            </a:r>
            <a:r>
              <a:rPr spc="-8" dirty="0">
                <a:latin typeface="Calibri"/>
                <a:cs typeface="Calibri"/>
              </a:rPr>
              <a:t>logic </a:t>
            </a:r>
            <a:r>
              <a:rPr dirty="0">
                <a:latin typeface="Calibri"/>
                <a:cs typeface="Calibri"/>
              </a:rPr>
              <a:t>levels</a:t>
            </a:r>
            <a:r>
              <a:rPr spc="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more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tightly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constrained</a:t>
            </a:r>
            <a:r>
              <a:rPr spc="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at</a:t>
            </a:r>
            <a:r>
              <a:rPr spc="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output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gate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at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input.</a:t>
            </a:r>
            <a:endParaRPr>
              <a:latin typeface="Calibri"/>
              <a:cs typeface="Calibri"/>
            </a:endParaRPr>
          </a:p>
          <a:p>
            <a:pPr marL="9525" marR="4763" indent="130493" algn="just" defTabSz="685800">
              <a:spcBef>
                <a:spcPts val="2160"/>
              </a:spcBef>
              <a:buSzPct val="95833"/>
              <a:buFont typeface="Arial MT"/>
              <a:buChar char="•"/>
              <a:tabLst>
                <a:tab pos="140018" algn="l"/>
              </a:tabLst>
            </a:pPr>
            <a:r>
              <a:rPr dirty="0">
                <a:latin typeface="Calibri"/>
                <a:cs typeface="Calibri"/>
              </a:rPr>
              <a:t>Small</a:t>
            </a:r>
            <a:r>
              <a:rPr spc="10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amounts</a:t>
            </a:r>
            <a:r>
              <a:rPr spc="11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109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noise</a:t>
            </a:r>
            <a:r>
              <a:rPr spc="11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will</a:t>
            </a:r>
            <a:r>
              <a:rPr spc="11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10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affect</a:t>
            </a:r>
            <a:r>
              <a:rPr spc="113" dirty="0">
                <a:latin typeface="Calibri"/>
                <a:cs typeface="Calibri"/>
              </a:rPr>
              <a:t>  </a:t>
            </a:r>
            <a:r>
              <a:rPr spc="-19" dirty="0">
                <a:latin typeface="Calibri"/>
                <a:cs typeface="Calibri"/>
              </a:rPr>
              <a:t>the </a:t>
            </a:r>
            <a:r>
              <a:rPr dirty="0">
                <a:latin typeface="Calibri"/>
                <a:cs typeface="Calibri"/>
              </a:rPr>
              <a:t>circuit.</a:t>
            </a:r>
            <a:r>
              <a:rPr spc="1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17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maximum</a:t>
            </a:r>
            <a:r>
              <a:rPr spc="16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noise</a:t>
            </a:r>
            <a:r>
              <a:rPr spc="17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voltage</a:t>
            </a:r>
            <a:r>
              <a:rPr spc="1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172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172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be </a:t>
            </a:r>
            <a:r>
              <a:rPr dirty="0">
                <a:latin typeface="Calibri"/>
                <a:cs typeface="Calibri"/>
              </a:rPr>
              <a:t>tolerated</a:t>
            </a:r>
            <a:r>
              <a:rPr spc="274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278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a</a:t>
            </a:r>
            <a:r>
              <a:rPr spc="274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circuit</a:t>
            </a:r>
            <a:r>
              <a:rPr spc="27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274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termed</a:t>
            </a:r>
            <a:r>
              <a:rPr spc="274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its</a:t>
            </a:r>
            <a:r>
              <a:rPr spc="274" dirty="0">
                <a:latin typeface="Calibri"/>
                <a:cs typeface="Calibri"/>
              </a:rPr>
              <a:t>  </a:t>
            </a:r>
            <a:r>
              <a:rPr b="1" spc="-8" dirty="0">
                <a:latin typeface="Calibri"/>
                <a:cs typeface="Calibri"/>
              </a:rPr>
              <a:t>noise </a:t>
            </a:r>
            <a:r>
              <a:rPr b="1" dirty="0">
                <a:latin typeface="Calibri"/>
                <a:cs typeface="Calibri"/>
              </a:rPr>
              <a:t>immunity</a:t>
            </a:r>
            <a:r>
              <a:rPr b="1" spc="-56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(noise</a:t>
            </a:r>
            <a:r>
              <a:rPr b="1" spc="-34" dirty="0">
                <a:latin typeface="Calibri"/>
                <a:cs typeface="Calibri"/>
              </a:rPr>
              <a:t> </a:t>
            </a:r>
            <a:r>
              <a:rPr b="1" spc="-8" dirty="0">
                <a:latin typeface="Calibri"/>
                <a:cs typeface="Calibri"/>
              </a:rPr>
              <a:t>Margin).</a:t>
            </a:r>
            <a:endParaRPr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8068" y="1522118"/>
            <a:ext cx="2326607" cy="36980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117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12</a:t>
            </a:fld>
            <a:endParaRPr spc="-1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0230">
              <a:lnSpc>
                <a:spcPct val="100000"/>
              </a:lnSpc>
              <a:spcBef>
                <a:spcPts val="95"/>
              </a:spcBef>
            </a:pPr>
            <a:r>
              <a:rPr dirty="0"/>
              <a:t>Logic</a:t>
            </a:r>
            <a:r>
              <a:rPr spc="-125" dirty="0"/>
              <a:t> </a:t>
            </a:r>
            <a:r>
              <a:rPr dirty="0"/>
              <a:t>families:</a:t>
            </a:r>
            <a:r>
              <a:rPr spc="-105" dirty="0"/>
              <a:t> </a:t>
            </a:r>
            <a:r>
              <a:rPr dirty="0"/>
              <a:t>noise</a:t>
            </a:r>
            <a:r>
              <a:rPr spc="-114" dirty="0"/>
              <a:t> </a:t>
            </a:r>
            <a:r>
              <a:rPr spc="-10" dirty="0"/>
              <a:t>margin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362075"/>
            <a:ext cx="3095625" cy="4876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75814" y="4057078"/>
            <a:ext cx="4089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050" b="1" spc="-25" dirty="0">
                <a:solidFill>
                  <a:srgbClr val="0000FF"/>
                </a:solidFill>
                <a:latin typeface="Arial"/>
                <a:cs typeface="Arial"/>
              </a:rPr>
              <a:t>NH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110739" y="4922266"/>
            <a:ext cx="3937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37" baseline="13888" dirty="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sz="1050" b="1" spc="-25" dirty="0">
                <a:solidFill>
                  <a:srgbClr val="0000FF"/>
                </a:solidFill>
                <a:latin typeface="Arial"/>
                <a:cs typeface="Arial"/>
              </a:rPr>
              <a:t>NL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9165" y="1282827"/>
            <a:ext cx="356044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HI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margin: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V</a:t>
            </a:r>
            <a:r>
              <a:rPr sz="2400" baseline="-20833" dirty="0">
                <a:latin typeface="Times New Roman"/>
                <a:cs typeface="Times New Roman"/>
              </a:rPr>
              <a:t>NH</a:t>
            </a:r>
            <a:r>
              <a:rPr sz="2400" spc="240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</a:t>
            </a:r>
            <a:r>
              <a:rPr sz="2400" baseline="-20833" dirty="0">
                <a:latin typeface="Times New Roman"/>
                <a:cs typeface="Times New Roman"/>
              </a:rPr>
              <a:t>OH</a:t>
            </a:r>
            <a:r>
              <a:rPr sz="2400" dirty="0">
                <a:latin typeface="Times New Roman"/>
                <a:cs typeface="Times New Roman"/>
              </a:rPr>
              <a:t>(min)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</a:t>
            </a:r>
            <a:r>
              <a:rPr sz="2400" spc="-15" baseline="-20833" dirty="0">
                <a:latin typeface="Times New Roman"/>
                <a:cs typeface="Times New Roman"/>
              </a:rPr>
              <a:t>IH</a:t>
            </a:r>
            <a:r>
              <a:rPr sz="2400" spc="-10" dirty="0">
                <a:latin typeface="Times New Roman"/>
                <a:cs typeface="Times New Roman"/>
              </a:rPr>
              <a:t>(min)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LO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margin:</a:t>
            </a:r>
            <a:endParaRPr sz="24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V</a:t>
            </a:r>
            <a:r>
              <a:rPr sz="2400" baseline="-20833" dirty="0">
                <a:latin typeface="Times New Roman"/>
                <a:cs typeface="Times New Roman"/>
              </a:rPr>
              <a:t>NL</a:t>
            </a:r>
            <a:r>
              <a:rPr sz="2400" spc="150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</a:t>
            </a:r>
            <a:r>
              <a:rPr sz="2400" baseline="-20833" dirty="0">
                <a:latin typeface="Times New Roman"/>
                <a:cs typeface="Times New Roman"/>
              </a:rPr>
              <a:t>IL</a:t>
            </a:r>
            <a:r>
              <a:rPr sz="2400" dirty="0">
                <a:latin typeface="Times New Roman"/>
                <a:cs typeface="Times New Roman"/>
              </a:rPr>
              <a:t>(max)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</a:t>
            </a:r>
            <a:r>
              <a:rPr sz="2400" spc="-15" baseline="-20833" dirty="0">
                <a:latin typeface="Times New Roman"/>
                <a:cs typeface="Times New Roman"/>
              </a:rPr>
              <a:t>OL</a:t>
            </a:r>
            <a:r>
              <a:rPr sz="2400" spc="-10" dirty="0">
                <a:latin typeface="Times New Roman"/>
                <a:cs typeface="Times New Roman"/>
              </a:rPr>
              <a:t>(max)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1865" y="4208907"/>
            <a:ext cx="25247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margin: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V</a:t>
            </a:r>
            <a:r>
              <a:rPr sz="2400" baseline="-20833" dirty="0">
                <a:latin typeface="Times New Roman"/>
                <a:cs typeface="Times New Roman"/>
              </a:rPr>
              <a:t>N</a:t>
            </a:r>
            <a:r>
              <a:rPr sz="2400" spc="262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min(V</a:t>
            </a:r>
            <a:r>
              <a:rPr sz="2400" spc="-15" baseline="-20833" dirty="0">
                <a:latin typeface="Times New Roman"/>
                <a:cs typeface="Times New Roman"/>
              </a:rPr>
              <a:t>NH</a:t>
            </a:r>
            <a:r>
              <a:rPr sz="2400" spc="-10" dirty="0">
                <a:latin typeface="Times New Roman"/>
                <a:cs typeface="Times New Roman"/>
              </a:rPr>
              <a:t>,V</a:t>
            </a:r>
            <a:r>
              <a:rPr sz="2400" spc="-15" baseline="-20833" dirty="0">
                <a:latin typeface="Times New Roman"/>
                <a:cs typeface="Times New Roman"/>
              </a:rPr>
              <a:t>NL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066" y="1622453"/>
            <a:ext cx="3411869" cy="35226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2317" y="2371229"/>
            <a:ext cx="3559588" cy="28757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117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14</a:t>
            </a:fld>
            <a:endParaRPr spc="-1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7450950" cy="558326"/>
          </a:xfrm>
          <a:prstGeom prst="rect">
            <a:avLst/>
          </a:prstGeom>
        </p:spPr>
        <p:txBody>
          <a:bodyPr vert="horz" wrap="square" lIns="0" tIns="141446" rIns="0" bIns="0" rtlCol="0">
            <a:spAutoFit/>
          </a:bodyPr>
          <a:lstStyle/>
          <a:p>
            <a:pPr marL="2640330">
              <a:spcBef>
                <a:spcPts val="75"/>
              </a:spcBef>
            </a:pPr>
            <a:r>
              <a:rPr sz="2700" b="1" spc="-26" dirty="0"/>
              <a:t>Transistor</a:t>
            </a:r>
            <a:r>
              <a:rPr sz="2700" b="1" spc="-49" dirty="0"/>
              <a:t> </a:t>
            </a:r>
            <a:r>
              <a:rPr sz="2700" b="1" dirty="0"/>
              <a:t>as</a:t>
            </a:r>
            <a:r>
              <a:rPr sz="2700" b="1" spc="-23" dirty="0"/>
              <a:t> </a:t>
            </a:r>
            <a:r>
              <a:rPr sz="2700" b="1" dirty="0"/>
              <a:t>a</a:t>
            </a:r>
            <a:r>
              <a:rPr sz="2700" b="1" spc="-23" dirty="0"/>
              <a:t> </a:t>
            </a:r>
            <a:r>
              <a:rPr sz="2700" b="1" spc="-8" dirty="0"/>
              <a:t>switch</a:t>
            </a:r>
            <a:endParaRPr sz="2700" dirty="0"/>
          </a:p>
        </p:txBody>
      </p:sp>
      <p:sp>
        <p:nvSpPr>
          <p:cNvPr id="3" name="object 3"/>
          <p:cNvSpPr txBox="1"/>
          <p:nvPr/>
        </p:nvSpPr>
        <p:spPr>
          <a:xfrm>
            <a:off x="627354" y="1935385"/>
            <a:ext cx="4074795" cy="3545554"/>
          </a:xfrm>
          <a:prstGeom prst="rect">
            <a:avLst/>
          </a:prstGeom>
        </p:spPr>
        <p:txBody>
          <a:bodyPr vert="horz" wrap="square" lIns="0" tIns="8096" rIns="0" bIns="0" rtlCol="0">
            <a:spAutoFit/>
          </a:bodyPr>
          <a:lstStyle/>
          <a:p>
            <a:pPr marL="266700" marR="3810" indent="-257175" defTabSz="685800">
              <a:lnSpc>
                <a:spcPct val="100400"/>
              </a:lnSpc>
              <a:spcBef>
                <a:spcPts val="64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>
                <a:latin typeface="Calibri"/>
                <a:cs typeface="Calibri"/>
              </a:rPr>
              <a:t>A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circuit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turn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on/off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current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in </a:t>
            </a:r>
            <a:r>
              <a:rPr dirty="0">
                <a:latin typeface="Calibri"/>
                <a:cs typeface="Calibri"/>
              </a:rPr>
              <a:t>electrical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circuit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referred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switching </a:t>
            </a:r>
            <a:r>
              <a:rPr dirty="0">
                <a:latin typeface="Calibri"/>
                <a:cs typeface="Calibri"/>
              </a:rPr>
              <a:t>circuit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transistor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employed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as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electronic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switch</a:t>
            </a:r>
            <a:r>
              <a:rPr sz="2100" spc="-8" dirty="0">
                <a:latin typeface="Arial MT"/>
                <a:cs typeface="Arial MT"/>
              </a:rPr>
              <a:t>.</a:t>
            </a:r>
            <a:endParaRPr sz="2100">
              <a:latin typeface="Arial MT"/>
              <a:cs typeface="Arial MT"/>
            </a:endParaRPr>
          </a:p>
          <a:p>
            <a:pPr defTabSz="685800">
              <a:spcBef>
                <a:spcPts val="1361"/>
              </a:spcBef>
              <a:buFont typeface="Arial MT"/>
              <a:buChar char="•"/>
            </a:pPr>
            <a:endParaRPr>
              <a:latin typeface="Arial MT"/>
              <a:cs typeface="Arial MT"/>
            </a:endParaRPr>
          </a:p>
          <a:p>
            <a:pPr marL="266224" indent="-256699" defTabSz="685800">
              <a:spcBef>
                <a:spcPts val="4"/>
              </a:spcBef>
              <a:buFont typeface="Arial MT"/>
              <a:buChar char="•"/>
              <a:tabLst>
                <a:tab pos="266224" algn="l"/>
              </a:tabLst>
            </a:pPr>
            <a:r>
              <a:rPr dirty="0">
                <a:latin typeface="Calibri"/>
                <a:cs typeface="Calibri"/>
              </a:rPr>
              <a:t>Cut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off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OFF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State</a:t>
            </a:r>
            <a:endParaRPr>
              <a:latin typeface="Calibri"/>
              <a:cs typeface="Calibri"/>
            </a:endParaRPr>
          </a:p>
          <a:p>
            <a:pPr marL="264319" marR="659130" defTabSz="685800">
              <a:lnSpc>
                <a:spcPct val="120000"/>
              </a:lnSpc>
            </a:pPr>
            <a:r>
              <a:rPr dirty="0">
                <a:latin typeface="Calibri"/>
                <a:cs typeface="Calibri"/>
              </a:rPr>
              <a:t>Both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junctions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reverse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biased, </a:t>
            </a:r>
            <a:r>
              <a:rPr dirty="0">
                <a:latin typeface="Calibri"/>
                <a:cs typeface="Calibri"/>
              </a:rPr>
              <a:t>Ic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V(BE)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&lt;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0.7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v</a:t>
            </a:r>
            <a:endParaRPr>
              <a:latin typeface="Calibri"/>
              <a:cs typeface="Calibri"/>
            </a:endParaRPr>
          </a:p>
          <a:p>
            <a:pPr defTabSz="685800">
              <a:spcBef>
                <a:spcPts val="829"/>
              </a:spcBef>
            </a:pPr>
            <a:endParaRPr>
              <a:latin typeface="Calibri"/>
              <a:cs typeface="Calibri"/>
            </a:endParaRPr>
          </a:p>
          <a:p>
            <a:pPr marL="266224" indent="-256699" defTabSz="685800">
              <a:buFont typeface="Arial MT"/>
              <a:buChar char="•"/>
              <a:tabLst>
                <a:tab pos="266224" algn="l"/>
              </a:tabLst>
            </a:pPr>
            <a:r>
              <a:rPr spc="-8" dirty="0">
                <a:latin typeface="Calibri"/>
                <a:cs typeface="Calibri"/>
              </a:rPr>
              <a:t>Saturation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State</a:t>
            </a:r>
            <a:endParaRPr>
              <a:latin typeface="Calibri"/>
              <a:cs typeface="Calibri"/>
            </a:endParaRPr>
          </a:p>
          <a:p>
            <a:pPr marL="264319" defTabSz="685800">
              <a:spcBef>
                <a:spcPts val="431"/>
              </a:spcBef>
            </a:pPr>
            <a:r>
              <a:rPr dirty="0">
                <a:latin typeface="Calibri"/>
                <a:cs typeface="Calibri"/>
              </a:rPr>
              <a:t>Ic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maximum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V(BE)&gt;0.7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v</a:t>
            </a:r>
            <a:endParaRPr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9511" y="2257036"/>
            <a:ext cx="3446430" cy="30334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15</a:t>
            </a:fld>
            <a:endParaRPr spc="-1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16</a:t>
            </a:fld>
            <a:endParaRPr spc="-19" dirty="0"/>
          </a:p>
        </p:txBody>
      </p:sp>
      <p:sp>
        <p:nvSpPr>
          <p:cNvPr id="2" name="object 2"/>
          <p:cNvSpPr txBox="1"/>
          <p:nvPr/>
        </p:nvSpPr>
        <p:spPr>
          <a:xfrm>
            <a:off x="553288" y="1650302"/>
            <a:ext cx="7729061" cy="37285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224" indent="-256699" defTabSz="685800">
              <a:spcBef>
                <a:spcPts val="75"/>
              </a:spcBef>
              <a:buFont typeface="Wingdings"/>
              <a:buChar char=""/>
              <a:tabLst>
                <a:tab pos="266224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basic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RTL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device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NOR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gate.</a:t>
            </a:r>
            <a:endParaRPr dirty="0">
              <a:latin typeface="Calibri"/>
              <a:cs typeface="Calibri"/>
            </a:endParaRPr>
          </a:p>
          <a:p>
            <a:pPr defTabSz="685800">
              <a:spcBef>
                <a:spcPts val="829"/>
              </a:spcBef>
              <a:buFont typeface="Wingdings"/>
              <a:buChar char=""/>
            </a:pPr>
            <a:endParaRPr dirty="0">
              <a:latin typeface="Calibri"/>
              <a:cs typeface="Calibri"/>
            </a:endParaRPr>
          </a:p>
          <a:p>
            <a:pPr marL="266224" indent="-256699" defTabSz="685800">
              <a:buFont typeface="Wingdings"/>
              <a:buChar char=""/>
              <a:tabLst>
                <a:tab pos="266224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inputs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represent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either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logic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level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(1)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LOW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(0).</a:t>
            </a:r>
            <a:endParaRPr dirty="0">
              <a:latin typeface="Calibri"/>
              <a:cs typeface="Calibri"/>
            </a:endParaRPr>
          </a:p>
          <a:p>
            <a:pPr defTabSz="685800">
              <a:spcBef>
                <a:spcPts val="825"/>
              </a:spcBef>
              <a:buFont typeface="Wingdings"/>
              <a:buChar char=""/>
            </a:pPr>
            <a:endParaRPr dirty="0">
              <a:latin typeface="Calibri"/>
              <a:cs typeface="Calibri"/>
            </a:endParaRPr>
          </a:p>
          <a:p>
            <a:pPr marL="266224" marR="110490" indent="-257175" defTabSz="685800">
              <a:spcBef>
                <a:spcPts val="4"/>
              </a:spcBef>
              <a:buFont typeface="Wingdings"/>
              <a:buChar char=""/>
              <a:tabLst>
                <a:tab pos="266224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logic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level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LOW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voltage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drives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corresponding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transistor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cut-</a:t>
            </a:r>
            <a:r>
              <a:rPr spc="-19" dirty="0">
                <a:latin typeface="Calibri"/>
                <a:cs typeface="Calibri"/>
              </a:rPr>
              <a:t>off </a:t>
            </a:r>
            <a:r>
              <a:rPr dirty="0">
                <a:latin typeface="Calibri"/>
                <a:cs typeface="Calibri"/>
              </a:rPr>
              <a:t>region,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while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logic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level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drives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saturation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region.</a:t>
            </a:r>
            <a:endParaRPr dirty="0">
              <a:latin typeface="Calibri"/>
              <a:cs typeface="Calibri"/>
            </a:endParaRPr>
          </a:p>
          <a:p>
            <a:pPr defTabSz="685800">
              <a:spcBef>
                <a:spcPts val="825"/>
              </a:spcBef>
              <a:buFont typeface="Wingdings"/>
              <a:buChar char=""/>
            </a:pPr>
            <a:endParaRPr dirty="0">
              <a:latin typeface="Calibri"/>
              <a:cs typeface="Calibri"/>
            </a:endParaRPr>
          </a:p>
          <a:p>
            <a:pPr marL="266224" marR="220504" indent="-257175" defTabSz="685800">
              <a:buFont typeface="Wingdings"/>
              <a:buChar char=""/>
              <a:tabLst>
                <a:tab pos="266224" algn="l"/>
              </a:tabLst>
            </a:pPr>
            <a:r>
              <a:rPr dirty="0">
                <a:latin typeface="Calibri"/>
                <a:cs typeface="Calibri"/>
              </a:rPr>
              <a:t>If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both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60" dirty="0">
                <a:latin typeface="Calibri"/>
                <a:cs typeface="Calibri"/>
              </a:rPr>
              <a:t>LOW,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then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both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transistors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cut-</a:t>
            </a:r>
            <a:r>
              <a:rPr dirty="0">
                <a:latin typeface="Calibri"/>
                <a:cs typeface="Calibri"/>
              </a:rPr>
              <a:t>off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i.e.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they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are </a:t>
            </a:r>
            <a:r>
              <a:rPr spc="-15" dirty="0">
                <a:latin typeface="Calibri"/>
                <a:cs typeface="Calibri"/>
              </a:rPr>
              <a:t>turned-</a:t>
            </a:r>
            <a:r>
              <a:rPr spc="-30" dirty="0">
                <a:latin typeface="Calibri"/>
                <a:cs typeface="Calibri"/>
              </a:rPr>
              <a:t>off.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Thus,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voltage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Vcc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appears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at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output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I.e.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HIGH.</a:t>
            </a:r>
            <a:endParaRPr dirty="0">
              <a:latin typeface="Calibri"/>
              <a:cs typeface="Calibri"/>
            </a:endParaRPr>
          </a:p>
          <a:p>
            <a:pPr defTabSz="685800">
              <a:spcBef>
                <a:spcPts val="248"/>
              </a:spcBef>
              <a:buFont typeface="Wingdings"/>
              <a:buChar char=""/>
            </a:pPr>
            <a:endParaRPr dirty="0">
              <a:latin typeface="Calibri"/>
              <a:cs typeface="Calibri"/>
            </a:endParaRPr>
          </a:p>
          <a:p>
            <a:pPr marL="266224" marR="3810" indent="-257175" defTabSz="685800">
              <a:lnSpc>
                <a:spcPts val="2438"/>
              </a:lnSpc>
              <a:buFont typeface="Wingdings"/>
              <a:buChar char=""/>
              <a:tabLst>
                <a:tab pos="266224" algn="l"/>
              </a:tabLst>
            </a:pPr>
            <a:r>
              <a:rPr dirty="0">
                <a:latin typeface="Calibri"/>
                <a:cs typeface="Calibri"/>
              </a:rPr>
              <a:t>If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either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transistor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both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applied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input,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voltage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Vcc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drops </a:t>
            </a:r>
            <a:r>
              <a:rPr dirty="0">
                <a:latin typeface="Calibri"/>
                <a:cs typeface="Calibri"/>
              </a:rPr>
              <a:t>across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Rc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output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LOW</a:t>
            </a:r>
            <a:r>
              <a:rPr sz="2100" spc="-15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7146150" cy="514717"/>
          </a:xfrm>
          <a:prstGeom prst="rect">
            <a:avLst/>
          </a:prstGeom>
        </p:spPr>
        <p:txBody>
          <a:bodyPr vert="horz" wrap="square" lIns="0" tIns="143979" rIns="0" bIns="0" rtlCol="0">
            <a:spAutoFit/>
          </a:bodyPr>
          <a:lstStyle/>
          <a:p>
            <a:pPr marL="2065020">
              <a:spcBef>
                <a:spcPts val="79"/>
              </a:spcBef>
            </a:pPr>
            <a:r>
              <a:rPr spc="-8" dirty="0"/>
              <a:t>Resistor</a:t>
            </a:r>
            <a:r>
              <a:rPr spc="-98" dirty="0"/>
              <a:t> </a:t>
            </a:r>
            <a:r>
              <a:rPr spc="-23" dirty="0"/>
              <a:t>Transistor</a:t>
            </a:r>
            <a:r>
              <a:rPr spc="-79" dirty="0"/>
              <a:t> </a:t>
            </a:r>
            <a:r>
              <a:rPr spc="-8" dirty="0"/>
              <a:t>Logic(RTL)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4344115" cy="548804"/>
          </a:xfrm>
          <a:prstGeom prst="rect">
            <a:avLst/>
          </a:prstGeom>
        </p:spPr>
        <p:txBody>
          <a:bodyPr vert="horz" wrap="square" lIns="0" tIns="269176" rIns="0" bIns="0" rtlCol="0">
            <a:spAutoFit/>
          </a:bodyPr>
          <a:lstStyle/>
          <a:p>
            <a:pPr marL="55245">
              <a:spcBef>
                <a:spcPts val="75"/>
              </a:spcBef>
            </a:pPr>
            <a:r>
              <a:rPr sz="1800" b="1" dirty="0">
                <a:solidFill>
                  <a:srgbClr val="202429"/>
                </a:solidFill>
                <a:latin typeface="Arial"/>
                <a:cs typeface="Arial"/>
              </a:rPr>
              <a:t>Advantages</a:t>
            </a:r>
            <a:r>
              <a:rPr sz="1800" b="1" spc="-26" dirty="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429"/>
                </a:solidFill>
                <a:latin typeface="Arial"/>
                <a:cs typeface="Arial"/>
              </a:rPr>
              <a:t>of</a:t>
            </a:r>
            <a:r>
              <a:rPr sz="1800" b="1" spc="-41" dirty="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429"/>
                </a:solidFill>
                <a:latin typeface="Arial"/>
                <a:cs typeface="Arial"/>
              </a:rPr>
              <a:t>RTL</a:t>
            </a:r>
            <a:r>
              <a:rPr sz="1800" b="1" spc="-75" dirty="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02429"/>
                </a:solidFill>
                <a:latin typeface="Arial"/>
                <a:cs typeface="Arial"/>
              </a:rPr>
              <a:t>Logic</a:t>
            </a:r>
            <a:r>
              <a:rPr sz="1800" b="1" spc="-30" dirty="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202429"/>
                </a:solidFill>
                <a:latin typeface="Arial"/>
                <a:cs typeface="Arial"/>
              </a:rPr>
              <a:t>circuit</a:t>
            </a:r>
            <a:r>
              <a:rPr sz="1350" spc="-8" dirty="0">
                <a:solidFill>
                  <a:srgbClr val="202429"/>
                </a:solidFill>
                <a:latin typeface="Arial MT"/>
                <a:cs typeface="Arial MT"/>
              </a:rPr>
              <a:t>: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6148" y="1611496"/>
            <a:ext cx="4987290" cy="33259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algn="just" defTabSz="685800">
              <a:spcBef>
                <a:spcPts val="75"/>
              </a:spcBef>
            </a:pP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The</a:t>
            </a:r>
            <a:r>
              <a:rPr spc="68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primary</a:t>
            </a:r>
            <a:r>
              <a:rPr spc="41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advantage</a:t>
            </a:r>
            <a:r>
              <a:rPr spc="6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of</a:t>
            </a:r>
            <a:r>
              <a:rPr spc="53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RTL</a:t>
            </a:r>
            <a:r>
              <a:rPr spc="56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technology</a:t>
            </a:r>
            <a:r>
              <a:rPr spc="56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was</a:t>
            </a:r>
            <a:r>
              <a:rPr spc="53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that</a:t>
            </a:r>
            <a:r>
              <a:rPr spc="56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pc="-19" dirty="0">
                <a:solidFill>
                  <a:srgbClr val="202429"/>
                </a:solidFill>
                <a:latin typeface="Calibri"/>
                <a:cs typeface="Calibri"/>
              </a:rPr>
              <a:t>it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involved</a:t>
            </a:r>
            <a:r>
              <a:rPr spc="428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a</a:t>
            </a:r>
            <a:r>
              <a:rPr spc="428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minimum</a:t>
            </a:r>
            <a:r>
              <a:rPr spc="424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number</a:t>
            </a:r>
            <a:r>
              <a:rPr spc="42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of</a:t>
            </a:r>
            <a:r>
              <a:rPr spc="416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transistors,</a:t>
            </a:r>
            <a:r>
              <a:rPr spc="40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202429"/>
                </a:solidFill>
                <a:latin typeface="Calibri"/>
                <a:cs typeface="Calibri"/>
              </a:rPr>
              <a:t>which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was</a:t>
            </a:r>
            <a:r>
              <a:rPr spc="38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an</a:t>
            </a:r>
            <a:r>
              <a:rPr spc="41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important</a:t>
            </a:r>
            <a:r>
              <a:rPr spc="38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consideration</a:t>
            </a:r>
            <a:r>
              <a:rPr spc="41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before</a:t>
            </a:r>
            <a:r>
              <a:rPr spc="41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spc="-8" dirty="0">
                <a:solidFill>
                  <a:srgbClr val="202429"/>
                </a:solidFill>
                <a:latin typeface="Calibri"/>
                <a:cs typeface="Calibri"/>
              </a:rPr>
              <a:t>integrated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circuit</a:t>
            </a:r>
            <a:r>
              <a:rPr spc="153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technology,</a:t>
            </a:r>
            <a:r>
              <a:rPr spc="158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as</a:t>
            </a:r>
            <a:r>
              <a:rPr spc="150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transistors</a:t>
            </a:r>
            <a:r>
              <a:rPr spc="146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were</a:t>
            </a:r>
            <a:r>
              <a:rPr spc="158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the</a:t>
            </a:r>
            <a:r>
              <a:rPr spc="153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spc="-15" dirty="0">
                <a:solidFill>
                  <a:srgbClr val="202429"/>
                </a:solidFill>
                <a:latin typeface="Calibri"/>
                <a:cs typeface="Calibri"/>
              </a:rPr>
              <a:t>most </a:t>
            </a:r>
            <a:r>
              <a:rPr spc="-8" dirty="0">
                <a:solidFill>
                  <a:srgbClr val="202429"/>
                </a:solidFill>
                <a:latin typeface="Calibri"/>
                <a:cs typeface="Calibri"/>
              </a:rPr>
              <a:t>expensive</a:t>
            </a:r>
            <a:r>
              <a:rPr spc="-64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component</a:t>
            </a:r>
            <a:r>
              <a:rPr spc="-53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to</a:t>
            </a:r>
            <a:r>
              <a:rPr spc="-56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202429"/>
                </a:solidFill>
                <a:latin typeface="Calibri"/>
                <a:cs typeface="Calibri"/>
              </a:rPr>
              <a:t>produce</a:t>
            </a:r>
            <a:endParaRPr>
              <a:latin typeface="Calibri"/>
              <a:cs typeface="Calibri"/>
            </a:endParaRPr>
          </a:p>
          <a:p>
            <a:pPr marL="40958" defTabSz="685800">
              <a:spcBef>
                <a:spcPts val="2138"/>
              </a:spcBef>
            </a:pPr>
            <a:r>
              <a:rPr b="1" spc="-8" dirty="0">
                <a:solidFill>
                  <a:srgbClr val="202429"/>
                </a:solidFill>
                <a:latin typeface="Arial"/>
                <a:cs typeface="Arial"/>
              </a:rPr>
              <a:t>Limitations:</a:t>
            </a:r>
            <a:endParaRPr>
              <a:latin typeface="Arial"/>
              <a:cs typeface="Arial"/>
            </a:endParaRPr>
          </a:p>
          <a:p>
            <a:pPr defTabSz="685800">
              <a:spcBef>
                <a:spcPts val="19"/>
              </a:spcBef>
            </a:pPr>
            <a:endParaRPr>
              <a:latin typeface="Arial"/>
              <a:cs typeface="Arial"/>
            </a:endParaRPr>
          </a:p>
          <a:p>
            <a:pPr marL="40958" marR="53340" algn="just" defTabSz="685800"/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The</a:t>
            </a:r>
            <a:r>
              <a:rPr spc="16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obvious</a:t>
            </a:r>
            <a:r>
              <a:rPr spc="18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disadvantage</a:t>
            </a:r>
            <a:r>
              <a:rPr spc="172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of</a:t>
            </a:r>
            <a:r>
              <a:rPr spc="16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RTL</a:t>
            </a:r>
            <a:r>
              <a:rPr spc="16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is</a:t>
            </a:r>
            <a:r>
              <a:rPr spc="172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its</a:t>
            </a:r>
            <a:r>
              <a:rPr spc="169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high</a:t>
            </a:r>
            <a:r>
              <a:rPr spc="16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202429"/>
                </a:solidFill>
                <a:latin typeface="Calibri"/>
                <a:cs typeface="Calibri"/>
              </a:rPr>
              <a:t>current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dissipation</a:t>
            </a:r>
            <a:r>
              <a:rPr spc="172" dirty="0">
                <a:solidFill>
                  <a:srgbClr val="202429"/>
                </a:solidFill>
                <a:latin typeface="Calibri"/>
                <a:cs typeface="Calibri"/>
              </a:rPr>
              <a:t> 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when</a:t>
            </a:r>
            <a:r>
              <a:rPr spc="172" dirty="0">
                <a:solidFill>
                  <a:srgbClr val="202429"/>
                </a:solidFill>
                <a:latin typeface="Calibri"/>
                <a:cs typeface="Calibri"/>
              </a:rPr>
              <a:t> 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the</a:t>
            </a:r>
            <a:r>
              <a:rPr spc="176" dirty="0">
                <a:solidFill>
                  <a:srgbClr val="202429"/>
                </a:solidFill>
                <a:latin typeface="Calibri"/>
                <a:cs typeface="Calibri"/>
              </a:rPr>
              <a:t> 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transistor</a:t>
            </a:r>
            <a:r>
              <a:rPr spc="172" dirty="0">
                <a:solidFill>
                  <a:srgbClr val="202429"/>
                </a:solidFill>
                <a:latin typeface="Calibri"/>
                <a:cs typeface="Calibri"/>
              </a:rPr>
              <a:t> 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conducts</a:t>
            </a:r>
            <a:r>
              <a:rPr spc="172" dirty="0">
                <a:solidFill>
                  <a:srgbClr val="202429"/>
                </a:solidFill>
                <a:latin typeface="Calibri"/>
                <a:cs typeface="Calibri"/>
              </a:rPr>
              <a:t>   </a:t>
            </a:r>
            <a:r>
              <a:rPr spc="-19" dirty="0">
                <a:solidFill>
                  <a:srgbClr val="202429"/>
                </a:solidFill>
                <a:latin typeface="Calibri"/>
                <a:cs typeface="Calibri"/>
              </a:rPr>
              <a:t>to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overdrive</a:t>
            </a:r>
            <a:r>
              <a:rPr spc="217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the</a:t>
            </a:r>
            <a:r>
              <a:rPr spc="221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output</a:t>
            </a:r>
            <a:r>
              <a:rPr spc="21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biasing</a:t>
            </a:r>
            <a:r>
              <a:rPr spc="21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resistor.</a:t>
            </a:r>
            <a:r>
              <a:rPr spc="21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This</a:t>
            </a:r>
            <a:r>
              <a:rPr spc="214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202429"/>
                </a:solidFill>
                <a:latin typeface="Calibri"/>
                <a:cs typeface="Calibri"/>
              </a:rPr>
              <a:t>requires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that</a:t>
            </a:r>
            <a:r>
              <a:rPr spc="113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more</a:t>
            </a:r>
            <a:r>
              <a:rPr spc="116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current</a:t>
            </a:r>
            <a:r>
              <a:rPr spc="120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be</a:t>
            </a:r>
            <a:r>
              <a:rPr spc="113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supplied</a:t>
            </a:r>
            <a:r>
              <a:rPr spc="120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to</a:t>
            </a:r>
            <a:r>
              <a:rPr spc="116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and</a:t>
            </a:r>
            <a:r>
              <a:rPr spc="120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heat</a:t>
            </a:r>
            <a:r>
              <a:rPr spc="113" dirty="0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spc="-19" dirty="0">
                <a:solidFill>
                  <a:srgbClr val="202429"/>
                </a:solidFill>
                <a:latin typeface="Calibri"/>
                <a:cs typeface="Calibri"/>
              </a:rPr>
              <a:t>be</a:t>
            </a:r>
            <a:endParaRPr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8645" y="4891658"/>
            <a:ext cx="4944904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 marR="22860" defTabSz="685800">
              <a:spcBef>
                <a:spcPts val="75"/>
              </a:spcBef>
            </a:pP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removed</a:t>
            </a:r>
            <a:r>
              <a:rPr spc="203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from</a:t>
            </a:r>
            <a:r>
              <a:rPr spc="191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RTL</a:t>
            </a:r>
            <a:r>
              <a:rPr spc="19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circuits.</a:t>
            </a:r>
            <a:r>
              <a:rPr spc="19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In</a:t>
            </a:r>
            <a:r>
              <a:rPr spc="199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contrast,</a:t>
            </a:r>
            <a:r>
              <a:rPr spc="203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TTL</a:t>
            </a:r>
            <a:r>
              <a:rPr spc="195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202429"/>
                </a:solidFill>
                <a:latin typeface="Calibri"/>
                <a:cs typeface="Calibri"/>
              </a:rPr>
              <a:t>circuits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minimize</a:t>
            </a:r>
            <a:r>
              <a:rPr spc="-53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both</a:t>
            </a:r>
            <a:r>
              <a:rPr spc="-30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of</a:t>
            </a:r>
            <a:r>
              <a:rPr spc="-34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02429"/>
                </a:solidFill>
                <a:latin typeface="Calibri"/>
                <a:cs typeface="Calibri"/>
              </a:rPr>
              <a:t>these</a:t>
            </a:r>
            <a:r>
              <a:rPr spc="-34" dirty="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202429"/>
                </a:solidFill>
                <a:latin typeface="Calibri"/>
                <a:cs typeface="Calibri"/>
              </a:rPr>
              <a:t>requirements</a:t>
            </a:r>
            <a:r>
              <a:rPr sz="1500" spc="-8" dirty="0">
                <a:solidFill>
                  <a:srgbClr val="202429"/>
                </a:solidFill>
                <a:latin typeface="Arial MT"/>
                <a:cs typeface="Arial MT"/>
              </a:rPr>
              <a:t>.</a:t>
            </a:r>
            <a:r>
              <a:rPr sz="900" spc="-11" baseline="45138" dirty="0">
                <a:latin typeface="Arial MT"/>
                <a:cs typeface="Arial MT"/>
              </a:rPr>
              <a:t>•</a:t>
            </a:r>
            <a:endParaRPr sz="900" baseline="45138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6083" y="1320799"/>
            <a:ext cx="2744153" cy="35239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92335" y="5141975"/>
            <a:ext cx="1828324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latin typeface="Calibri"/>
                <a:cs typeface="Calibri"/>
              </a:rPr>
              <a:t>(NOR</a:t>
            </a:r>
            <a:r>
              <a:rPr sz="1500" b="1" spc="-49" dirty="0">
                <a:latin typeface="Calibri"/>
                <a:cs typeface="Calibri"/>
              </a:rPr>
              <a:t> </a:t>
            </a:r>
            <a:r>
              <a:rPr sz="1500" b="1" spc="-19" dirty="0">
                <a:latin typeface="Calibri"/>
                <a:cs typeface="Calibri"/>
              </a:rPr>
              <a:t>GATE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USING</a:t>
            </a:r>
            <a:r>
              <a:rPr sz="1500" b="1" spc="-26" dirty="0">
                <a:latin typeface="Calibri"/>
                <a:cs typeface="Calibri"/>
              </a:rPr>
              <a:t> </a:t>
            </a:r>
            <a:r>
              <a:rPr sz="1500" b="1" spc="-15" dirty="0">
                <a:latin typeface="Calibri"/>
                <a:cs typeface="Calibri"/>
              </a:rPr>
              <a:t>RTL)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17</a:t>
            </a:fld>
            <a:endParaRPr spc="-19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18</a:t>
            </a:fld>
            <a:endParaRPr spc="-19" dirty="0"/>
          </a:p>
        </p:txBody>
      </p:sp>
      <p:sp>
        <p:nvSpPr>
          <p:cNvPr id="2" name="object 2"/>
          <p:cNvSpPr txBox="1"/>
          <p:nvPr/>
        </p:nvSpPr>
        <p:spPr>
          <a:xfrm>
            <a:off x="507340" y="1739703"/>
            <a:ext cx="7675721" cy="342385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23838" indent="-214313" defTabSz="685800">
              <a:spcBef>
                <a:spcPts val="79"/>
              </a:spcBef>
              <a:buFont typeface="Wingdings"/>
              <a:buChar char=""/>
              <a:tabLst>
                <a:tab pos="223838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diode-transistor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logic,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also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termed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DTL,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replaced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RTL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family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because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greater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fan-</a:t>
            </a:r>
            <a:r>
              <a:rPr sz="1500" spc="-19" dirty="0">
                <a:latin typeface="Calibri"/>
                <a:cs typeface="Calibri"/>
              </a:rPr>
              <a:t>out</a:t>
            </a:r>
            <a:endParaRPr sz="1500">
              <a:latin typeface="Calibri"/>
              <a:cs typeface="Calibri"/>
            </a:endParaRPr>
          </a:p>
          <a:p>
            <a:pPr marL="224314" defTabSz="685800"/>
            <a:r>
              <a:rPr sz="1500" dirty="0">
                <a:latin typeface="Calibri"/>
                <a:cs typeface="Calibri"/>
              </a:rPr>
              <a:t>capability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more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noise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margin.</a:t>
            </a:r>
            <a:endParaRPr sz="1500">
              <a:latin typeface="Calibri"/>
              <a:cs typeface="Calibri"/>
            </a:endParaRPr>
          </a:p>
          <a:p>
            <a:pPr marL="223838" indent="-214313" defTabSz="685800">
              <a:spcBef>
                <a:spcPts val="1800"/>
              </a:spcBef>
              <a:buFont typeface="Wingdings"/>
              <a:buChar char=""/>
              <a:tabLst>
                <a:tab pos="223838" algn="l"/>
              </a:tabLst>
            </a:pPr>
            <a:r>
              <a:rPr sz="1500" dirty="0">
                <a:latin typeface="Calibri"/>
                <a:cs typeface="Calibri"/>
              </a:rPr>
              <a:t>DTL</a:t>
            </a:r>
            <a:r>
              <a:rPr sz="1500" spc="-5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circuits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mainly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consists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diodes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transistors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comprises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DTL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devices.</a:t>
            </a:r>
            <a:endParaRPr sz="1500">
              <a:latin typeface="Calibri"/>
              <a:cs typeface="Calibri"/>
            </a:endParaRPr>
          </a:p>
          <a:p>
            <a:pPr marL="223838" indent="-214313" defTabSz="685800">
              <a:spcBef>
                <a:spcPts val="1804"/>
              </a:spcBef>
              <a:buFont typeface="Wingdings"/>
              <a:buChar char=""/>
              <a:tabLst>
                <a:tab pos="223838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basic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DTL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device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NAND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gate.</a:t>
            </a:r>
            <a:endParaRPr sz="1500">
              <a:latin typeface="Calibri"/>
              <a:cs typeface="Calibri"/>
            </a:endParaRPr>
          </a:p>
          <a:p>
            <a:pPr marL="223361" marR="3810" indent="-214313" defTabSz="685800">
              <a:spcBef>
                <a:spcPts val="1800"/>
              </a:spcBef>
              <a:buFont typeface="Wingdings"/>
              <a:buChar char=""/>
              <a:tabLst>
                <a:tab pos="224314" algn="l"/>
              </a:tabLst>
            </a:pPr>
            <a:r>
              <a:rPr sz="1500" spc="-15" dirty="0">
                <a:latin typeface="Calibri"/>
                <a:cs typeface="Calibri"/>
              </a:rPr>
              <a:t>Two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inputs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gate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applied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through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diodes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viz.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D1,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D2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.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diode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will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conduct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only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when 	</a:t>
            </a:r>
            <a:r>
              <a:rPr sz="1500" spc="-8" dirty="0">
                <a:latin typeface="Calibri"/>
                <a:cs typeface="Calibri"/>
              </a:rPr>
              <a:t>corresponding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input</a:t>
            </a:r>
            <a:r>
              <a:rPr sz="1500" spc="-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LOW.</a:t>
            </a:r>
            <a:endParaRPr sz="1500">
              <a:latin typeface="Calibri"/>
              <a:cs typeface="Calibri"/>
            </a:endParaRPr>
          </a:p>
          <a:p>
            <a:pPr marL="223361" marR="14288" indent="-214313" defTabSz="685800">
              <a:spcBef>
                <a:spcPts val="1800"/>
              </a:spcBef>
              <a:buFont typeface="Wingdings"/>
              <a:buChar char=""/>
              <a:tabLst>
                <a:tab pos="224314" algn="l"/>
              </a:tabLst>
            </a:pPr>
            <a:r>
              <a:rPr sz="1500" dirty="0">
                <a:latin typeface="Calibri"/>
                <a:cs typeface="Calibri"/>
              </a:rPr>
              <a:t>If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diode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conducting</a:t>
            </a:r>
            <a:r>
              <a:rPr sz="1500" spc="27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i.e.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when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at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least one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input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LOW,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voltage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at</a:t>
            </a:r>
            <a:r>
              <a:rPr sz="1500" spc="-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output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keeps 	transistor</a:t>
            </a:r>
            <a:r>
              <a:rPr sz="1500" spc="-1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cut-</a:t>
            </a:r>
            <a:r>
              <a:rPr sz="1500" dirty="0">
                <a:latin typeface="Calibri"/>
                <a:cs typeface="Calibri"/>
              </a:rPr>
              <a:t>off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subsequently,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output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transistor</a:t>
            </a:r>
            <a:r>
              <a:rPr sz="1500" spc="-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HIGH.</a:t>
            </a:r>
            <a:r>
              <a:rPr sz="1500" spc="29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inputs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HIGH,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spc="-19" dirty="0">
                <a:latin typeface="Calibri"/>
                <a:cs typeface="Calibri"/>
              </a:rPr>
              <a:t>all 	</a:t>
            </a:r>
            <a:r>
              <a:rPr sz="1500" dirty="0">
                <a:latin typeface="Calibri"/>
                <a:cs typeface="Calibri"/>
              </a:rPr>
              <a:t>diodes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8" dirty="0">
                <a:latin typeface="Calibri"/>
                <a:cs typeface="Calibri"/>
              </a:rPr>
              <a:t> non-</a:t>
            </a:r>
            <a:r>
              <a:rPr sz="1500" dirty="0">
                <a:latin typeface="Calibri"/>
                <a:cs typeface="Calibri"/>
              </a:rPr>
              <a:t>conducting,</a:t>
            </a:r>
            <a:r>
              <a:rPr sz="1500" spc="-56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transistor</a:t>
            </a:r>
            <a:r>
              <a:rPr sz="1500" spc="-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spc="-8" dirty="0">
                <a:latin typeface="Calibri"/>
                <a:cs typeface="Calibri"/>
              </a:rPr>
              <a:t>saturation,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1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its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output</a:t>
            </a:r>
            <a:r>
              <a:rPr sz="1500" spc="-3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1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LOW.</a:t>
            </a:r>
            <a:endParaRPr sz="1500">
              <a:latin typeface="Calibri"/>
              <a:cs typeface="Calibri"/>
            </a:endParaRPr>
          </a:p>
          <a:p>
            <a:pPr marL="9525" defTabSz="685800">
              <a:spcBef>
                <a:spcPts val="1627"/>
              </a:spcBef>
            </a:pPr>
            <a:r>
              <a:rPr sz="1350" i="1" spc="-38" dirty="0"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7374750" cy="564769"/>
          </a:xfrm>
          <a:prstGeom prst="rect">
            <a:avLst/>
          </a:prstGeom>
        </p:spPr>
        <p:txBody>
          <a:bodyPr vert="horz" wrap="square" lIns="0" tIns="193547" rIns="0" bIns="0" rtlCol="0">
            <a:spAutoFit/>
          </a:bodyPr>
          <a:lstStyle/>
          <a:p>
            <a:pPr marL="2456021">
              <a:spcBef>
                <a:spcPts val="75"/>
              </a:spcBef>
            </a:pPr>
            <a:r>
              <a:rPr dirty="0"/>
              <a:t>Diode</a:t>
            </a:r>
            <a:r>
              <a:rPr spc="-94" dirty="0"/>
              <a:t> </a:t>
            </a:r>
            <a:r>
              <a:rPr spc="-23" dirty="0"/>
              <a:t>Transistor</a:t>
            </a:r>
            <a:r>
              <a:rPr spc="-75" dirty="0"/>
              <a:t> </a:t>
            </a:r>
            <a:r>
              <a:rPr spc="-15" dirty="0"/>
              <a:t>Logic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74887" y="4835272"/>
            <a:ext cx="1794034" cy="18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429"/>
              </a:lnSpc>
            </a:pPr>
            <a:r>
              <a:rPr sz="1500" b="1" dirty="0">
                <a:latin typeface="Calibri"/>
                <a:cs typeface="Calibri"/>
              </a:rPr>
              <a:t>(Block</a:t>
            </a:r>
            <a:r>
              <a:rPr sz="1500" b="1" spc="-41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Diagram</a:t>
            </a:r>
            <a:r>
              <a:rPr sz="1500" b="1" spc="-26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of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5" dirty="0">
                <a:latin typeface="Calibri"/>
                <a:cs typeface="Calibri"/>
              </a:rPr>
              <a:t>DTL)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20858" y="1552743"/>
            <a:ext cx="5323523" cy="3832860"/>
            <a:chOff x="5094478" y="927324"/>
            <a:chExt cx="7098030" cy="5110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4478" y="927324"/>
              <a:ext cx="6953210" cy="497157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5755" y="5284977"/>
              <a:ext cx="2255139" cy="7524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8476" y="5190845"/>
              <a:ext cx="3303524" cy="75247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6313" y="1501330"/>
            <a:ext cx="282559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557689" algn="l"/>
                <a:tab pos="925830" algn="l"/>
                <a:tab pos="1836896" algn="l"/>
                <a:tab pos="2200751" algn="l"/>
              </a:tabLst>
            </a:pPr>
            <a:r>
              <a:rPr sz="1800" spc="-19" dirty="0">
                <a:solidFill>
                  <a:srgbClr val="000000"/>
                </a:solidFill>
              </a:rPr>
              <a:t>Due</a:t>
            </a:r>
            <a:r>
              <a:rPr sz="1800" dirty="0">
                <a:solidFill>
                  <a:srgbClr val="000000"/>
                </a:solidFill>
              </a:rPr>
              <a:t>	</a:t>
            </a:r>
            <a:r>
              <a:rPr sz="1800" spc="-19" dirty="0">
                <a:solidFill>
                  <a:srgbClr val="000000"/>
                </a:solidFill>
              </a:rPr>
              <a:t>to</a:t>
            </a:r>
            <a:r>
              <a:rPr sz="1800" dirty="0">
                <a:solidFill>
                  <a:srgbClr val="000000"/>
                </a:solidFill>
              </a:rPr>
              <a:t>	</a:t>
            </a:r>
            <a:r>
              <a:rPr sz="1800" spc="-8" dirty="0">
                <a:solidFill>
                  <a:srgbClr val="000000"/>
                </a:solidFill>
              </a:rPr>
              <a:t>number</a:t>
            </a:r>
            <a:r>
              <a:rPr sz="1800" dirty="0">
                <a:solidFill>
                  <a:srgbClr val="000000"/>
                </a:solidFill>
              </a:rPr>
              <a:t>	</a:t>
            </a:r>
            <a:r>
              <a:rPr sz="1800" spc="-19" dirty="0">
                <a:solidFill>
                  <a:srgbClr val="000000"/>
                </a:solidFill>
              </a:rPr>
              <a:t>of</a:t>
            </a:r>
            <a:r>
              <a:rPr sz="1800" dirty="0">
                <a:solidFill>
                  <a:srgbClr val="000000"/>
                </a:solidFill>
              </a:rPr>
              <a:t>	</a:t>
            </a:r>
            <a:r>
              <a:rPr sz="1800" spc="-8" dirty="0">
                <a:solidFill>
                  <a:srgbClr val="000000"/>
                </a:solidFill>
              </a:rPr>
              <a:t>diodes</a:t>
            </a:r>
            <a:endParaRPr sz="1800"/>
          </a:p>
        </p:txBody>
      </p:sp>
      <p:sp>
        <p:nvSpPr>
          <p:cNvPr id="8" name="object 8"/>
          <p:cNvSpPr txBox="1"/>
          <p:nvPr/>
        </p:nvSpPr>
        <p:spPr>
          <a:xfrm>
            <a:off x="526314" y="1775651"/>
            <a:ext cx="2826544" cy="11176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algn="just" defTabSz="685800">
              <a:spcBef>
                <a:spcPts val="75"/>
              </a:spcBef>
            </a:pPr>
            <a:r>
              <a:rPr dirty="0">
                <a:latin typeface="Calibri"/>
                <a:cs typeface="Calibri"/>
              </a:rPr>
              <a:t>used</a:t>
            </a:r>
            <a:r>
              <a:rPr spc="1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12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13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circuit,</a:t>
            </a:r>
            <a:r>
              <a:rPr spc="1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12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speed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68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68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circuit</a:t>
            </a:r>
            <a:r>
              <a:rPr spc="68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68" dirty="0">
                <a:latin typeface="Calibri"/>
                <a:cs typeface="Calibri"/>
              </a:rPr>
              <a:t>  </a:t>
            </a:r>
            <a:r>
              <a:rPr spc="-8" dirty="0">
                <a:latin typeface="Calibri"/>
                <a:cs typeface="Calibri"/>
              </a:rPr>
              <a:t>significantly </a:t>
            </a:r>
            <a:r>
              <a:rPr dirty="0">
                <a:latin typeface="Calibri"/>
                <a:cs typeface="Calibri"/>
              </a:rPr>
              <a:t>low.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Hence</a:t>
            </a:r>
            <a:r>
              <a:rPr spc="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family</a:t>
            </a:r>
            <a:r>
              <a:rPr spc="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logic </a:t>
            </a:r>
            <a:r>
              <a:rPr dirty="0">
                <a:latin typeface="Calibri"/>
                <a:cs typeface="Calibri"/>
              </a:rPr>
              <a:t>gates</a:t>
            </a:r>
            <a:r>
              <a:rPr spc="330" dirty="0">
                <a:latin typeface="Calibri"/>
                <a:cs typeface="Calibri"/>
              </a:rPr>
              <a:t>   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326" dirty="0">
                <a:latin typeface="Calibri"/>
                <a:cs typeface="Calibri"/>
              </a:rPr>
              <a:t>    </a:t>
            </a:r>
            <a:r>
              <a:rPr dirty="0">
                <a:latin typeface="Calibri"/>
                <a:cs typeface="Calibri"/>
              </a:rPr>
              <a:t>modified</a:t>
            </a:r>
            <a:r>
              <a:rPr spc="330" dirty="0">
                <a:latin typeface="Calibri"/>
                <a:cs typeface="Calibri"/>
              </a:rPr>
              <a:t>    </a:t>
            </a:r>
            <a:r>
              <a:rPr spc="-19" dirty="0">
                <a:latin typeface="Calibri"/>
                <a:cs typeface="Calibri"/>
              </a:rPr>
              <a:t>to</a:t>
            </a:r>
            <a:endParaRPr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314" y="2873083"/>
            <a:ext cx="282749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  <a:tabLst>
                <a:tab pos="1977866" algn="l"/>
                <a:tab pos="2536508" algn="l"/>
              </a:tabLst>
            </a:pPr>
            <a:r>
              <a:rPr spc="-15" dirty="0">
                <a:latin typeface="Calibri"/>
                <a:cs typeface="Calibri"/>
              </a:rPr>
              <a:t>transistor-</a:t>
            </a:r>
            <a:r>
              <a:rPr spc="-8" dirty="0">
                <a:latin typeface="Calibri"/>
                <a:cs typeface="Calibri"/>
              </a:rPr>
              <a:t>transistor</a:t>
            </a:r>
            <a:r>
              <a:rPr dirty="0">
                <a:latin typeface="Calibri"/>
                <a:cs typeface="Calibri"/>
              </a:rPr>
              <a:t>	</a:t>
            </a:r>
            <a:r>
              <a:rPr spc="-15" dirty="0">
                <a:latin typeface="Calibri"/>
                <a:cs typeface="Calibri"/>
              </a:rPr>
              <a:t>logic</a:t>
            </a:r>
            <a:r>
              <a:rPr dirty="0">
                <a:latin typeface="Calibri"/>
                <a:cs typeface="Calibri"/>
              </a:rPr>
              <a:t>	</a:t>
            </a:r>
            <a:r>
              <a:rPr spc="-15" dirty="0">
                <a:latin typeface="Calibri"/>
                <a:cs typeface="Calibri"/>
              </a:rPr>
              <a:t>i.e.</a:t>
            </a:r>
            <a:endParaRPr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6313" y="3147631"/>
            <a:ext cx="2825591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defTabSz="685800">
              <a:spcBef>
                <a:spcPts val="75"/>
              </a:spcBef>
              <a:tabLst>
                <a:tab pos="476726" algn="l"/>
                <a:tab pos="1186339" algn="l"/>
                <a:tab pos="1884045" algn="l"/>
                <a:tab pos="2346960" algn="l"/>
              </a:tabLst>
            </a:pPr>
            <a:r>
              <a:rPr spc="-19" dirty="0">
                <a:latin typeface="Calibri"/>
                <a:cs typeface="Calibri"/>
              </a:rPr>
              <a:t>TTL</a:t>
            </a:r>
            <a:r>
              <a:rPr dirty="0">
                <a:latin typeface="Calibri"/>
                <a:cs typeface="Calibri"/>
              </a:rPr>
              <a:t>	</a:t>
            </a:r>
            <a:r>
              <a:rPr spc="-8" dirty="0">
                <a:latin typeface="Calibri"/>
                <a:cs typeface="Calibri"/>
              </a:rPr>
              <a:t>family</a:t>
            </a:r>
            <a:r>
              <a:rPr dirty="0">
                <a:latin typeface="Calibri"/>
                <a:cs typeface="Calibri"/>
              </a:rPr>
              <a:t>	</a:t>
            </a:r>
            <a:r>
              <a:rPr spc="-8" dirty="0">
                <a:latin typeface="Calibri"/>
                <a:cs typeface="Calibri"/>
              </a:rPr>
              <a:t>which</a:t>
            </a:r>
            <a:r>
              <a:rPr dirty="0">
                <a:latin typeface="Calibri"/>
                <a:cs typeface="Calibri"/>
              </a:rPr>
              <a:t>	</a:t>
            </a:r>
            <a:r>
              <a:rPr spc="-19" dirty="0">
                <a:latin typeface="Calibri"/>
                <a:cs typeface="Calibri"/>
              </a:rPr>
              <a:t>has</a:t>
            </a:r>
            <a:r>
              <a:rPr dirty="0">
                <a:latin typeface="Calibri"/>
                <a:cs typeface="Calibri"/>
              </a:rPr>
              <a:t>	</a:t>
            </a:r>
            <a:r>
              <a:rPr spc="-15" dirty="0">
                <a:latin typeface="Calibri"/>
                <a:cs typeface="Calibri"/>
              </a:rPr>
              <a:t>been </a:t>
            </a:r>
            <a:r>
              <a:rPr spc="-8" dirty="0">
                <a:latin typeface="Calibri"/>
                <a:cs typeface="Calibri"/>
              </a:rPr>
              <a:t>discussed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next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slide.</a:t>
            </a:r>
            <a:endParaRPr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38390" y="4844129"/>
            <a:ext cx="1194911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latin typeface="Calibri"/>
                <a:cs typeface="Calibri"/>
              </a:rPr>
              <a:t>(DL</a:t>
            </a:r>
            <a:r>
              <a:rPr sz="1500" b="1" spc="-23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AND</a:t>
            </a:r>
            <a:r>
              <a:rPr sz="1500" b="1" spc="-26" dirty="0">
                <a:latin typeface="Calibri"/>
                <a:cs typeface="Calibri"/>
              </a:rPr>
              <a:t> </a:t>
            </a:r>
            <a:r>
              <a:rPr sz="1500" b="1" spc="-8" dirty="0">
                <a:latin typeface="Calibri"/>
                <a:cs typeface="Calibri"/>
              </a:rPr>
              <a:t>GATE)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7138" y="4833804"/>
            <a:ext cx="1088708" cy="47176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spc="-23" dirty="0">
                <a:latin typeface="Calibri"/>
                <a:cs typeface="Calibri"/>
              </a:rPr>
              <a:t>(SATURATING</a:t>
            </a:r>
            <a:endParaRPr sz="1500">
              <a:latin typeface="Calibri"/>
              <a:cs typeface="Calibri"/>
            </a:endParaRPr>
          </a:p>
          <a:p>
            <a:pPr marL="9525" defTabSz="685800"/>
            <a:r>
              <a:rPr sz="1500" b="1" spc="-8" dirty="0">
                <a:latin typeface="Calibri"/>
                <a:cs typeface="Calibri"/>
              </a:rPr>
              <a:t>INVERTER)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707" y="4066627"/>
            <a:ext cx="1403666" cy="72832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527232" y="2819590"/>
            <a:ext cx="235744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spc="-19" dirty="0">
                <a:latin typeface="Calibri"/>
                <a:cs typeface="Calibri"/>
              </a:rPr>
              <a:t>D1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19</a:t>
            </a:fld>
            <a:endParaRPr spc="-19" dirty="0"/>
          </a:p>
        </p:txBody>
      </p:sp>
      <p:sp>
        <p:nvSpPr>
          <p:cNvPr id="15" name="object 15"/>
          <p:cNvSpPr txBox="1"/>
          <p:nvPr/>
        </p:nvSpPr>
        <p:spPr>
          <a:xfrm>
            <a:off x="4556570" y="3897439"/>
            <a:ext cx="235744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spc="-19" dirty="0">
                <a:latin typeface="Calibri"/>
                <a:cs typeface="Calibri"/>
              </a:rPr>
              <a:t>D2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20</a:t>
            </a:fld>
            <a:endParaRPr spc="-19" dirty="0"/>
          </a:p>
        </p:txBody>
      </p:sp>
      <p:sp>
        <p:nvSpPr>
          <p:cNvPr id="2" name="object 2"/>
          <p:cNvSpPr txBox="1"/>
          <p:nvPr/>
        </p:nvSpPr>
        <p:spPr>
          <a:xfrm>
            <a:off x="648386" y="1586769"/>
            <a:ext cx="7752874" cy="41851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700" marR="5715" indent="-257175" algn="just" defTabSz="685800">
              <a:spcBef>
                <a:spcPts val="75"/>
              </a:spcBef>
              <a:buFont typeface="Wingdings"/>
              <a:buChar char=""/>
              <a:tabLst>
                <a:tab pos="266700" algn="l"/>
              </a:tabLst>
            </a:pPr>
            <a:r>
              <a:rPr dirty="0">
                <a:latin typeface="Calibri"/>
                <a:cs typeface="Calibri"/>
              </a:rPr>
              <a:t>TTL</a:t>
            </a:r>
            <a:r>
              <a:rPr spc="4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family</a:t>
            </a:r>
            <a:r>
              <a:rPr spc="42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4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41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modification</a:t>
            </a:r>
            <a:r>
              <a:rPr spc="4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4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41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DTL.</a:t>
            </a:r>
            <a:r>
              <a:rPr spc="41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41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41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come</a:t>
            </a:r>
            <a:r>
              <a:rPr spc="41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40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existence</a:t>
            </a:r>
            <a:r>
              <a:rPr spc="41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</a:t>
            </a:r>
            <a:r>
              <a:rPr spc="40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416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to </a:t>
            </a:r>
            <a:r>
              <a:rPr dirty="0">
                <a:latin typeface="Calibri"/>
                <a:cs typeface="Calibri"/>
              </a:rPr>
              <a:t>overcome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speed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limitations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DTL</a:t>
            </a:r>
            <a:r>
              <a:rPr spc="-8" dirty="0">
                <a:latin typeface="Calibri"/>
                <a:cs typeface="Calibri"/>
              </a:rPr>
              <a:t> family.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basic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gate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family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TTL </a:t>
            </a:r>
            <a:r>
              <a:rPr dirty="0">
                <a:latin typeface="Calibri"/>
                <a:cs typeface="Calibri"/>
              </a:rPr>
              <a:t>NAND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gate.</a:t>
            </a:r>
            <a:endParaRPr>
              <a:latin typeface="Calibri"/>
              <a:cs typeface="Calibri"/>
            </a:endParaRPr>
          </a:p>
          <a:p>
            <a:pPr marL="9525" marR="3810" indent="284321" algn="just" defTabSz="685800">
              <a:spcBef>
                <a:spcPts val="2160"/>
              </a:spcBef>
              <a:buFont typeface="Wingdings"/>
              <a:buChar char=""/>
              <a:tabLst>
                <a:tab pos="293846" algn="l"/>
              </a:tabLst>
            </a:pPr>
            <a:r>
              <a:rPr dirty="0">
                <a:latin typeface="Calibri"/>
                <a:cs typeface="Calibri"/>
              </a:rPr>
              <a:t>Q3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cutoff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(act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like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RC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)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output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transistor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Q4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saturated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Q3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is </a:t>
            </a:r>
            <a:r>
              <a:rPr spc="-8" dirty="0">
                <a:latin typeface="Calibri"/>
                <a:cs typeface="Calibri"/>
              </a:rPr>
              <a:t>saturated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(act</a:t>
            </a:r>
            <a:r>
              <a:rPr spc="401" dirty="0">
                <a:latin typeface="Calibri"/>
                <a:cs typeface="Calibri"/>
              </a:rPr>
              <a:t>    </a:t>
            </a:r>
            <a:r>
              <a:rPr dirty="0">
                <a:latin typeface="Calibri"/>
                <a:cs typeface="Calibri"/>
              </a:rPr>
              <a:t>like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low</a:t>
            </a:r>
            <a:r>
              <a:rPr spc="22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RC</a:t>
            </a:r>
            <a:r>
              <a:rPr spc="2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)</a:t>
            </a:r>
            <a:r>
              <a:rPr spc="23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when</a:t>
            </a:r>
            <a:r>
              <a:rPr spc="22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output</a:t>
            </a:r>
            <a:r>
              <a:rPr spc="22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transistor</a:t>
            </a:r>
            <a:r>
              <a:rPr spc="22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Q4</a:t>
            </a:r>
            <a:r>
              <a:rPr spc="22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cutoff</a:t>
            </a:r>
            <a:r>
              <a:rPr spc="22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.</a:t>
            </a:r>
            <a:r>
              <a:rPr spc="23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Thus</a:t>
            </a:r>
            <a:r>
              <a:rPr spc="236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one </a:t>
            </a:r>
            <a:r>
              <a:rPr spc="-8" dirty="0">
                <a:latin typeface="Calibri"/>
                <a:cs typeface="Calibri"/>
              </a:rPr>
              <a:t>transistor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at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time.</a:t>
            </a:r>
            <a:endParaRPr>
              <a:latin typeface="Calibri"/>
              <a:cs typeface="Calibri"/>
            </a:endParaRPr>
          </a:p>
          <a:p>
            <a:pPr marL="292418" indent="-282893" algn="just" defTabSz="685800">
              <a:spcBef>
                <a:spcPts val="2164"/>
              </a:spcBef>
              <a:buFont typeface="Wingdings"/>
              <a:buChar char=""/>
              <a:tabLst>
                <a:tab pos="292418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combination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Q3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Q4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called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TOTEM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POLE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arrangement.</a:t>
            </a:r>
            <a:endParaRPr>
              <a:latin typeface="Calibri"/>
              <a:cs typeface="Calibri"/>
            </a:endParaRPr>
          </a:p>
          <a:p>
            <a:pPr marL="9525" marR="6191" indent="284321" algn="just" defTabSz="685800">
              <a:spcBef>
                <a:spcPts val="2160"/>
              </a:spcBef>
              <a:buFont typeface="Wingdings"/>
              <a:buChar char=""/>
              <a:tabLst>
                <a:tab pos="293846" algn="l"/>
              </a:tabLst>
            </a:pPr>
            <a:r>
              <a:rPr dirty="0">
                <a:latin typeface="Calibri"/>
                <a:cs typeface="Calibri"/>
              </a:rPr>
              <a:t>Q1</a:t>
            </a:r>
            <a:r>
              <a:rPr spc="71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71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called</a:t>
            </a:r>
            <a:r>
              <a:rPr spc="7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input</a:t>
            </a:r>
            <a:r>
              <a:rPr spc="71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transistor,</a:t>
            </a:r>
            <a:r>
              <a:rPr spc="7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7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71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multi</a:t>
            </a:r>
            <a:r>
              <a:rPr spc="7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emitter</a:t>
            </a:r>
            <a:r>
              <a:rPr spc="71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transistor,</a:t>
            </a:r>
            <a:r>
              <a:rPr spc="7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75" dirty="0">
                <a:latin typeface="Calibri"/>
                <a:cs typeface="Calibri"/>
              </a:rPr>
              <a:t>  </a:t>
            </a:r>
            <a:r>
              <a:rPr spc="-8" dirty="0">
                <a:latin typeface="Calibri"/>
                <a:cs typeface="Calibri"/>
              </a:rPr>
              <a:t>drive transistor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Q2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control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Q3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Q4.</a:t>
            </a:r>
            <a:endParaRPr>
              <a:latin typeface="Calibri"/>
              <a:cs typeface="Calibri"/>
            </a:endParaRPr>
          </a:p>
          <a:p>
            <a:pPr marL="9525" marR="5239" indent="284321" algn="just" defTabSz="685800">
              <a:spcBef>
                <a:spcPts val="2164"/>
              </a:spcBef>
              <a:buFont typeface="Wingdings"/>
              <a:buChar char=""/>
              <a:tabLst>
                <a:tab pos="293846" algn="l"/>
              </a:tabLst>
            </a:pPr>
            <a:r>
              <a:rPr dirty="0">
                <a:latin typeface="Calibri"/>
                <a:cs typeface="Calibri"/>
              </a:rPr>
              <a:t>Diode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D1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6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D2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protect</a:t>
            </a:r>
            <a:r>
              <a:rPr spc="5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Q1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unwanted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negative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voltages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and </a:t>
            </a:r>
            <a:r>
              <a:rPr dirty="0">
                <a:latin typeface="Calibri"/>
                <a:cs typeface="Calibri"/>
              </a:rPr>
              <a:t>diode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D3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ensures</a:t>
            </a:r>
            <a:r>
              <a:rPr spc="37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when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Q4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ON,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Q3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OFF.</a:t>
            </a:r>
            <a:endParaRPr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7069950" cy="460953"/>
          </a:xfrm>
          <a:prstGeom prst="rect">
            <a:avLst/>
          </a:prstGeom>
        </p:spPr>
        <p:txBody>
          <a:bodyPr vert="horz" wrap="square" lIns="0" tIns="90735" rIns="0" bIns="0" rtlCol="0">
            <a:spAutoFit/>
          </a:bodyPr>
          <a:lstStyle/>
          <a:p>
            <a:pPr marL="2400776">
              <a:spcBef>
                <a:spcPts val="79"/>
              </a:spcBef>
            </a:pPr>
            <a:r>
              <a:rPr spc="-26" dirty="0"/>
              <a:t>Transistor</a:t>
            </a:r>
            <a:r>
              <a:rPr spc="-90" dirty="0"/>
              <a:t> </a:t>
            </a:r>
            <a:r>
              <a:rPr spc="-23" dirty="0"/>
              <a:t>Transistor</a:t>
            </a:r>
            <a:r>
              <a:rPr spc="-79" dirty="0"/>
              <a:t> </a:t>
            </a:r>
            <a:r>
              <a:rPr spc="-8" dirty="0"/>
              <a:t>Logic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08" y="1377658"/>
            <a:ext cx="4649629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dirty="0">
                <a:solidFill>
                  <a:srgbClr val="212121"/>
                </a:solidFill>
              </a:rPr>
              <a:t>The</a:t>
            </a:r>
            <a:r>
              <a:rPr sz="1500" spc="199" dirty="0">
                <a:solidFill>
                  <a:srgbClr val="212121"/>
                </a:solidFill>
              </a:rPr>
              <a:t> </a:t>
            </a:r>
            <a:r>
              <a:rPr sz="1500" dirty="0">
                <a:solidFill>
                  <a:srgbClr val="212121"/>
                </a:solidFill>
              </a:rPr>
              <a:t>output</a:t>
            </a:r>
            <a:r>
              <a:rPr sz="1500" spc="210" dirty="0">
                <a:solidFill>
                  <a:srgbClr val="212121"/>
                </a:solidFill>
              </a:rPr>
              <a:t> </a:t>
            </a:r>
            <a:r>
              <a:rPr sz="1500" dirty="0">
                <a:solidFill>
                  <a:srgbClr val="212121"/>
                </a:solidFill>
              </a:rPr>
              <a:t>impedance</a:t>
            </a:r>
            <a:r>
              <a:rPr sz="1500" spc="203" dirty="0">
                <a:solidFill>
                  <a:srgbClr val="212121"/>
                </a:solidFill>
              </a:rPr>
              <a:t> </a:t>
            </a:r>
            <a:r>
              <a:rPr sz="1500" dirty="0">
                <a:solidFill>
                  <a:srgbClr val="212121"/>
                </a:solidFill>
              </a:rPr>
              <a:t>is</a:t>
            </a:r>
            <a:r>
              <a:rPr sz="1500" spc="210" dirty="0">
                <a:solidFill>
                  <a:srgbClr val="212121"/>
                </a:solidFill>
              </a:rPr>
              <a:t> </a:t>
            </a:r>
            <a:r>
              <a:rPr sz="1500" dirty="0">
                <a:solidFill>
                  <a:srgbClr val="212121"/>
                </a:solidFill>
              </a:rPr>
              <a:t>asymmetrical</a:t>
            </a:r>
            <a:r>
              <a:rPr sz="1500" spc="221" dirty="0">
                <a:solidFill>
                  <a:srgbClr val="212121"/>
                </a:solidFill>
              </a:rPr>
              <a:t> </a:t>
            </a:r>
            <a:r>
              <a:rPr sz="1500" dirty="0">
                <a:solidFill>
                  <a:srgbClr val="212121"/>
                </a:solidFill>
              </a:rPr>
              <a:t>between</a:t>
            </a:r>
            <a:r>
              <a:rPr sz="1500" spc="203" dirty="0">
                <a:solidFill>
                  <a:srgbClr val="212121"/>
                </a:solidFill>
              </a:rPr>
              <a:t> </a:t>
            </a:r>
            <a:r>
              <a:rPr sz="1500" dirty="0">
                <a:solidFill>
                  <a:srgbClr val="212121"/>
                </a:solidFill>
              </a:rPr>
              <a:t>the</a:t>
            </a:r>
            <a:r>
              <a:rPr sz="1500" spc="195" dirty="0">
                <a:solidFill>
                  <a:srgbClr val="212121"/>
                </a:solidFill>
              </a:rPr>
              <a:t> </a:t>
            </a:r>
            <a:r>
              <a:rPr sz="1500" spc="-15" dirty="0">
                <a:solidFill>
                  <a:srgbClr val="212121"/>
                </a:solidFill>
              </a:rPr>
              <a:t>high</a:t>
            </a:r>
            <a:endParaRPr sz="1500"/>
          </a:p>
        </p:txBody>
      </p:sp>
      <p:sp>
        <p:nvSpPr>
          <p:cNvPr id="3" name="object 3"/>
          <p:cNvSpPr txBox="1"/>
          <p:nvPr/>
        </p:nvSpPr>
        <p:spPr>
          <a:xfrm>
            <a:off x="597180" y="1605535"/>
            <a:ext cx="4646771" cy="1395093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marR="3810" algn="just" defTabSz="685800">
              <a:spcBef>
                <a:spcPts val="79"/>
              </a:spcBef>
            </a:pP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z="1500" spc="251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low</a:t>
            </a:r>
            <a:r>
              <a:rPr sz="1500" spc="248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state,</a:t>
            </a:r>
            <a:r>
              <a:rPr sz="1500" spc="251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making</a:t>
            </a:r>
            <a:r>
              <a:rPr sz="1500" spc="251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them</a:t>
            </a:r>
            <a:r>
              <a:rPr sz="1500" spc="251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unsuitable</a:t>
            </a:r>
            <a:r>
              <a:rPr sz="1500" spc="248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sz="1500" spc="251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1500" spc="-8" dirty="0">
                <a:solidFill>
                  <a:srgbClr val="212121"/>
                </a:solidFill>
                <a:latin typeface="Calibri"/>
                <a:cs typeface="Calibri"/>
              </a:rPr>
              <a:t>driving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transmission</a:t>
            </a:r>
            <a:r>
              <a:rPr sz="1500" spc="24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lines.</a:t>
            </a:r>
            <a:r>
              <a:rPr sz="1500" spc="24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This</a:t>
            </a:r>
            <a:r>
              <a:rPr sz="1500" spc="2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drawback</a:t>
            </a:r>
            <a:r>
              <a:rPr sz="1500" spc="236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z="1500" spc="24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usually</a:t>
            </a:r>
            <a:r>
              <a:rPr sz="1500" spc="2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overcome</a:t>
            </a:r>
            <a:r>
              <a:rPr sz="1500" spc="2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spc="-19" dirty="0">
                <a:solidFill>
                  <a:srgbClr val="212121"/>
                </a:solidFill>
                <a:latin typeface="Calibri"/>
                <a:cs typeface="Calibri"/>
              </a:rPr>
              <a:t>by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buffering</a:t>
            </a:r>
            <a:r>
              <a:rPr sz="15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1500" spc="-26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outputs</a:t>
            </a:r>
            <a:r>
              <a:rPr sz="1500" spc="-19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with</a:t>
            </a:r>
            <a:r>
              <a:rPr sz="1500" spc="-19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special</a:t>
            </a:r>
            <a:r>
              <a:rPr sz="15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212121"/>
                </a:solidFill>
                <a:latin typeface="Calibri"/>
                <a:cs typeface="Calibri"/>
              </a:rPr>
              <a:t>line-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driver</a:t>
            </a:r>
            <a:r>
              <a:rPr sz="1500" spc="-2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devices</a:t>
            </a:r>
            <a:r>
              <a:rPr sz="1500" spc="-2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212121"/>
                </a:solidFill>
                <a:latin typeface="Calibri"/>
                <a:cs typeface="Calibri"/>
              </a:rPr>
              <a:t>where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signals</a:t>
            </a:r>
            <a:r>
              <a:rPr sz="1500" spc="41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need</a:t>
            </a:r>
            <a:r>
              <a:rPr sz="1500" spc="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to</a:t>
            </a:r>
            <a:r>
              <a:rPr sz="1500" spc="3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be</a:t>
            </a:r>
            <a:r>
              <a:rPr sz="1500" spc="41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sent</a:t>
            </a:r>
            <a:r>
              <a:rPr sz="1500" spc="41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through</a:t>
            </a:r>
            <a:r>
              <a:rPr sz="1500" spc="3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cables.</a:t>
            </a:r>
            <a:r>
              <a:rPr sz="1500" spc="41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ECL,</a:t>
            </a:r>
            <a:r>
              <a:rPr sz="1500" spc="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by</a:t>
            </a:r>
            <a:r>
              <a:rPr sz="1500" spc="3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virtue</a:t>
            </a:r>
            <a:r>
              <a:rPr sz="1500" spc="41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1500" spc="3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spc="-19" dirty="0">
                <a:solidFill>
                  <a:srgbClr val="212121"/>
                </a:solidFill>
                <a:latin typeface="Calibri"/>
                <a:cs typeface="Calibri"/>
              </a:rPr>
              <a:t>its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symmetric</a:t>
            </a:r>
            <a:r>
              <a:rPr sz="1500" spc="49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212121"/>
                </a:solidFill>
                <a:latin typeface="Calibri"/>
                <a:cs typeface="Calibri"/>
              </a:rPr>
              <a:t>low-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impedance</a:t>
            </a:r>
            <a:r>
              <a:rPr sz="1500" spc="6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output</a:t>
            </a:r>
            <a:r>
              <a:rPr sz="1500" spc="5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structure,</a:t>
            </a:r>
            <a:r>
              <a:rPr sz="1500" spc="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does</a:t>
            </a:r>
            <a:r>
              <a:rPr sz="1500" spc="5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not</a:t>
            </a:r>
            <a:r>
              <a:rPr sz="1500" spc="53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212121"/>
                </a:solidFill>
                <a:latin typeface="Calibri"/>
                <a:cs typeface="Calibri"/>
              </a:rPr>
              <a:t>have </a:t>
            </a:r>
            <a:r>
              <a:rPr sz="1500" dirty="0">
                <a:solidFill>
                  <a:srgbClr val="212121"/>
                </a:solidFill>
                <a:latin typeface="Calibri"/>
                <a:cs typeface="Calibri"/>
              </a:rPr>
              <a:t>this</a:t>
            </a:r>
            <a:r>
              <a:rPr sz="1500" spc="-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500" spc="-8" dirty="0">
                <a:solidFill>
                  <a:srgbClr val="212121"/>
                </a:solidFill>
                <a:latin typeface="Calibri"/>
                <a:cs typeface="Calibri"/>
              </a:rPr>
              <a:t>drawback.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4602" y="1474470"/>
            <a:ext cx="3145843" cy="35930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254" y="3420685"/>
            <a:ext cx="3387662" cy="214245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67129" y="5344516"/>
            <a:ext cx="135731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900" spc="-19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5520" y="5322113"/>
            <a:ext cx="2112169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latin typeface="Calibri"/>
                <a:cs typeface="Calibri"/>
              </a:rPr>
              <a:t>(</a:t>
            </a:r>
            <a:r>
              <a:rPr sz="1500" b="1" spc="-38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BLOCK</a:t>
            </a:r>
            <a:r>
              <a:rPr sz="1500" b="1" spc="-41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DIAGRAM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OF</a:t>
            </a:r>
            <a:r>
              <a:rPr sz="1500" b="1" spc="-41" dirty="0">
                <a:latin typeface="Calibri"/>
                <a:cs typeface="Calibri"/>
              </a:rPr>
              <a:t> </a:t>
            </a:r>
            <a:r>
              <a:rPr sz="1500" b="1" spc="-15" dirty="0">
                <a:latin typeface="Calibri"/>
                <a:cs typeface="Calibri"/>
              </a:rPr>
              <a:t>TTL)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22</a:t>
            </a:fld>
            <a:endParaRPr spc="-19" dirty="0"/>
          </a:p>
        </p:txBody>
      </p:sp>
      <p:sp>
        <p:nvSpPr>
          <p:cNvPr id="2" name="object 2"/>
          <p:cNvSpPr txBox="1"/>
          <p:nvPr/>
        </p:nvSpPr>
        <p:spPr>
          <a:xfrm>
            <a:off x="886587" y="1643919"/>
            <a:ext cx="7613333" cy="408252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3361" marR="3810" indent="-214313" algn="just" defTabSz="685800">
              <a:spcBef>
                <a:spcPts val="75"/>
              </a:spcBef>
              <a:buFont typeface="Wingdings"/>
              <a:buChar char=""/>
              <a:tabLst>
                <a:tab pos="224314" algn="l"/>
              </a:tabLst>
            </a:pPr>
            <a:r>
              <a:rPr dirty="0">
                <a:latin typeface="Calibri"/>
                <a:cs typeface="Calibri"/>
              </a:rPr>
              <a:t>ECL</a:t>
            </a:r>
            <a:r>
              <a:rPr spc="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logic</a:t>
            </a:r>
            <a:r>
              <a:rPr spc="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family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implements</a:t>
            </a:r>
            <a:r>
              <a:rPr spc="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gates</a:t>
            </a:r>
            <a:r>
              <a:rPr spc="10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9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differential</a:t>
            </a:r>
            <a:r>
              <a:rPr spc="10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amplifier</a:t>
            </a:r>
            <a:r>
              <a:rPr spc="10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configuration</a:t>
            </a:r>
            <a:r>
              <a:rPr spc="94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in 	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13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transistors</a:t>
            </a:r>
            <a:r>
              <a:rPr spc="12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1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never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driven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13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saturation</a:t>
            </a:r>
            <a:r>
              <a:rPr spc="13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</a:t>
            </a:r>
            <a:r>
              <a:rPr spc="12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thereby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improving 	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speed</a:t>
            </a:r>
            <a:r>
              <a:rPr spc="3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3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circuit</a:t>
            </a:r>
            <a:r>
              <a:rPr spc="3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3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3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great</a:t>
            </a:r>
            <a:r>
              <a:rPr spc="3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extent.</a:t>
            </a:r>
            <a:r>
              <a:rPr spc="3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ECL</a:t>
            </a:r>
            <a:r>
              <a:rPr spc="3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family</a:t>
            </a:r>
            <a:r>
              <a:rPr spc="3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3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fastest</a:t>
            </a:r>
            <a:r>
              <a:rPr spc="3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3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32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logic 	families.</a:t>
            </a:r>
            <a:endParaRPr>
              <a:latin typeface="Calibri"/>
              <a:cs typeface="Calibri"/>
            </a:endParaRPr>
          </a:p>
          <a:p>
            <a:pPr marL="223361" marR="3810" indent="-214313" algn="just" defTabSz="685800">
              <a:spcBef>
                <a:spcPts val="2160"/>
              </a:spcBef>
              <a:buFont typeface="Wingdings"/>
              <a:buChar char=""/>
              <a:tabLst>
                <a:tab pos="224314" algn="l"/>
              </a:tabLst>
            </a:pPr>
            <a:r>
              <a:rPr dirty="0">
                <a:latin typeface="Calibri"/>
                <a:cs typeface="Calibri"/>
              </a:rPr>
              <a:t>Based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BJT,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removes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problems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delay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preventing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transistors 	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saturating.</a:t>
            </a:r>
            <a:endParaRPr>
              <a:latin typeface="Calibri"/>
              <a:cs typeface="Calibri"/>
            </a:endParaRPr>
          </a:p>
          <a:p>
            <a:pPr marL="223838" indent="-214313" defTabSz="685800">
              <a:spcBef>
                <a:spcPts val="2164"/>
              </a:spcBef>
              <a:buFont typeface="Wingdings"/>
              <a:buChar char=""/>
              <a:tabLst>
                <a:tab pos="223838" algn="l"/>
              </a:tabLst>
            </a:pPr>
            <a:r>
              <a:rPr spc="-15" dirty="0">
                <a:latin typeface="Calibri"/>
                <a:cs typeface="Calibri"/>
              </a:rPr>
              <a:t>Very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fast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operation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-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propagation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delays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1ns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less.</a:t>
            </a:r>
            <a:endParaRPr>
              <a:latin typeface="Calibri"/>
              <a:cs typeface="Calibri"/>
            </a:endParaRPr>
          </a:p>
          <a:p>
            <a:pPr marL="223838" indent="-214313" defTabSz="685800">
              <a:spcBef>
                <a:spcPts val="1800"/>
              </a:spcBef>
              <a:buFont typeface="Wingdings"/>
              <a:buChar char=""/>
              <a:tabLst>
                <a:tab pos="223838" algn="l"/>
              </a:tabLst>
            </a:pPr>
            <a:r>
              <a:rPr dirty="0">
                <a:latin typeface="Calibri"/>
                <a:cs typeface="Calibri"/>
              </a:rPr>
              <a:t>Low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noise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immunity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about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0.2-</a:t>
            </a:r>
            <a:r>
              <a:rPr dirty="0">
                <a:latin typeface="Calibri"/>
                <a:cs typeface="Calibri"/>
              </a:rPr>
              <a:t>0.25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</a:t>
            </a:r>
            <a:r>
              <a:rPr spc="-86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  <a:p>
            <a:pPr marL="224314" marR="79058" indent="-215265" algn="just" defTabSz="685800">
              <a:spcBef>
                <a:spcPts val="1800"/>
              </a:spcBef>
              <a:buFont typeface="Wingdings"/>
              <a:buChar char=""/>
              <a:tabLst>
                <a:tab pos="224314" algn="l"/>
                <a:tab pos="273844" algn="l"/>
              </a:tabLst>
            </a:pP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	The</a:t>
            </a:r>
            <a:r>
              <a:rPr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input</a:t>
            </a:r>
            <a:r>
              <a:rPr spc="-3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impedance</a:t>
            </a:r>
            <a:r>
              <a:rPr spc="-49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pc="-3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high</a:t>
            </a:r>
            <a:r>
              <a:rPr spc="-3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pc="-3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output</a:t>
            </a:r>
            <a:r>
              <a:rPr spc="-3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impedance</a:t>
            </a:r>
            <a:r>
              <a:rPr spc="-3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pc="-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212121"/>
                </a:solidFill>
                <a:latin typeface="Calibri"/>
                <a:cs typeface="Calibri"/>
              </a:rPr>
              <a:t>low.</a:t>
            </a:r>
            <a:r>
              <a:rPr spc="-34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As</a:t>
            </a:r>
            <a:r>
              <a:rPr spc="-3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pc="-41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result,</a:t>
            </a:r>
            <a:r>
              <a:rPr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pc="-19" dirty="0">
                <a:solidFill>
                  <a:srgbClr val="212121"/>
                </a:solidFill>
                <a:latin typeface="Calibri"/>
                <a:cs typeface="Calibri"/>
              </a:rPr>
              <a:t>the </a:t>
            </a:r>
            <a:r>
              <a:rPr spc="-8" dirty="0">
                <a:solidFill>
                  <a:srgbClr val="212121"/>
                </a:solidFill>
                <a:latin typeface="Calibri"/>
                <a:cs typeface="Calibri"/>
              </a:rPr>
              <a:t>transistors</a:t>
            </a:r>
            <a:r>
              <a:rPr spc="-71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change</a:t>
            </a:r>
            <a:r>
              <a:rPr spc="-38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212121"/>
                </a:solidFill>
                <a:latin typeface="Calibri"/>
                <a:cs typeface="Calibri"/>
              </a:rPr>
              <a:t>states</a:t>
            </a:r>
            <a:r>
              <a:rPr spc="-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212121"/>
                </a:solidFill>
                <a:latin typeface="Calibri"/>
                <a:cs typeface="Calibri"/>
              </a:rPr>
              <a:t>quickly</a:t>
            </a:r>
            <a:r>
              <a:rPr spc="-15" dirty="0">
                <a:latin typeface="Calibri"/>
                <a:cs typeface="Calibri"/>
              </a:rPr>
              <a:t>,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gate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delays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are</a:t>
            </a:r>
            <a:r>
              <a:rPr spc="-38" dirty="0">
                <a:solidFill>
                  <a:srgbClr val="212121"/>
                </a:solidFill>
                <a:latin typeface="Calibri"/>
                <a:cs typeface="Calibri"/>
              </a:rPr>
              <a:t> low,</a:t>
            </a:r>
            <a:r>
              <a:rPr spc="-49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pc="-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pc="-41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fan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out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212121"/>
                </a:solidFill>
                <a:latin typeface="Calibri"/>
                <a:cs typeface="Calibri"/>
              </a:rPr>
              <a:t>capability </a:t>
            </a:r>
            <a:r>
              <a:rPr dirty="0">
                <a:solidFill>
                  <a:srgbClr val="212121"/>
                </a:solidFill>
                <a:latin typeface="Calibri"/>
                <a:cs typeface="Calibri"/>
              </a:rPr>
              <a:t>is</a:t>
            </a:r>
            <a:r>
              <a:rPr spc="-19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srgbClr val="212121"/>
                </a:solidFill>
                <a:latin typeface="Calibri"/>
                <a:cs typeface="Calibri"/>
              </a:rPr>
              <a:t>high.</a:t>
            </a:r>
            <a:endParaRPr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8102270" cy="482113"/>
          </a:xfrm>
          <a:prstGeom prst="rect">
            <a:avLst/>
          </a:prstGeom>
        </p:spPr>
        <p:txBody>
          <a:bodyPr vert="horz" wrap="square" lIns="0" tIns="157410" rIns="0" bIns="0" rtlCol="0">
            <a:spAutoFit/>
          </a:bodyPr>
          <a:lstStyle/>
          <a:p>
            <a:pPr marL="2870359">
              <a:spcBef>
                <a:spcPts val="71"/>
              </a:spcBef>
            </a:pPr>
            <a:r>
              <a:rPr sz="2100" dirty="0"/>
              <a:t>Emitter</a:t>
            </a:r>
            <a:r>
              <a:rPr sz="2100" spc="-98" dirty="0"/>
              <a:t> </a:t>
            </a:r>
            <a:r>
              <a:rPr sz="2100" dirty="0"/>
              <a:t>Coupled</a:t>
            </a:r>
            <a:r>
              <a:rPr sz="2100" spc="-71" dirty="0"/>
              <a:t> </a:t>
            </a:r>
            <a:r>
              <a:rPr sz="2100" spc="-8" dirty="0"/>
              <a:t>Logic</a:t>
            </a:r>
            <a:endParaRPr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5781" y="2101437"/>
            <a:ext cx="107156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2659"/>
              </a:lnSpc>
            </a:pPr>
            <a:r>
              <a:rPr sz="2400" spc="-38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21539" y="4411409"/>
            <a:ext cx="1564481" cy="170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283"/>
              </a:lnSpc>
            </a:pPr>
            <a:r>
              <a:rPr sz="1350" dirty="0">
                <a:latin typeface="Calibri"/>
                <a:cs typeface="Calibri"/>
              </a:rPr>
              <a:t>(Block</a:t>
            </a:r>
            <a:r>
              <a:rPr sz="1350" spc="-3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Diagram</a:t>
            </a:r>
            <a:r>
              <a:rPr sz="1350" spc="-26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38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ECL)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0623" y="1247998"/>
            <a:ext cx="3819153" cy="4014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952" y="1807585"/>
            <a:ext cx="3594174" cy="10217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1003" y="3782951"/>
            <a:ext cx="1269170" cy="10217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29259" y="4055947"/>
            <a:ext cx="1361604" cy="62360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67730" y="5396865"/>
            <a:ext cx="226123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latin typeface="Calibri"/>
                <a:cs typeface="Calibri"/>
              </a:rPr>
              <a:t>(ECL</a:t>
            </a:r>
            <a:r>
              <a:rPr sz="1500" b="1" spc="-23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2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INPUT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OR/NOR</a:t>
            </a:r>
            <a:r>
              <a:rPr sz="1500" b="1" spc="-26" dirty="0">
                <a:latin typeface="Calibri"/>
                <a:cs typeface="Calibri"/>
              </a:rPr>
              <a:t> </a:t>
            </a:r>
            <a:r>
              <a:rPr sz="1500" b="1" spc="-15" dirty="0">
                <a:latin typeface="Calibri"/>
                <a:cs typeface="Calibri"/>
              </a:rPr>
              <a:t>GATE)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23</a:t>
            </a:fld>
            <a:endParaRPr spc="-19" dirty="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68005" y="1470431"/>
            <a:ext cx="1494473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b="1" dirty="0">
                <a:solidFill>
                  <a:srgbClr val="000000"/>
                </a:solidFill>
              </a:rPr>
              <a:t>(FUNCTION</a:t>
            </a:r>
            <a:r>
              <a:rPr sz="1500" b="1" spc="-60" dirty="0">
                <a:solidFill>
                  <a:srgbClr val="000000"/>
                </a:solidFill>
              </a:rPr>
              <a:t> </a:t>
            </a:r>
            <a:r>
              <a:rPr sz="1500" b="1" spc="-8" dirty="0">
                <a:solidFill>
                  <a:srgbClr val="000000"/>
                </a:solidFill>
              </a:rPr>
              <a:t>TABLE)</a:t>
            </a:r>
            <a:endParaRPr sz="1500"/>
          </a:p>
        </p:txBody>
      </p:sp>
      <p:sp>
        <p:nvSpPr>
          <p:cNvPr id="10" name="object 10"/>
          <p:cNvSpPr txBox="1"/>
          <p:nvPr/>
        </p:nvSpPr>
        <p:spPr>
          <a:xfrm>
            <a:off x="2649093" y="3466338"/>
            <a:ext cx="1331119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latin typeface="Calibri"/>
                <a:cs typeface="Calibri"/>
              </a:rPr>
              <a:t>(LOGIC</a:t>
            </a:r>
            <a:r>
              <a:rPr sz="1500" b="1" spc="-60" dirty="0">
                <a:latin typeface="Calibri"/>
                <a:cs typeface="Calibri"/>
              </a:rPr>
              <a:t> </a:t>
            </a:r>
            <a:r>
              <a:rPr sz="1500" b="1" spc="-8" dirty="0">
                <a:latin typeface="Calibri"/>
                <a:cs typeface="Calibri"/>
              </a:rPr>
              <a:t>SYMBOL)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5531" y="3410806"/>
            <a:ext cx="1195864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latin typeface="Calibri"/>
                <a:cs typeface="Calibri"/>
              </a:rPr>
              <a:t>(TRUTH</a:t>
            </a:r>
            <a:r>
              <a:rPr sz="1500" b="1" spc="-34" dirty="0">
                <a:latin typeface="Calibri"/>
                <a:cs typeface="Calibri"/>
              </a:rPr>
              <a:t> </a:t>
            </a:r>
            <a:r>
              <a:rPr sz="1500" b="1" spc="-15" dirty="0">
                <a:latin typeface="Calibri"/>
                <a:cs typeface="Calibri"/>
              </a:rPr>
              <a:t>TABLE)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24</a:t>
            </a:fld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6841350" cy="616187"/>
          </a:xfrm>
          <a:prstGeom prst="rect">
            <a:avLst/>
          </a:prstGeom>
        </p:spPr>
        <p:txBody>
          <a:bodyPr vert="horz" wrap="square" lIns="0" tIns="290188" rIns="0" bIns="0" rtlCol="0">
            <a:spAutoFit/>
          </a:bodyPr>
          <a:lstStyle/>
          <a:p>
            <a:pPr marL="2198846">
              <a:spcBef>
                <a:spcPts val="71"/>
              </a:spcBef>
            </a:pPr>
            <a:r>
              <a:rPr sz="2100" spc="-8" dirty="0"/>
              <a:t>Complimentary</a:t>
            </a:r>
            <a:r>
              <a:rPr sz="2100" spc="-64" dirty="0"/>
              <a:t> </a:t>
            </a:r>
            <a:r>
              <a:rPr sz="2100" dirty="0"/>
              <a:t>MOS</a:t>
            </a:r>
            <a:r>
              <a:rPr sz="2100" spc="-68" dirty="0"/>
              <a:t> </a:t>
            </a:r>
            <a:r>
              <a:rPr sz="2100" spc="-8" dirty="0"/>
              <a:t>(CMOS)</a:t>
            </a:r>
            <a:endParaRPr sz="2100" dirty="0"/>
          </a:p>
        </p:txBody>
      </p:sp>
      <p:sp>
        <p:nvSpPr>
          <p:cNvPr id="3" name="object 3"/>
          <p:cNvSpPr txBox="1"/>
          <p:nvPr/>
        </p:nvSpPr>
        <p:spPr>
          <a:xfrm>
            <a:off x="1216437" y="1842802"/>
            <a:ext cx="6644640" cy="335925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983" marR="3810" indent="-231458" defTabSz="685800">
              <a:spcBef>
                <a:spcPts val="75"/>
              </a:spcBef>
              <a:buFont typeface="Wingdings"/>
              <a:buChar char=""/>
              <a:tabLst>
                <a:tab pos="352425" algn="l"/>
              </a:tabLst>
            </a:pPr>
            <a:r>
              <a:rPr dirty="0">
                <a:latin typeface="Calibri"/>
                <a:cs typeface="Calibri"/>
              </a:rPr>
              <a:t>Considerably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lower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energy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consumption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than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TTL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ECL,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has 	</a:t>
            </a:r>
            <a:r>
              <a:rPr dirty="0">
                <a:latin typeface="Calibri"/>
                <a:cs typeface="Calibri"/>
              </a:rPr>
              <a:t>made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portable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electronics</a:t>
            </a:r>
            <a:r>
              <a:rPr spc="-71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possible.</a:t>
            </a:r>
            <a:endParaRPr>
              <a:latin typeface="Calibri"/>
              <a:cs typeface="Calibri"/>
            </a:endParaRPr>
          </a:p>
          <a:p>
            <a:pPr marL="240983" indent="-231458" defTabSz="685800">
              <a:spcBef>
                <a:spcPts val="2160"/>
              </a:spcBef>
              <a:buFont typeface="Wingdings"/>
              <a:buChar char=""/>
              <a:tabLst>
                <a:tab pos="240983" algn="l"/>
              </a:tabLst>
            </a:pPr>
            <a:r>
              <a:rPr dirty="0">
                <a:latin typeface="Calibri"/>
                <a:cs typeface="Calibri"/>
              </a:rPr>
              <a:t>Most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widely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family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large-</a:t>
            </a:r>
            <a:r>
              <a:rPr dirty="0">
                <a:latin typeface="Calibri"/>
                <a:cs typeface="Calibri"/>
              </a:rPr>
              <a:t>scale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devices</a:t>
            </a:r>
            <a:endParaRPr>
              <a:latin typeface="Calibri"/>
              <a:cs typeface="Calibri"/>
            </a:endParaRPr>
          </a:p>
          <a:p>
            <a:pPr marL="240983" indent="-231458" defTabSz="685800">
              <a:spcBef>
                <a:spcPts val="2160"/>
              </a:spcBef>
              <a:buFont typeface="Wingdings"/>
              <a:buChar char=""/>
              <a:tabLst>
                <a:tab pos="240983" algn="l"/>
              </a:tabLst>
            </a:pPr>
            <a:r>
              <a:rPr dirty="0">
                <a:latin typeface="Calibri"/>
                <a:cs typeface="Calibri"/>
              </a:rPr>
              <a:t>Combines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speed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low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power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consumption</a:t>
            </a:r>
            <a:endParaRPr>
              <a:latin typeface="Calibri"/>
              <a:cs typeface="Calibri"/>
            </a:endParaRPr>
          </a:p>
          <a:p>
            <a:pPr marL="240983" indent="-231458" defTabSz="685800">
              <a:spcBef>
                <a:spcPts val="2164"/>
              </a:spcBef>
              <a:buFont typeface="Wingdings"/>
              <a:buChar char=""/>
              <a:tabLst>
                <a:tab pos="240983" algn="l"/>
              </a:tabLst>
            </a:pPr>
            <a:r>
              <a:rPr dirty="0">
                <a:latin typeface="Calibri"/>
                <a:cs typeface="Calibri"/>
              </a:rPr>
              <a:t>Usually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operates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single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supply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–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15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V</a:t>
            </a:r>
            <a:endParaRPr>
              <a:latin typeface="Calibri"/>
              <a:cs typeface="Calibri"/>
            </a:endParaRPr>
          </a:p>
          <a:p>
            <a:pPr marL="240983" indent="-231458" defTabSz="685800">
              <a:spcBef>
                <a:spcPts val="2160"/>
              </a:spcBef>
              <a:buFont typeface="Wingdings"/>
              <a:buChar char=""/>
              <a:tabLst>
                <a:tab pos="240983" algn="l"/>
              </a:tabLst>
            </a:pPr>
            <a:r>
              <a:rPr spc="-8" dirty="0">
                <a:latin typeface="Calibri"/>
                <a:cs typeface="Calibri"/>
              </a:rPr>
              <a:t>Excellent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noise</a:t>
            </a:r>
            <a:r>
              <a:rPr spc="-1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immunity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about</a:t>
            </a:r>
            <a:r>
              <a:rPr spc="-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30%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supply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voltage</a:t>
            </a:r>
            <a:endParaRPr>
              <a:latin typeface="Calibri"/>
              <a:cs typeface="Calibri"/>
            </a:endParaRPr>
          </a:p>
          <a:p>
            <a:pPr marL="240983" indent="-231458" defTabSz="685800">
              <a:spcBef>
                <a:spcPts val="2160"/>
              </a:spcBef>
              <a:buFont typeface="Wingdings"/>
              <a:buChar char=""/>
              <a:tabLst>
                <a:tab pos="240983" algn="l"/>
              </a:tabLst>
            </a:pPr>
            <a:r>
              <a:rPr dirty="0">
                <a:latin typeface="Calibri"/>
                <a:cs typeface="Calibri"/>
              </a:rPr>
              <a:t>Can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connected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large</a:t>
            </a:r>
            <a:r>
              <a:rPr spc="-3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gates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(about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50)</a:t>
            </a:r>
            <a:r>
              <a:rPr spc="-41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.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285" y="1813755"/>
            <a:ext cx="8390192" cy="32158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7650" y="858013"/>
            <a:ext cx="4344115" cy="838306"/>
          </a:xfrm>
          <a:prstGeom prst="rect">
            <a:avLst/>
          </a:prstGeom>
        </p:spPr>
        <p:txBody>
          <a:bodyPr vert="horz" wrap="square" lIns="0" tIns="281559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dirty="0"/>
              <a:t>Some</a:t>
            </a:r>
            <a:r>
              <a:rPr sz="1800" b="1" spc="-75" dirty="0"/>
              <a:t> </a:t>
            </a:r>
            <a:r>
              <a:rPr sz="1800" b="1" spc="-8" dirty="0"/>
              <a:t>statistical</a:t>
            </a:r>
            <a:r>
              <a:rPr sz="1800" b="1" spc="-38" dirty="0"/>
              <a:t> </a:t>
            </a:r>
            <a:r>
              <a:rPr sz="1800" b="1" spc="-8" dirty="0"/>
              <a:t>characteristics</a:t>
            </a:r>
            <a:r>
              <a:rPr sz="1800" b="1" spc="-68" dirty="0"/>
              <a:t> </a:t>
            </a:r>
            <a:r>
              <a:rPr sz="1800" b="1" dirty="0"/>
              <a:t>data</a:t>
            </a:r>
            <a:r>
              <a:rPr sz="1800" b="1" spc="-45" dirty="0"/>
              <a:t> </a:t>
            </a:r>
            <a:r>
              <a:rPr sz="1800" b="1" dirty="0"/>
              <a:t>of</a:t>
            </a:r>
            <a:r>
              <a:rPr sz="1800" b="1" spc="-53" dirty="0"/>
              <a:t> </a:t>
            </a:r>
            <a:r>
              <a:rPr sz="1800" b="1" spc="-8" dirty="0"/>
              <a:t>different</a:t>
            </a:r>
            <a:r>
              <a:rPr sz="1800" b="1" spc="-53" dirty="0"/>
              <a:t> </a:t>
            </a:r>
            <a:r>
              <a:rPr sz="1800" b="1" dirty="0"/>
              <a:t>logic</a:t>
            </a:r>
            <a:r>
              <a:rPr sz="1800" b="1" spc="-64" dirty="0"/>
              <a:t> </a:t>
            </a:r>
            <a:r>
              <a:rPr sz="1800" b="1" spc="-8" dirty="0"/>
              <a:t>families</a:t>
            </a:r>
            <a:endParaRPr sz="1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6355151" y="5706161"/>
            <a:ext cx="137517" cy="232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" defTabSz="685800">
              <a:lnSpc>
                <a:spcPts val="930"/>
              </a:lnSpc>
            </a:pPr>
            <a:fld id="{81D60167-4931-47E6-BA6A-407CBD079E47}" type="slidenum">
              <a:rPr spc="-19" dirty="0"/>
              <a:pPr marL="28575" defTabSz="685800">
                <a:lnSpc>
                  <a:spcPts val="930"/>
                </a:lnSpc>
              </a:pPr>
              <a:t>25</a:t>
            </a:fld>
            <a:endParaRPr spc="-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1637</Words>
  <Application>Microsoft Office PowerPoint</Application>
  <PresentationFormat>On-screen Show (4:3)</PresentationFormat>
  <Paragraphs>201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MT</vt:lpstr>
      <vt:lpstr>Calibri</vt:lpstr>
      <vt:lpstr>Times New Roman</vt:lpstr>
      <vt:lpstr>Wingdings</vt:lpstr>
      <vt:lpstr>Office Theme</vt:lpstr>
      <vt:lpstr>1_Office Theme</vt:lpstr>
      <vt:lpstr>Digital Logic Families</vt:lpstr>
      <vt:lpstr>Integration Levels</vt:lpstr>
      <vt:lpstr>Moore’s law</vt:lpstr>
      <vt:lpstr>Classification</vt:lpstr>
      <vt:lpstr>In the beginning…</vt:lpstr>
      <vt:lpstr>was…</vt:lpstr>
      <vt:lpstr>Logic families: V levels</vt:lpstr>
      <vt:lpstr>Logic families: I requirements</vt:lpstr>
      <vt:lpstr>Fan In</vt:lpstr>
      <vt:lpstr>Logic families: fanout</vt:lpstr>
      <vt:lpstr>Propagation Delay</vt:lpstr>
      <vt:lpstr>Noise Margin</vt:lpstr>
      <vt:lpstr>Logic families: noise margin</vt:lpstr>
      <vt:lpstr>PowerPoint Presentation</vt:lpstr>
      <vt:lpstr>Transistor as a switch</vt:lpstr>
      <vt:lpstr>Resistor Transistor Logic(RTL)</vt:lpstr>
      <vt:lpstr>Advantages of RTL Logic circuit:</vt:lpstr>
      <vt:lpstr>Diode Transistor Logic</vt:lpstr>
      <vt:lpstr>Due to number of diodes</vt:lpstr>
      <vt:lpstr>Transistor Transistor Logic</vt:lpstr>
      <vt:lpstr>The output impedance is asymmetrical between the high</vt:lpstr>
      <vt:lpstr>Emitter Coupled Logic</vt:lpstr>
      <vt:lpstr>(FUNCTION TABLE)</vt:lpstr>
      <vt:lpstr>Complimentary MOS (CMOS)</vt:lpstr>
      <vt:lpstr>Some statistical characteristics data of different logic families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Manju Yadav</cp:lastModifiedBy>
  <cp:revision>1</cp:revision>
  <dcterms:created xsi:type="dcterms:W3CDTF">2025-07-23T01:57:07Z</dcterms:created>
  <dcterms:modified xsi:type="dcterms:W3CDTF">2025-07-23T02:57:27Z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2011-03-13T00:00:00Z</vt:filetime>
  </property>
  <property fmtid="{D5CDD505-2E9C-101B-9397-08002B2CF9AE}" pid="3" name="Creator">
    <vt:lpwstr>Acrobat PDFMaker 9.1 for PowerPoint</vt:lpwstr>
  </property>
  <property fmtid="{D5CDD505-2E9C-101B-9397-08002B2CF9AE}" pid="4" name="LastSaved">
    <vt:filetime>2025-07-23T00:00:00Z</vt:filetime>
  </property>
  <property fmtid="{D5CDD505-2E9C-101B-9397-08002B2CF9AE}" pid="5" name="Producer">
    <vt:lpwstr>Adobe PDF Library 9.0</vt:lpwstr>
  </property>
</Properties>
</file>