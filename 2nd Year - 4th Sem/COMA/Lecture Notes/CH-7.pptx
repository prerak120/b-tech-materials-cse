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handoutMasterIdLst>
    <p:handoutMasterId r:id="rId31"/>
  </p:handoutMasterIdLst>
  <p:sldIdLst>
    <p:sldId id="310" r:id="rId2"/>
    <p:sldId id="324" r:id="rId3"/>
    <p:sldId id="346" r:id="rId4"/>
    <p:sldId id="348" r:id="rId5"/>
    <p:sldId id="349" r:id="rId6"/>
    <p:sldId id="350" r:id="rId7"/>
    <p:sldId id="351" r:id="rId8"/>
    <p:sldId id="352" r:id="rId9"/>
    <p:sldId id="353" r:id="rId10"/>
    <p:sldId id="354" r:id="rId11"/>
    <p:sldId id="355" r:id="rId12"/>
    <p:sldId id="356" r:id="rId13"/>
    <p:sldId id="357" r:id="rId14"/>
    <p:sldId id="358" r:id="rId15"/>
    <p:sldId id="359" r:id="rId16"/>
    <p:sldId id="360" r:id="rId17"/>
    <p:sldId id="361" r:id="rId18"/>
    <p:sldId id="362" r:id="rId19"/>
    <p:sldId id="363" r:id="rId20"/>
    <p:sldId id="364" r:id="rId21"/>
    <p:sldId id="365" r:id="rId22"/>
    <p:sldId id="366" r:id="rId23"/>
    <p:sldId id="367" r:id="rId24"/>
    <p:sldId id="368" r:id="rId25"/>
    <p:sldId id="369" r:id="rId26"/>
    <p:sldId id="370" r:id="rId27"/>
    <p:sldId id="371" r:id="rId28"/>
    <p:sldId id="372" r:id="rId29"/>
  </p:sldIdLst>
  <p:sldSz cx="12192000" cy="6858000"/>
  <p:notesSz cx="6858000" cy="9144000"/>
  <p:embeddedFontLst>
    <p:embeddedFont>
      <p:font typeface="Calibri" panose="020F0502020204030204" pitchFamily="34" charset="0"/>
      <p:regular r:id="rId32"/>
      <p:bold r:id="rId33"/>
      <p:italic r:id="rId34"/>
      <p:boldItalic r:id="rId35"/>
    </p:embeddedFont>
    <p:embeddedFont>
      <p:font typeface="Cambria Math" panose="02040503050406030204" pitchFamily="18" charset="0"/>
      <p:regular r:id="rId36"/>
    </p:embeddedFont>
    <p:embeddedFont>
      <p:font typeface="Roboto Condensed" panose="02000000000000000000" pitchFamily="2" charset="0"/>
      <p:regular r:id="rId37"/>
      <p:bold r:id="rId38"/>
      <p:italic r:id="rId39"/>
      <p:boldItalic r:id="rId40"/>
    </p:embeddedFont>
    <p:embeddedFont>
      <p:font typeface="Roboto Condensed Light" panose="02000000000000000000" pitchFamily="2" charset="0"/>
      <p:regular r:id="rId41"/>
      <p:italic r:id="rId42"/>
    </p:embeddedFont>
    <p:embeddedFont>
      <p:font typeface="Wingdings 3" panose="05040102010807070707" pitchFamily="18" charset="2"/>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YB6qAzz1+6ZzT/etXJgCQg==" hashData="+sZoG+7O1G+XX2qYctZIqbFUZyaYrHb2cOfVrIUX68gZNoTuRycGrjgk6hMkY9NUndR5/iyzzvxN99inCNn95A=="/>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unal vyas" initials="kv" lastIdx="1" clrIdx="0">
    <p:extLst>
      <p:ext uri="{19B8F6BF-5375-455C-9EA6-DF929625EA0E}">
        <p15:presenceInfo xmlns:p15="http://schemas.microsoft.com/office/powerpoint/2012/main" userId="bf93b71aea7da0b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7D8B"/>
    <a:srgbClr val="301B92"/>
    <a:srgbClr val="673BB7"/>
    <a:srgbClr val="ED524F"/>
    <a:srgbClr val="B71B1C"/>
    <a:srgbClr val="F54337"/>
    <a:srgbClr val="D81A60"/>
    <a:srgbClr val="890E4F"/>
    <a:srgbClr val="EA1E63"/>
    <a:srgbClr val="C628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3842" autoAdjust="0"/>
  </p:normalViewPr>
  <p:slideViewPr>
    <p:cSldViewPr snapToGrid="0">
      <p:cViewPr varScale="1">
        <p:scale>
          <a:sx n="82" d="100"/>
          <a:sy n="82" d="100"/>
        </p:scale>
        <p:origin x="629" y="6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48" d="100"/>
          <a:sy n="48" d="100"/>
        </p:scale>
        <p:origin x="2676" y="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AB85114-151F-4DD3-A0B8-3D48A215911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11E6D90B-9A8F-485C-8292-FBB99BB4E9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F454983-44D3-45A8-9D86-0B9C45442AB1}" type="datetimeFigureOut">
              <a:rPr lang="en-IN" smtClean="0"/>
              <a:t>15-05-2021</a:t>
            </a:fld>
            <a:endParaRPr lang="en-IN"/>
          </a:p>
        </p:txBody>
      </p:sp>
      <p:sp>
        <p:nvSpPr>
          <p:cNvPr id="4" name="Footer Placeholder 3">
            <a:extLst>
              <a:ext uri="{FF2B5EF4-FFF2-40B4-BE49-F238E27FC236}">
                <a16:creationId xmlns:a16="http://schemas.microsoft.com/office/drawing/2014/main" id="{957CB2A6-6534-401E-8C5F-E86CDFCB3F4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94E556C-8D15-4673-BFA2-E8DEF4C2CB4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7C8025-BFE7-4B0B-BEDD-AFE1C976CB6D}" type="slidenum">
              <a:rPr lang="en-IN" smtClean="0"/>
              <a:t>‹#›</a:t>
            </a:fld>
            <a:endParaRPr lang="en-IN"/>
          </a:p>
        </p:txBody>
      </p:sp>
    </p:spTree>
    <p:extLst>
      <p:ext uri="{BB962C8B-B14F-4D97-AF65-F5344CB8AC3E}">
        <p14:creationId xmlns:p14="http://schemas.microsoft.com/office/powerpoint/2010/main" val="15385501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5/15/2021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C79BDEF-6165-4E72-B1A6-6E8034CEC248}" type="slidenum">
              <a:rPr lang="en-US" smtClean="0"/>
              <a:t>1</a:t>
            </a:fld>
            <a:endParaRPr lang="en-US"/>
          </a:p>
        </p:txBody>
      </p:sp>
    </p:spTree>
    <p:extLst>
      <p:ext uri="{BB962C8B-B14F-4D97-AF65-F5344CB8AC3E}">
        <p14:creationId xmlns:p14="http://schemas.microsoft.com/office/powerpoint/2010/main" val="2039549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C79BDEF-6165-4E72-B1A6-6E8034CEC248}" type="slidenum">
              <a:rPr lang="en-US" smtClean="0"/>
              <a:t>2</a:t>
            </a:fld>
            <a:endParaRPr lang="en-US"/>
          </a:p>
        </p:txBody>
      </p:sp>
    </p:spTree>
    <p:extLst>
      <p:ext uri="{BB962C8B-B14F-4D97-AF65-F5344CB8AC3E}">
        <p14:creationId xmlns:p14="http://schemas.microsoft.com/office/powerpoint/2010/main" val="355251752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6.png"/><Relationship Id="rId4" Type="http://schemas.microsoft.com/office/2007/relationships/hdphoto" Target="../media/hdphoto1.wdp"/></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1.png"/><Relationship Id="rId4" Type="http://schemas.openxmlformats.org/officeDocument/2006/relationships/image" Target="../media/image4.png"/><Relationship Id="rId9" Type="http://schemas.openxmlformats.org/officeDocument/2006/relationships/image" Target="../media/image9.jpe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2.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9576895" y="8611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 Memory Organization</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95768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id="{22BFC72C-E977-4BB4-A837-7262062EE226}"/>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 Memory Organization</a:t>
            </a:r>
          </a:p>
        </p:txBody>
      </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1" y="863444"/>
            <a:ext cx="11933000" cy="5635677"/>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1" name="Footer Placeholder 2">
            <a:extLst>
              <a:ext uri="{FF2B5EF4-FFF2-40B4-BE49-F238E27FC236}">
                <a16:creationId xmlns:a16="http://schemas.microsoft.com/office/drawing/2014/main" id="{E636D449-C547-4652-9D8A-FE2565660B77}"/>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 Memory Organization</a:t>
            </a:r>
          </a:p>
        </p:txBody>
      </p:sp>
    </p:spTree>
    <p:extLst>
      <p:ext uri="{BB962C8B-B14F-4D97-AF65-F5344CB8AC3E}">
        <p14:creationId xmlns:p14="http://schemas.microsoft.com/office/powerpoint/2010/main" val="1559823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1280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6C226DAF-A3C6-40FB-8F91-C7F7A713C3D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1" name="Slide Number Placeholder 3">
            <a:extLst>
              <a:ext uri="{FF2B5EF4-FFF2-40B4-BE49-F238E27FC236}">
                <a16:creationId xmlns:a16="http://schemas.microsoft.com/office/drawing/2014/main" id="{AC05D353-A70B-4687-8A49-D44BCD80FCA5}"/>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19" name="Footer Placeholder 2">
            <a:extLst>
              <a:ext uri="{FF2B5EF4-FFF2-40B4-BE49-F238E27FC236}">
                <a16:creationId xmlns:a16="http://schemas.microsoft.com/office/drawing/2014/main" id="{991DC949-34E4-492A-AC5D-DB2346D9EB2F}"/>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 Memory Organization</a:t>
            </a:r>
          </a:p>
        </p:txBody>
      </p:sp>
    </p:spTree>
    <p:extLst>
      <p:ext uri="{BB962C8B-B14F-4D97-AF65-F5344CB8AC3E}">
        <p14:creationId xmlns:p14="http://schemas.microsoft.com/office/powerpoint/2010/main" val="346862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9" name="Group 8">
            <a:extLst>
              <a:ext uri="{FF2B5EF4-FFF2-40B4-BE49-F238E27FC236}">
                <a16:creationId xmlns:a16="http://schemas.microsoft.com/office/drawing/2014/main" id="{2802A992-B18A-47D4-8497-02E7586DF58D}"/>
              </a:ext>
            </a:extLst>
          </p:cNvPr>
          <p:cNvGrpSpPr/>
          <p:nvPr userDrawn="1"/>
        </p:nvGrpSpPr>
        <p:grpSpPr>
          <a:xfrm>
            <a:off x="9437223" y="6087939"/>
            <a:ext cx="2554143" cy="587454"/>
            <a:chOff x="131177" y="5775962"/>
            <a:chExt cx="2530239" cy="581956"/>
          </a:xfrm>
        </p:grpSpPr>
        <p:pic>
          <p:nvPicPr>
            <p:cNvPr id="13" name="Picture 12">
              <a:extLst>
                <a:ext uri="{FF2B5EF4-FFF2-40B4-BE49-F238E27FC236}">
                  <a16:creationId xmlns:a16="http://schemas.microsoft.com/office/drawing/2014/main" id="{8DD61FEC-075B-4EDD-97CA-36E6F72630F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4" name="Rectangle 13">
              <a:extLst>
                <a:ext uri="{FF2B5EF4-FFF2-40B4-BE49-F238E27FC236}">
                  <a16:creationId xmlns:a16="http://schemas.microsoft.com/office/drawing/2014/main" id="{CB550E12-AA95-4B1B-A8D2-ED01E515FC43}"/>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17">
            <a:extLst>
              <a:ext uri="{FF2B5EF4-FFF2-40B4-BE49-F238E27FC236}">
                <a16:creationId xmlns:a16="http://schemas.microsoft.com/office/drawing/2014/main" id="{9C2E92C4-49EF-4D4D-A6B9-E157CCC2FFE0}"/>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2001692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Date Placeholder 1">
            <a:extLst>
              <a:ext uri="{FF2B5EF4-FFF2-40B4-BE49-F238E27FC236}">
                <a16:creationId xmlns:a16="http://schemas.microsoft.com/office/drawing/2014/main" id="{E1C651DC-CFA8-4914-92F1-1FF83E900B8B}"/>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19" name="Slide Number Placeholder 3">
            <a:extLst>
              <a:ext uri="{FF2B5EF4-FFF2-40B4-BE49-F238E27FC236}">
                <a16:creationId xmlns:a16="http://schemas.microsoft.com/office/drawing/2014/main" id="{E1B8BC83-3189-4BEF-9B76-E5B3BE752022}"/>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16" name="Footer Placeholder 2">
            <a:extLst>
              <a:ext uri="{FF2B5EF4-FFF2-40B4-BE49-F238E27FC236}">
                <a16:creationId xmlns:a16="http://schemas.microsoft.com/office/drawing/2014/main" id="{23C57E3C-4DCB-4CA7-A414-D92BD1A99DD0}"/>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 Memory Organization</a:t>
            </a:r>
          </a:p>
        </p:txBody>
      </p:sp>
    </p:spTree>
    <p:extLst>
      <p:ext uri="{BB962C8B-B14F-4D97-AF65-F5344CB8AC3E}">
        <p14:creationId xmlns:p14="http://schemas.microsoft.com/office/powerpoint/2010/main" val="2971972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id="{A378A2C8-EF9C-479C-ACF0-D9819B46DF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Date Placeholder 1">
            <a:extLst>
              <a:ext uri="{FF2B5EF4-FFF2-40B4-BE49-F238E27FC236}">
                <a16:creationId xmlns:a16="http://schemas.microsoft.com/office/drawing/2014/main" id="{3D54113D-A297-4D4F-B507-CA01E1459CB8}"/>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3" name="Slide Number Placeholder 3">
            <a:extLst>
              <a:ext uri="{FF2B5EF4-FFF2-40B4-BE49-F238E27FC236}">
                <a16:creationId xmlns:a16="http://schemas.microsoft.com/office/drawing/2014/main" id="{4DF0B2CA-0D59-41EF-8432-9E74D5B5179D}"/>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14" name="Footer Placeholder 2">
            <a:extLst>
              <a:ext uri="{FF2B5EF4-FFF2-40B4-BE49-F238E27FC236}">
                <a16:creationId xmlns:a16="http://schemas.microsoft.com/office/drawing/2014/main" id="{513D3B0B-3463-48E3-8911-5EE2BAF79B09}"/>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 Memory Organization</a:t>
            </a:r>
          </a:p>
        </p:txBody>
      </p:sp>
    </p:spTree>
    <p:extLst>
      <p:ext uri="{BB962C8B-B14F-4D97-AF65-F5344CB8AC3E}">
        <p14:creationId xmlns:p14="http://schemas.microsoft.com/office/powerpoint/2010/main" val="3206247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Date Placeholder 1">
            <a:extLst>
              <a:ext uri="{FF2B5EF4-FFF2-40B4-BE49-F238E27FC236}">
                <a16:creationId xmlns:a16="http://schemas.microsoft.com/office/drawing/2014/main" id="{AC9F0E07-E84B-4A94-8124-2A56A55F2AFE}"/>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19" name="Slide Number Placeholder 3">
            <a:extLst>
              <a:ext uri="{FF2B5EF4-FFF2-40B4-BE49-F238E27FC236}">
                <a16:creationId xmlns:a16="http://schemas.microsoft.com/office/drawing/2014/main" id="{4DBF1E76-977D-4892-ACFE-BC891B8F7A45}"/>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16" name="Footer Placeholder 2">
            <a:extLst>
              <a:ext uri="{FF2B5EF4-FFF2-40B4-BE49-F238E27FC236}">
                <a16:creationId xmlns:a16="http://schemas.microsoft.com/office/drawing/2014/main" id="{44C95566-3A37-4993-A5A4-C4286900E8E7}"/>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9 – Memory Organization</a:t>
            </a:r>
          </a:p>
        </p:txBody>
      </p:sp>
    </p:spTree>
    <p:extLst>
      <p:ext uri="{BB962C8B-B14F-4D97-AF65-F5344CB8AC3E}">
        <p14:creationId xmlns:p14="http://schemas.microsoft.com/office/powerpoint/2010/main" val="4243314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alpha val="91000"/>
                </a:srgbClr>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0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endParaRPr lang="en-US" dirty="0"/>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endParaRPr lang="en-US" dirty="0"/>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9" name="Picture 8">
            <a:extLst>
              <a:ext uri="{FF2B5EF4-FFF2-40B4-BE49-F238E27FC236}">
                <a16:creationId xmlns:a16="http://schemas.microsoft.com/office/drawing/2014/main" id="{E07803FA-3B47-4611-8387-305D7E1D16D7}"/>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7417892" y="1386529"/>
            <a:ext cx="4679915" cy="3509936"/>
          </a:xfrm>
          <a:prstGeom prst="rect">
            <a:avLst/>
          </a:prstGeom>
        </p:spPr>
      </p:pic>
    </p:spTree>
    <p:extLst>
      <p:ext uri="{BB962C8B-B14F-4D97-AF65-F5344CB8AC3E}">
        <p14:creationId xmlns:p14="http://schemas.microsoft.com/office/powerpoint/2010/main" val="3751881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5/15/2021</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92" r:id="rId4"/>
    <p:sldLayoutId id="2147483688" r:id="rId5"/>
    <p:sldLayoutId id="2147483671" r:id="rId6"/>
    <p:sldLayoutId id="2147483672" r:id="rId7"/>
    <p:sldLayoutId id="2147483689" r:id="rId8"/>
    <p:sldLayoutId id="2147483690" r:id="rId9"/>
    <p:sldLayoutId id="2147483673" r:id="rId10"/>
    <p:sldLayoutId id="2147483691" r:id="rId11"/>
    <p:sldLayoutId id="2147483674" r:id="rId12"/>
    <p:sldLayoutId id="2147483676" r:id="rId13"/>
    <p:sldLayoutId id="2147483677" r:id="rId14"/>
    <p:sldLayoutId id="2147483678" r:id="rId15"/>
    <p:sldLayoutId id="2147483679" r:id="rId16"/>
    <p:sldLayoutId id="2147483681" r:id="rId17"/>
    <p:sldLayoutId id="2147483683" r:id="rId18"/>
    <p:sldLayoutId id="2147483682" r:id="rId19"/>
    <p:sldLayoutId id="2147483684" r:id="rId20"/>
    <p:sldLayoutId id="2147483685" r:id="rId21"/>
    <p:sldLayoutId id="2147483686"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0.png"/><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5517B9A-CB15-4105-8DB6-3BE4CEF0C915}"/>
              </a:ext>
            </a:extLst>
          </p:cNvPr>
          <p:cNvSpPr>
            <a:spLocks noGrp="1"/>
          </p:cNvSpPr>
          <p:nvPr>
            <p:ph type="ctrTitle"/>
          </p:nvPr>
        </p:nvSpPr>
        <p:spPr>
          <a:xfrm>
            <a:off x="559490" y="1122364"/>
            <a:ext cx="7292423" cy="2578780"/>
          </a:xfrm>
        </p:spPr>
        <p:txBody>
          <a:bodyPr/>
          <a:lstStyle/>
          <a:p>
            <a:r>
              <a:rPr lang="en-US" sz="4400" b="0" dirty="0">
                <a:latin typeface="Roboto Condensed Light" panose="02000000000000000000" pitchFamily="2" charset="0"/>
                <a:ea typeface="Roboto Condensed Light" panose="02000000000000000000" pitchFamily="2" charset="0"/>
              </a:rPr>
              <a:t>Unit-9</a:t>
            </a:r>
            <a:r>
              <a:rPr lang="en-US" dirty="0"/>
              <a:t> </a:t>
            </a:r>
            <a:br>
              <a:rPr lang="en-US" dirty="0"/>
            </a:br>
            <a:r>
              <a:rPr lang="en-US" sz="5400" dirty="0"/>
              <a:t>Memory Organization</a:t>
            </a:r>
            <a:endParaRPr lang="en-US" dirty="0"/>
          </a:p>
        </p:txBody>
      </p:sp>
      <p:sp>
        <p:nvSpPr>
          <p:cNvPr id="10" name="Text Placeholder 9">
            <a:extLst>
              <a:ext uri="{FF2B5EF4-FFF2-40B4-BE49-F238E27FC236}">
                <a16:creationId xmlns:a16="http://schemas.microsoft.com/office/drawing/2014/main" id="{C082D7EB-29EC-46FF-A7B0-A0D59D247AEB}"/>
              </a:ext>
            </a:extLst>
          </p:cNvPr>
          <p:cNvSpPr>
            <a:spLocks noGrp="1"/>
          </p:cNvSpPr>
          <p:nvPr>
            <p:ph type="body" sz="quarter" idx="11"/>
          </p:nvPr>
        </p:nvSpPr>
        <p:spPr/>
        <p:txBody>
          <a:bodyPr/>
          <a:lstStyle/>
          <a:p>
            <a:r>
              <a:rPr lang="en-US" dirty="0"/>
              <a:t>krunal.vyas@darshan.ac.in</a:t>
            </a:r>
          </a:p>
        </p:txBody>
      </p:sp>
      <p:sp>
        <p:nvSpPr>
          <p:cNvPr id="11" name="Text Placeholder 10">
            <a:extLst>
              <a:ext uri="{FF2B5EF4-FFF2-40B4-BE49-F238E27FC236}">
                <a16:creationId xmlns:a16="http://schemas.microsoft.com/office/drawing/2014/main" id="{AA546C7D-5FAD-4283-8D6D-335B9785575B}"/>
              </a:ext>
            </a:extLst>
          </p:cNvPr>
          <p:cNvSpPr>
            <a:spLocks noGrp="1"/>
          </p:cNvSpPr>
          <p:nvPr>
            <p:ph type="body" sz="quarter" idx="12"/>
          </p:nvPr>
        </p:nvSpPr>
        <p:spPr/>
        <p:txBody>
          <a:bodyPr/>
          <a:lstStyle/>
          <a:p>
            <a:r>
              <a:rPr lang="en-US" dirty="0"/>
              <a:t>9601901005</a:t>
            </a:r>
          </a:p>
        </p:txBody>
      </p:sp>
      <p:sp>
        <p:nvSpPr>
          <p:cNvPr id="12" name="Text Placeholder 11">
            <a:extLst>
              <a:ext uri="{FF2B5EF4-FFF2-40B4-BE49-F238E27FC236}">
                <a16:creationId xmlns:a16="http://schemas.microsoft.com/office/drawing/2014/main" id="{E122C0AC-FE99-4050-96C1-834C68B58208}"/>
              </a:ext>
            </a:extLst>
          </p:cNvPr>
          <p:cNvSpPr>
            <a:spLocks noGrp="1"/>
          </p:cNvSpPr>
          <p:nvPr>
            <p:ph type="body" sz="quarter" idx="13"/>
          </p:nvPr>
        </p:nvSpPr>
        <p:spPr/>
        <p:txBody>
          <a:bodyPr/>
          <a:lstStyle/>
          <a:p>
            <a:r>
              <a:rPr lang="en-US" dirty="0"/>
              <a:t>Computer Engineering Department</a:t>
            </a:r>
          </a:p>
        </p:txBody>
      </p:sp>
      <p:sp>
        <p:nvSpPr>
          <p:cNvPr id="13" name="Text Placeholder 12">
            <a:extLst>
              <a:ext uri="{FF2B5EF4-FFF2-40B4-BE49-F238E27FC236}">
                <a16:creationId xmlns:a16="http://schemas.microsoft.com/office/drawing/2014/main" id="{4747B24B-6BDC-4D9B-A81D-E04AD86D9990}"/>
              </a:ext>
            </a:extLst>
          </p:cNvPr>
          <p:cNvSpPr>
            <a:spLocks noGrp="1"/>
          </p:cNvSpPr>
          <p:nvPr>
            <p:ph type="body" sz="quarter" idx="14"/>
          </p:nvPr>
        </p:nvSpPr>
        <p:spPr/>
        <p:txBody>
          <a:bodyPr/>
          <a:lstStyle/>
          <a:p>
            <a:r>
              <a:rPr lang="en-US" dirty="0"/>
              <a:t>Prof. Krunal D. Vyas</a:t>
            </a:r>
          </a:p>
        </p:txBody>
      </p:sp>
      <p:sp>
        <p:nvSpPr>
          <p:cNvPr id="14" name="Text Placeholder 13">
            <a:extLst>
              <a:ext uri="{FF2B5EF4-FFF2-40B4-BE49-F238E27FC236}">
                <a16:creationId xmlns:a16="http://schemas.microsoft.com/office/drawing/2014/main" id="{38247361-D1B1-496C-91FD-362FC4744130}"/>
              </a:ext>
            </a:extLst>
          </p:cNvPr>
          <p:cNvSpPr>
            <a:spLocks noGrp="1"/>
          </p:cNvSpPr>
          <p:nvPr>
            <p:ph type="body" sz="quarter" idx="16"/>
          </p:nvPr>
        </p:nvSpPr>
        <p:spPr/>
        <p:txBody>
          <a:bodyPr/>
          <a:lstStyle/>
          <a:p>
            <a:r>
              <a:rPr lang="en-US" b="1" dirty="0"/>
              <a:t>Computer Organization &amp; Architecture</a:t>
            </a:r>
            <a:r>
              <a:rPr lang="en-US" dirty="0">
                <a:latin typeface="Roboto Condensed Light" panose="02000000000000000000" pitchFamily="2" charset="0"/>
                <a:ea typeface="Roboto Condensed Light" panose="02000000000000000000" pitchFamily="2" charset="0"/>
              </a:rPr>
              <a:t> (COA)</a:t>
            </a:r>
          </a:p>
          <a:p>
            <a:r>
              <a:rPr lang="en-US" dirty="0">
                <a:latin typeface="Roboto Condensed Light" panose="02000000000000000000" pitchFamily="2" charset="0"/>
                <a:ea typeface="Roboto Condensed Light" panose="02000000000000000000" pitchFamily="2" charset="0"/>
              </a:rPr>
              <a:t>GTU # 3140707</a:t>
            </a:r>
          </a:p>
        </p:txBody>
      </p:sp>
      <p:pic>
        <p:nvPicPr>
          <p:cNvPr id="9" name="Picture Placeholder 8">
            <a:extLst>
              <a:ext uri="{FF2B5EF4-FFF2-40B4-BE49-F238E27FC236}">
                <a16:creationId xmlns:a16="http://schemas.microsoft.com/office/drawing/2014/main" id="{C7FA3FA8-B6EF-43CB-89FE-A5F553A36809}"/>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3333740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24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669714"/>
            <a:ext cx="4552849" cy="3046988"/>
          </a:xfrm>
          <a:prstGeom prst="rect">
            <a:avLst/>
          </a:prstGeom>
          <a:noFill/>
        </p:spPr>
        <p:txBody>
          <a:bodyPr wrap="none" rtlCol="0">
            <a:spAutoFit/>
          </a:bodyPr>
          <a:lstStyle/>
          <a:p>
            <a:r>
              <a:rPr lang="en-US" sz="2400" b="1" dirty="0"/>
              <a:t>Outline</a:t>
            </a:r>
          </a:p>
          <a:p>
            <a:pPr marL="742950" lvl="1" indent="-285750">
              <a:buFont typeface="Arial" panose="020B0604020202020204" pitchFamily="34" charset="0"/>
              <a:buChar char="•"/>
            </a:pPr>
            <a:r>
              <a:rPr lang="en-US" sz="2400" dirty="0">
                <a:solidFill>
                  <a:schemeClr val="bg1">
                    <a:lumMod val="50000"/>
                  </a:schemeClr>
                </a:solidFill>
              </a:rPr>
              <a:t>Memory Hierarchy</a:t>
            </a:r>
          </a:p>
          <a:p>
            <a:pPr marL="742950" lvl="1" indent="-285750">
              <a:buFont typeface="Arial" panose="020B0604020202020204" pitchFamily="34" charset="0"/>
              <a:buChar char="•"/>
            </a:pPr>
            <a:r>
              <a:rPr lang="en-US" sz="2400" dirty="0">
                <a:solidFill>
                  <a:schemeClr val="bg1">
                    <a:lumMod val="50000"/>
                  </a:schemeClr>
                </a:solidFill>
              </a:rPr>
              <a:t>Main Memory</a:t>
            </a:r>
          </a:p>
          <a:p>
            <a:pPr marL="742950" lvl="1" indent="-285750">
              <a:buFont typeface="Arial" panose="020B0604020202020204" pitchFamily="34" charset="0"/>
              <a:buChar char="•"/>
            </a:pPr>
            <a:r>
              <a:rPr lang="en-US" sz="2400" dirty="0">
                <a:solidFill>
                  <a:schemeClr val="bg1">
                    <a:lumMod val="50000"/>
                  </a:schemeClr>
                </a:solidFill>
              </a:rPr>
              <a:t>Auxiliary Memory</a:t>
            </a:r>
          </a:p>
          <a:p>
            <a:pPr marL="742950" lvl="1" indent="-285750">
              <a:buFont typeface="Arial" panose="020B0604020202020204" pitchFamily="34" charset="0"/>
              <a:buChar char="•"/>
            </a:pPr>
            <a:r>
              <a:rPr lang="en-US" sz="2400" dirty="0">
                <a:solidFill>
                  <a:schemeClr val="bg1">
                    <a:lumMod val="50000"/>
                  </a:schemeClr>
                </a:solidFill>
              </a:rPr>
              <a:t>Associative Memory</a:t>
            </a:r>
          </a:p>
          <a:p>
            <a:pPr marL="742950" lvl="1" indent="-285750">
              <a:buFont typeface="Arial" panose="020B0604020202020204" pitchFamily="34" charset="0"/>
              <a:buChar char="•"/>
            </a:pPr>
            <a:r>
              <a:rPr lang="en-US" sz="2400" dirty="0">
                <a:solidFill>
                  <a:schemeClr val="bg1">
                    <a:lumMod val="50000"/>
                  </a:schemeClr>
                </a:solidFill>
              </a:rPr>
              <a:t>Cache Memory</a:t>
            </a:r>
          </a:p>
          <a:p>
            <a:pPr marL="742950" lvl="1" indent="-285750">
              <a:buFont typeface="Arial" panose="020B0604020202020204" pitchFamily="34" charset="0"/>
              <a:buChar char="•"/>
            </a:pPr>
            <a:r>
              <a:rPr lang="en-US" sz="2400" dirty="0">
                <a:solidFill>
                  <a:schemeClr val="bg1">
                    <a:lumMod val="50000"/>
                  </a:schemeClr>
                </a:solidFill>
              </a:rPr>
              <a:t>Virtual Memory</a:t>
            </a:r>
          </a:p>
          <a:p>
            <a:pPr marL="742950" lvl="1" indent="-285750">
              <a:buFont typeface="Arial" panose="020B0604020202020204" pitchFamily="34" charset="0"/>
              <a:buChar char="•"/>
            </a:pPr>
            <a:r>
              <a:rPr lang="en-US" sz="2400" dirty="0">
                <a:solidFill>
                  <a:schemeClr val="bg1">
                    <a:lumMod val="50000"/>
                  </a:schemeClr>
                </a:solidFill>
              </a:rPr>
              <a:t>Questions asked in GTU exam</a:t>
            </a:r>
          </a:p>
        </p:txBody>
      </p:sp>
    </p:spTree>
    <p:extLst>
      <p:ext uri="{BB962C8B-B14F-4D97-AF65-F5344CB8AC3E}">
        <p14:creationId xmlns:p14="http://schemas.microsoft.com/office/powerpoint/2010/main" val="1033716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Memory Hierarchy</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- 1</a:t>
            </a:r>
          </a:p>
        </p:txBody>
      </p:sp>
    </p:spTree>
    <p:extLst>
      <p:ext uri="{BB962C8B-B14F-4D97-AF65-F5344CB8AC3E}">
        <p14:creationId xmlns:p14="http://schemas.microsoft.com/office/powerpoint/2010/main" val="761071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6421F-6C08-4247-AF1A-E3603EE5CB0E}"/>
              </a:ext>
            </a:extLst>
          </p:cNvPr>
          <p:cNvSpPr>
            <a:spLocks noGrp="1"/>
          </p:cNvSpPr>
          <p:nvPr>
            <p:ph type="title"/>
          </p:nvPr>
        </p:nvSpPr>
        <p:spPr/>
        <p:txBody>
          <a:bodyPr>
            <a:normAutofit/>
          </a:bodyPr>
          <a:lstStyle/>
          <a:p>
            <a:r>
              <a:rPr lang="en-US" dirty="0"/>
              <a:t>Memory Hierarchy</a:t>
            </a:r>
            <a:endParaRPr lang="en-IN" dirty="0"/>
          </a:p>
        </p:txBody>
      </p:sp>
      <p:sp>
        <p:nvSpPr>
          <p:cNvPr id="6" name="Rectangle 5">
            <a:extLst>
              <a:ext uri="{FF2B5EF4-FFF2-40B4-BE49-F238E27FC236}">
                <a16:creationId xmlns:a16="http://schemas.microsoft.com/office/drawing/2014/main" id="{93F87577-9D77-413A-8803-6255360B5D9B}"/>
              </a:ext>
            </a:extLst>
          </p:cNvPr>
          <p:cNvSpPr/>
          <p:nvPr/>
        </p:nvSpPr>
        <p:spPr>
          <a:xfrm>
            <a:off x="2188278" y="1593111"/>
            <a:ext cx="1574381" cy="818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Magnetic </a:t>
            </a:r>
          </a:p>
          <a:p>
            <a:pPr algn="ctr"/>
            <a:r>
              <a:rPr lang="en-US" dirty="0"/>
              <a:t>tapes</a:t>
            </a:r>
            <a:endParaRPr lang="en-IN" dirty="0"/>
          </a:p>
        </p:txBody>
      </p:sp>
      <p:sp>
        <p:nvSpPr>
          <p:cNvPr id="7" name="Rectangle 6">
            <a:extLst>
              <a:ext uri="{FF2B5EF4-FFF2-40B4-BE49-F238E27FC236}">
                <a16:creationId xmlns:a16="http://schemas.microsoft.com/office/drawing/2014/main" id="{5FDCE46E-F367-4745-A8C4-05E87E572B09}"/>
              </a:ext>
            </a:extLst>
          </p:cNvPr>
          <p:cNvSpPr/>
          <p:nvPr/>
        </p:nvSpPr>
        <p:spPr>
          <a:xfrm>
            <a:off x="2188278" y="2583711"/>
            <a:ext cx="1574381" cy="818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Magnetic </a:t>
            </a:r>
          </a:p>
          <a:p>
            <a:pPr algn="ctr"/>
            <a:r>
              <a:rPr lang="en-US" dirty="0"/>
              <a:t>disks</a:t>
            </a:r>
            <a:endParaRPr lang="en-IN" dirty="0"/>
          </a:p>
        </p:txBody>
      </p:sp>
      <p:sp>
        <p:nvSpPr>
          <p:cNvPr id="8" name="Rectangle 7">
            <a:extLst>
              <a:ext uri="{FF2B5EF4-FFF2-40B4-BE49-F238E27FC236}">
                <a16:creationId xmlns:a16="http://schemas.microsoft.com/office/drawing/2014/main" id="{D8427F5B-FA6D-4FB1-8DAA-F0D489470827}"/>
              </a:ext>
            </a:extLst>
          </p:cNvPr>
          <p:cNvSpPr/>
          <p:nvPr/>
        </p:nvSpPr>
        <p:spPr>
          <a:xfrm>
            <a:off x="4766168" y="1928424"/>
            <a:ext cx="1905001" cy="118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I/O processor</a:t>
            </a:r>
            <a:endParaRPr lang="en-IN" dirty="0"/>
          </a:p>
        </p:txBody>
      </p:sp>
      <p:sp>
        <p:nvSpPr>
          <p:cNvPr id="9" name="Rectangle 8">
            <a:extLst>
              <a:ext uri="{FF2B5EF4-FFF2-40B4-BE49-F238E27FC236}">
                <a16:creationId xmlns:a16="http://schemas.microsoft.com/office/drawing/2014/main" id="{2968FA9D-EAF7-4EA3-AB27-74E02778322B}"/>
              </a:ext>
            </a:extLst>
          </p:cNvPr>
          <p:cNvSpPr/>
          <p:nvPr/>
        </p:nvSpPr>
        <p:spPr>
          <a:xfrm>
            <a:off x="7661768" y="1928424"/>
            <a:ext cx="1574381" cy="118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a:t>
            </a:r>
          </a:p>
          <a:p>
            <a:pPr algn="ctr"/>
            <a:r>
              <a:rPr lang="en-US" dirty="0"/>
              <a:t>memory</a:t>
            </a:r>
            <a:endParaRPr lang="en-IN" dirty="0"/>
          </a:p>
        </p:txBody>
      </p:sp>
      <p:sp>
        <p:nvSpPr>
          <p:cNvPr id="10" name="Rectangle 9">
            <a:extLst>
              <a:ext uri="{FF2B5EF4-FFF2-40B4-BE49-F238E27FC236}">
                <a16:creationId xmlns:a16="http://schemas.microsoft.com/office/drawing/2014/main" id="{74A71263-C2BA-4BC4-B7D4-A8DAE3066D6A}"/>
              </a:ext>
            </a:extLst>
          </p:cNvPr>
          <p:cNvSpPr/>
          <p:nvPr/>
        </p:nvSpPr>
        <p:spPr>
          <a:xfrm>
            <a:off x="7661768" y="3955310"/>
            <a:ext cx="1574381" cy="90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Cache</a:t>
            </a:r>
          </a:p>
          <a:p>
            <a:pPr algn="ctr"/>
            <a:r>
              <a:rPr lang="en-US" dirty="0"/>
              <a:t>memory</a:t>
            </a:r>
            <a:endParaRPr lang="en-IN" dirty="0"/>
          </a:p>
        </p:txBody>
      </p:sp>
      <p:sp>
        <p:nvSpPr>
          <p:cNvPr id="11" name="Rectangle 10">
            <a:extLst>
              <a:ext uri="{FF2B5EF4-FFF2-40B4-BE49-F238E27FC236}">
                <a16:creationId xmlns:a16="http://schemas.microsoft.com/office/drawing/2014/main" id="{1198EB54-34E1-4FF4-977E-4D1160B5355D}"/>
              </a:ext>
            </a:extLst>
          </p:cNvPr>
          <p:cNvSpPr/>
          <p:nvPr/>
        </p:nvSpPr>
        <p:spPr>
          <a:xfrm>
            <a:off x="4766167" y="3955311"/>
            <a:ext cx="1905001" cy="90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CPU</a:t>
            </a:r>
            <a:endParaRPr lang="en-IN" dirty="0"/>
          </a:p>
        </p:txBody>
      </p:sp>
      <p:cxnSp>
        <p:nvCxnSpPr>
          <p:cNvPr id="12" name="Straight Arrow Connector 11">
            <a:extLst>
              <a:ext uri="{FF2B5EF4-FFF2-40B4-BE49-F238E27FC236}">
                <a16:creationId xmlns:a16="http://schemas.microsoft.com/office/drawing/2014/main" id="{F6BE3E92-6815-44E1-94A6-9329BF95E665}"/>
              </a:ext>
            </a:extLst>
          </p:cNvPr>
          <p:cNvCxnSpPr>
            <a:cxnSpLocks/>
          </p:cNvCxnSpPr>
          <p:nvPr/>
        </p:nvCxnSpPr>
        <p:spPr>
          <a:xfrm flipV="1">
            <a:off x="3762659" y="2101187"/>
            <a:ext cx="1003508" cy="1"/>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5189E2C-6351-45FC-B66E-B70C2D559F9F}"/>
              </a:ext>
            </a:extLst>
          </p:cNvPr>
          <p:cNvCxnSpPr/>
          <p:nvPr/>
        </p:nvCxnSpPr>
        <p:spPr>
          <a:xfrm flipV="1">
            <a:off x="3762659" y="2947362"/>
            <a:ext cx="1003508" cy="1"/>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C975974-302E-4579-8EC2-37AA3B720CBA}"/>
              </a:ext>
            </a:extLst>
          </p:cNvPr>
          <p:cNvCxnSpPr>
            <a:cxnSpLocks/>
          </p:cNvCxnSpPr>
          <p:nvPr/>
        </p:nvCxnSpPr>
        <p:spPr>
          <a:xfrm flipV="1">
            <a:off x="6671170" y="2271153"/>
            <a:ext cx="1003508" cy="1"/>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3A7E7CA-3278-45DE-BD3D-AE81A0EE7332}"/>
              </a:ext>
            </a:extLst>
          </p:cNvPr>
          <p:cNvCxnSpPr>
            <a:cxnSpLocks/>
          </p:cNvCxnSpPr>
          <p:nvPr/>
        </p:nvCxnSpPr>
        <p:spPr>
          <a:xfrm flipV="1">
            <a:off x="6661231" y="4641111"/>
            <a:ext cx="1003508" cy="1"/>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5668E3C-6533-4776-8C5F-740AAE3976A6}"/>
              </a:ext>
            </a:extLst>
          </p:cNvPr>
          <p:cNvCxnSpPr>
            <a:cxnSpLocks/>
          </p:cNvCxnSpPr>
          <p:nvPr/>
        </p:nvCxnSpPr>
        <p:spPr>
          <a:xfrm rot="5400000" flipV="1">
            <a:off x="8028332" y="3530424"/>
            <a:ext cx="828000" cy="1"/>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B4CF08E-DC30-407F-A20A-EFEEE3C221B5}"/>
              </a:ext>
            </a:extLst>
          </p:cNvPr>
          <p:cNvCxnSpPr>
            <a:cxnSpLocks/>
          </p:cNvCxnSpPr>
          <p:nvPr/>
        </p:nvCxnSpPr>
        <p:spPr>
          <a:xfrm flipH="1">
            <a:off x="6671168" y="4260111"/>
            <a:ext cx="504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F719DFC-29EA-4B0B-BAB1-3C1461DC1543}"/>
              </a:ext>
            </a:extLst>
          </p:cNvPr>
          <p:cNvCxnSpPr>
            <a:cxnSpLocks/>
          </p:cNvCxnSpPr>
          <p:nvPr/>
        </p:nvCxnSpPr>
        <p:spPr>
          <a:xfrm>
            <a:off x="7160195" y="2812311"/>
            <a:ext cx="504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DB8527E-0A90-4A2F-BD17-0E9C5EF18CBE}"/>
              </a:ext>
            </a:extLst>
          </p:cNvPr>
          <p:cNvCxnSpPr/>
          <p:nvPr/>
        </p:nvCxnSpPr>
        <p:spPr>
          <a:xfrm>
            <a:off x="7170921" y="2812311"/>
            <a:ext cx="0" cy="144000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1880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Main Memory</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- 2</a:t>
            </a:r>
          </a:p>
        </p:txBody>
      </p:sp>
    </p:spTree>
    <p:extLst>
      <p:ext uri="{BB962C8B-B14F-4D97-AF65-F5344CB8AC3E}">
        <p14:creationId xmlns:p14="http://schemas.microsoft.com/office/powerpoint/2010/main" val="2106471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167269-BD8D-4F0E-89A8-B75F8A491207}"/>
              </a:ext>
            </a:extLst>
          </p:cNvPr>
          <p:cNvSpPr>
            <a:spLocks noGrp="1"/>
          </p:cNvSpPr>
          <p:nvPr>
            <p:ph type="title"/>
          </p:nvPr>
        </p:nvSpPr>
        <p:spPr/>
        <p:txBody>
          <a:bodyPr/>
          <a:lstStyle/>
          <a:p>
            <a:r>
              <a:rPr lang="en-IN" dirty="0"/>
              <a:t>Random access memory (RAM)</a:t>
            </a:r>
          </a:p>
        </p:txBody>
      </p:sp>
      <p:sp>
        <p:nvSpPr>
          <p:cNvPr id="5" name="Content Placeholder 4">
            <a:extLst>
              <a:ext uri="{FF2B5EF4-FFF2-40B4-BE49-F238E27FC236}">
                <a16:creationId xmlns:a16="http://schemas.microsoft.com/office/drawing/2014/main" id="{92AD592B-515D-4BF5-90A2-AD98CB39ECC5}"/>
              </a:ext>
            </a:extLst>
          </p:cNvPr>
          <p:cNvSpPr>
            <a:spLocks noGrp="1"/>
          </p:cNvSpPr>
          <p:nvPr>
            <p:ph idx="1"/>
          </p:nvPr>
        </p:nvSpPr>
        <p:spPr/>
        <p:txBody>
          <a:bodyPr/>
          <a:lstStyle/>
          <a:p>
            <a:pPr algn="just"/>
            <a:r>
              <a:rPr lang="en-US" dirty="0"/>
              <a:t>Used in computers for the temporary storage of programs and data.</a:t>
            </a:r>
          </a:p>
          <a:p>
            <a:pPr algn="just"/>
            <a:r>
              <a:rPr lang="en-US" dirty="0"/>
              <a:t>Read and write both operations are performed by RAM which requires fast cycle times as not to slow down the computer operation.</a:t>
            </a:r>
          </a:p>
          <a:p>
            <a:pPr algn="just"/>
            <a:r>
              <a:rPr lang="en-US" dirty="0"/>
              <a:t>It is volatile and lose all stored information if power is interrupted or turned off.</a:t>
            </a:r>
          </a:p>
          <a:p>
            <a:pPr algn="just"/>
            <a:r>
              <a:rPr lang="en-US" dirty="0"/>
              <a:t>RAMs typically come with word capacities of 1K, 4K, 8K, 16K, etc.. and word sizes of 1, 4 or 8-bits.</a:t>
            </a:r>
          </a:p>
          <a:p>
            <a:pPr algn="just"/>
            <a:r>
              <a:rPr lang="en-US" dirty="0"/>
              <a:t>It can be expanded by combining several memory chips.</a:t>
            </a:r>
          </a:p>
          <a:p>
            <a:endParaRPr lang="en-IN" dirty="0"/>
          </a:p>
        </p:txBody>
      </p:sp>
    </p:spTree>
    <p:extLst>
      <p:ext uri="{BB962C8B-B14F-4D97-AF65-F5344CB8AC3E}">
        <p14:creationId xmlns:p14="http://schemas.microsoft.com/office/powerpoint/2010/main" val="3598968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583AD-A43D-49EB-8042-35713583E018}"/>
              </a:ext>
            </a:extLst>
          </p:cNvPr>
          <p:cNvSpPr>
            <a:spLocks noGrp="1"/>
          </p:cNvSpPr>
          <p:nvPr>
            <p:ph type="title"/>
          </p:nvPr>
        </p:nvSpPr>
        <p:spPr/>
        <p:txBody>
          <a:bodyPr/>
          <a:lstStyle/>
          <a:p>
            <a:r>
              <a:rPr lang="en-US" dirty="0"/>
              <a:t>SRAM v/s DRAM</a:t>
            </a:r>
            <a:endParaRPr lang="en-IN" dirty="0"/>
          </a:p>
        </p:txBody>
      </p:sp>
      <p:graphicFrame>
        <p:nvGraphicFramePr>
          <p:cNvPr id="4" name="Table 4">
            <a:extLst>
              <a:ext uri="{FF2B5EF4-FFF2-40B4-BE49-F238E27FC236}">
                <a16:creationId xmlns:a16="http://schemas.microsoft.com/office/drawing/2014/main" id="{D16C217F-568B-414A-98DC-2B5F84A84417}"/>
              </a:ext>
            </a:extLst>
          </p:cNvPr>
          <p:cNvGraphicFramePr>
            <a:graphicFrameLocks noGrp="1"/>
          </p:cNvGraphicFramePr>
          <p:nvPr>
            <p:ph idx="1"/>
            <p:extLst>
              <p:ext uri="{D42A27DB-BD31-4B8C-83A1-F6EECF244321}">
                <p14:modId xmlns:p14="http://schemas.microsoft.com/office/powerpoint/2010/main" val="660338148"/>
              </p:ext>
            </p:extLst>
          </p:nvPr>
        </p:nvGraphicFramePr>
        <p:xfrm>
          <a:off x="732761" y="981740"/>
          <a:ext cx="8763000" cy="5135880"/>
        </p:xfrm>
        <a:graphic>
          <a:graphicData uri="http://schemas.openxmlformats.org/drawingml/2006/table">
            <a:tbl>
              <a:tblPr firstRow="1" bandRow="1">
                <a:tableStyleId>{5C22544A-7EE6-4342-B048-85BDC9FD1C3A}</a:tableStyleId>
              </a:tblPr>
              <a:tblGrid>
                <a:gridCol w="4381500">
                  <a:extLst>
                    <a:ext uri="{9D8B030D-6E8A-4147-A177-3AD203B41FA5}">
                      <a16:colId xmlns:a16="http://schemas.microsoft.com/office/drawing/2014/main" val="1139572284"/>
                    </a:ext>
                  </a:extLst>
                </a:gridCol>
                <a:gridCol w="4381500">
                  <a:extLst>
                    <a:ext uri="{9D8B030D-6E8A-4147-A177-3AD203B41FA5}">
                      <a16:colId xmlns:a16="http://schemas.microsoft.com/office/drawing/2014/main" val="93357703"/>
                    </a:ext>
                  </a:extLst>
                </a:gridCol>
              </a:tblGrid>
              <a:tr h="370840">
                <a:tc>
                  <a:txBody>
                    <a:bodyPr/>
                    <a:lstStyle/>
                    <a:p>
                      <a:pPr algn="ctr"/>
                      <a:r>
                        <a:rPr lang="en-US" dirty="0">
                          <a:solidFill>
                            <a:sysClr val="windowText" lastClr="000000"/>
                          </a:solidFill>
                        </a:rPr>
                        <a:t>Static RAM</a:t>
                      </a:r>
                      <a:endParaRPr lang="en-IN" dirty="0">
                        <a:solidFill>
                          <a:sysClr val="windowText" lastClr="000000"/>
                        </a:solidFill>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a:r>
                        <a:rPr lang="en-US" dirty="0">
                          <a:solidFill>
                            <a:sysClr val="windowText" lastClr="000000"/>
                          </a:solidFill>
                        </a:rPr>
                        <a:t>Dynamic RAM</a:t>
                      </a:r>
                      <a:endParaRPr lang="en-IN" dirty="0">
                        <a:solidFill>
                          <a:sysClr val="windowText" lastClr="000000"/>
                        </a:solidFill>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81335406"/>
                  </a:ext>
                </a:extLst>
              </a:tr>
              <a:tr h="370840">
                <a:tc>
                  <a:txBody>
                    <a:bodyPr/>
                    <a:lstStyle/>
                    <a:p>
                      <a:pPr algn="just"/>
                      <a:r>
                        <a:rPr lang="en-US" dirty="0"/>
                        <a:t>1. SRAM has lower access time, so it is faster compared to DRAM.</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just"/>
                      <a:r>
                        <a:rPr lang="en-US" dirty="0"/>
                        <a:t>1. DRAM has higher access time, so it is slower than SRAM.</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713355035"/>
                  </a:ext>
                </a:extLst>
              </a:tr>
              <a:tr h="370840">
                <a:tc>
                  <a:txBody>
                    <a:bodyPr/>
                    <a:lstStyle/>
                    <a:p>
                      <a:pPr algn="just"/>
                      <a:r>
                        <a:rPr lang="en-US" dirty="0"/>
                        <a:t>2. SRAM is costlier than DRAM.</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just"/>
                      <a:r>
                        <a:rPr lang="en-US" dirty="0"/>
                        <a:t>2. DRAM costs less compared to SRAM.</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99934834"/>
                  </a:ext>
                </a:extLst>
              </a:tr>
              <a:tr h="370840">
                <a:tc>
                  <a:txBody>
                    <a:bodyPr/>
                    <a:lstStyle/>
                    <a:p>
                      <a:pPr algn="just"/>
                      <a:r>
                        <a:rPr lang="en-US" dirty="0"/>
                        <a:t>3.</a:t>
                      </a:r>
                      <a:r>
                        <a:rPr lang="en-US" sz="200" dirty="0"/>
                        <a:t> </a:t>
                      </a:r>
                      <a:r>
                        <a:rPr lang="en-US" dirty="0"/>
                        <a:t>SRAM requires constant power supply, which means this type of memory consumes more power.</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just"/>
                      <a:r>
                        <a:rPr lang="en-US" dirty="0"/>
                        <a:t>3. DRAM offers reduced power consumption, due to the fact that the information is stored in the capacitor.</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19183179"/>
                  </a:ext>
                </a:extLst>
              </a:tr>
              <a:tr h="370840">
                <a:tc>
                  <a:txBody>
                    <a:bodyPr/>
                    <a:lstStyle/>
                    <a:p>
                      <a:pPr algn="just"/>
                      <a:r>
                        <a:rPr lang="en-US" dirty="0"/>
                        <a:t>4.</a:t>
                      </a:r>
                      <a:r>
                        <a:rPr lang="en-US" sz="400" dirty="0"/>
                        <a:t> </a:t>
                      </a:r>
                      <a:r>
                        <a:rPr lang="en-US" dirty="0"/>
                        <a:t>Due to complex internal circuitry, less storage capacity is available compared to the same physical size of DRAM memory chip.</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just"/>
                      <a:r>
                        <a:rPr lang="en-US" dirty="0"/>
                        <a:t>4. Due to the small internal circuitry in the one-bit memory cell of DRAM, the large storage capacity is available.</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930024100"/>
                  </a:ext>
                </a:extLst>
              </a:tr>
              <a:tr h="370840">
                <a:tc>
                  <a:txBody>
                    <a:bodyPr/>
                    <a:lstStyle/>
                    <a:p>
                      <a:pPr algn="just"/>
                      <a:r>
                        <a:rPr lang="en-US" dirty="0"/>
                        <a:t>5. SRAM has low packaging density.</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just"/>
                      <a:r>
                        <a:rPr lang="en-US" dirty="0"/>
                        <a:t>5. DRAM has high packaging density.</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359383752"/>
                  </a:ext>
                </a:extLst>
              </a:tr>
              <a:tr h="370840">
                <a:tc>
                  <a:txBody>
                    <a:bodyPr/>
                    <a:lstStyle/>
                    <a:p>
                      <a:pPr algn="just"/>
                      <a:r>
                        <a:rPr lang="en-US" dirty="0"/>
                        <a:t>6. No need to refresh periodically.</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just"/>
                      <a:r>
                        <a:rPr lang="en-US" dirty="0"/>
                        <a:t>6. Due to capacitor used as storage element, information may lose over period of time. So, need to refresh periodically.</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68793608"/>
                  </a:ext>
                </a:extLst>
              </a:tr>
              <a:tr h="370840">
                <a:tc>
                  <a:txBody>
                    <a:bodyPr/>
                    <a:lstStyle/>
                    <a:p>
                      <a:pPr algn="just"/>
                      <a:r>
                        <a:rPr lang="en-US" dirty="0"/>
                        <a:t>7.</a:t>
                      </a:r>
                      <a:r>
                        <a:rPr lang="en-US" sz="900" dirty="0"/>
                        <a:t> </a:t>
                      </a:r>
                      <a:r>
                        <a:rPr lang="en-US" dirty="0"/>
                        <a:t>Uses an array of 6 transistors for each memory cell.</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just"/>
                      <a:r>
                        <a:rPr lang="en-US" dirty="0"/>
                        <a:t>7.</a:t>
                      </a:r>
                      <a:r>
                        <a:rPr lang="en-US" sz="1400" dirty="0"/>
                        <a:t> </a:t>
                      </a:r>
                      <a:r>
                        <a:rPr lang="en-US" dirty="0"/>
                        <a:t>Uses a single transistor and capacitor for each memory cell.</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108073508"/>
                  </a:ext>
                </a:extLst>
              </a:tr>
            </a:tbl>
          </a:graphicData>
        </a:graphic>
      </p:graphicFrame>
    </p:spTree>
    <p:extLst>
      <p:ext uri="{BB962C8B-B14F-4D97-AF65-F5344CB8AC3E}">
        <p14:creationId xmlns:p14="http://schemas.microsoft.com/office/powerpoint/2010/main" val="2206868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2A960-6226-489B-90B7-87D877CE05CB}"/>
              </a:ext>
            </a:extLst>
          </p:cNvPr>
          <p:cNvSpPr>
            <a:spLocks noGrp="1"/>
          </p:cNvSpPr>
          <p:nvPr>
            <p:ph type="title"/>
          </p:nvPr>
        </p:nvSpPr>
        <p:spPr/>
        <p:txBody>
          <a:bodyPr/>
          <a:lstStyle/>
          <a:p>
            <a:r>
              <a:rPr lang="en-US" dirty="0"/>
              <a:t>Read-Only Memory (ROM)</a:t>
            </a:r>
            <a:endParaRPr lang="en-IN" dirty="0"/>
          </a:p>
        </p:txBody>
      </p:sp>
      <p:sp>
        <p:nvSpPr>
          <p:cNvPr id="3" name="Content Placeholder 2">
            <a:extLst>
              <a:ext uri="{FF2B5EF4-FFF2-40B4-BE49-F238E27FC236}">
                <a16:creationId xmlns:a16="http://schemas.microsoft.com/office/drawing/2014/main" id="{0C59390F-A973-4235-91E7-82EF0E5F30ED}"/>
              </a:ext>
            </a:extLst>
          </p:cNvPr>
          <p:cNvSpPr>
            <a:spLocks noGrp="1"/>
          </p:cNvSpPr>
          <p:nvPr>
            <p:ph idx="1"/>
          </p:nvPr>
        </p:nvSpPr>
        <p:spPr/>
        <p:txBody>
          <a:bodyPr/>
          <a:lstStyle/>
          <a:p>
            <a:pPr algn="just"/>
            <a:r>
              <a:rPr lang="en-US" dirty="0"/>
              <a:t>A read-only memory (ROM) is essentially a memory device in which permanent binary information is stored.</a:t>
            </a:r>
          </a:p>
          <a:p>
            <a:pPr algn="just"/>
            <a:r>
              <a:rPr lang="en-US" dirty="0"/>
              <a:t>The binary information must be specified by the designer and is then embedded in the unit to form the required interconnection pattern. </a:t>
            </a:r>
          </a:p>
          <a:p>
            <a:pPr algn="just"/>
            <a:r>
              <a:rPr lang="en-US" dirty="0"/>
              <a:t>Once the pattern is established, it stays within the unit when the power is turned off and on again. </a:t>
            </a:r>
          </a:p>
          <a:p>
            <a:pPr algn="just"/>
            <a:r>
              <a:rPr lang="en-US" dirty="0"/>
              <a:t>A ROM which can be programmed is called a PROM. The process of entering information in a ROM is known as programming. </a:t>
            </a:r>
          </a:p>
          <a:p>
            <a:pPr algn="just"/>
            <a:r>
              <a:rPr lang="en-US" dirty="0"/>
              <a:t>ROMs are used to store information which is of fixed type, such as tables for various functions, fixed data and instructions. </a:t>
            </a:r>
          </a:p>
          <a:p>
            <a:pPr algn="just"/>
            <a:r>
              <a:rPr lang="en-US" dirty="0"/>
              <a:t>ROMs can be used for designing combinational logic circuits. </a:t>
            </a:r>
          </a:p>
          <a:p>
            <a:endParaRPr lang="en-IN" dirty="0"/>
          </a:p>
        </p:txBody>
      </p:sp>
    </p:spTree>
    <p:extLst>
      <p:ext uri="{BB962C8B-B14F-4D97-AF65-F5344CB8AC3E}">
        <p14:creationId xmlns:p14="http://schemas.microsoft.com/office/powerpoint/2010/main" val="3175049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F6EE9-1C19-4310-BB8E-ADF757B8E176}"/>
              </a:ext>
            </a:extLst>
          </p:cNvPr>
          <p:cNvSpPr>
            <a:spLocks noGrp="1"/>
          </p:cNvSpPr>
          <p:nvPr>
            <p:ph type="title"/>
          </p:nvPr>
        </p:nvSpPr>
        <p:spPr/>
        <p:txBody>
          <a:bodyPr/>
          <a:lstStyle/>
          <a:p>
            <a:r>
              <a:rPr lang="en-US" dirty="0"/>
              <a:t>Memory Address Map</a:t>
            </a:r>
            <a:endParaRPr lang="en-IN" dirty="0"/>
          </a:p>
        </p:txBody>
      </p:sp>
      <p:sp>
        <p:nvSpPr>
          <p:cNvPr id="3" name="Content Placeholder 2">
            <a:extLst>
              <a:ext uri="{FF2B5EF4-FFF2-40B4-BE49-F238E27FC236}">
                <a16:creationId xmlns:a16="http://schemas.microsoft.com/office/drawing/2014/main" id="{18F85BF8-A76B-427F-8179-F74B3EDD93A4}"/>
              </a:ext>
            </a:extLst>
          </p:cNvPr>
          <p:cNvSpPr>
            <a:spLocks noGrp="1"/>
          </p:cNvSpPr>
          <p:nvPr>
            <p:ph idx="1"/>
          </p:nvPr>
        </p:nvSpPr>
        <p:spPr>
          <a:xfrm>
            <a:off x="131181" y="863444"/>
            <a:ext cx="2716060" cy="5590565"/>
          </a:xfrm>
        </p:spPr>
        <p:txBody>
          <a:bodyPr/>
          <a:lstStyle/>
          <a:p>
            <a:r>
              <a:rPr lang="en-US" dirty="0"/>
              <a:t>Example:- Show how to combine several 1K x 8 PROMs to produce 4K x 8 PROM. </a:t>
            </a:r>
          </a:p>
          <a:p>
            <a:pPr algn="just"/>
            <a:r>
              <a:rPr lang="en-US" dirty="0"/>
              <a:t>Solution:- 1K x 8 PROM has 10 number of address lines because 2</a:t>
            </a:r>
            <a:r>
              <a:rPr lang="en-US" baseline="30000" dirty="0"/>
              <a:t>10</a:t>
            </a:r>
            <a:r>
              <a:rPr lang="en-US" dirty="0"/>
              <a:t> = 1024 (1K).</a:t>
            </a:r>
          </a:p>
          <a:p>
            <a:pPr algn="just"/>
            <a:r>
              <a:rPr lang="en-US" dirty="0"/>
              <a:t>We need total 4 number of 1K x 8 PROM chips to make one 4K x 8 PROM chip.</a:t>
            </a:r>
            <a:endParaRPr lang="en-IN" dirty="0"/>
          </a:p>
          <a:p>
            <a:endParaRPr lang="en-IN" dirty="0"/>
          </a:p>
        </p:txBody>
      </p:sp>
      <p:grpSp>
        <p:nvGrpSpPr>
          <p:cNvPr id="4" name="Group 3">
            <a:extLst>
              <a:ext uri="{FF2B5EF4-FFF2-40B4-BE49-F238E27FC236}">
                <a16:creationId xmlns:a16="http://schemas.microsoft.com/office/drawing/2014/main" id="{35DE274E-04B9-4FF3-9718-5CE60903EF8C}"/>
              </a:ext>
            </a:extLst>
          </p:cNvPr>
          <p:cNvGrpSpPr/>
          <p:nvPr/>
        </p:nvGrpSpPr>
        <p:grpSpPr>
          <a:xfrm>
            <a:off x="4574489" y="949928"/>
            <a:ext cx="732940" cy="1187960"/>
            <a:chOff x="6086960" y="2362200"/>
            <a:chExt cx="1008680" cy="1416560"/>
          </a:xfrm>
        </p:grpSpPr>
        <p:cxnSp>
          <p:nvCxnSpPr>
            <p:cNvPr id="5" name="Straight Connector 4">
              <a:extLst>
                <a:ext uri="{FF2B5EF4-FFF2-40B4-BE49-F238E27FC236}">
                  <a16:creationId xmlns:a16="http://schemas.microsoft.com/office/drawing/2014/main" id="{3C3E89E8-2D35-465C-8999-F53E63433003}"/>
                </a:ext>
              </a:extLst>
            </p:cNvPr>
            <p:cNvCxnSpPr/>
            <p:nvPr/>
          </p:nvCxnSpPr>
          <p:spPr>
            <a:xfrm>
              <a:off x="6400799" y="2678957"/>
              <a:ext cx="0" cy="772695"/>
            </a:xfrm>
            <a:prstGeom prst="line">
              <a:avLst/>
            </a:prstGeom>
            <a:ln w="28575">
              <a:head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2A3FBF2-3719-43A3-A740-BF8EF3049C5E}"/>
                </a:ext>
              </a:extLst>
            </p:cNvPr>
            <p:cNvCxnSpPr/>
            <p:nvPr/>
          </p:nvCxnSpPr>
          <p:spPr>
            <a:xfrm>
              <a:off x="6781800" y="2362200"/>
              <a:ext cx="0" cy="1066800"/>
            </a:xfrm>
            <a:prstGeom prst="line">
              <a:avLst/>
            </a:prstGeom>
            <a:ln w="28575">
              <a:headEnd type="ova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F80687D-5A9F-4110-8170-77DE53F347DF}"/>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6AD7E08-F4B2-4C4B-AD94-50C47A3DA638}"/>
                </a:ext>
              </a:extLst>
            </p:cNvPr>
            <p:cNvCxnSpPr>
              <a:cxnSpLocks/>
            </p:cNvCxnSpPr>
            <p:nvPr/>
          </p:nvCxnSpPr>
          <p:spPr>
            <a:xfrm rot="5400000">
              <a:off x="6933640" y="326700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7483C3C-1459-4C7C-A792-524B3BD78DA7}"/>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AD00F3E-727D-4946-B62D-932F9436459C}"/>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BA08EC23-A2F1-4905-8879-5D9B76DAD965}"/>
              </a:ext>
            </a:extLst>
          </p:cNvPr>
          <p:cNvGrpSpPr/>
          <p:nvPr/>
        </p:nvGrpSpPr>
        <p:grpSpPr>
          <a:xfrm rot="16200000">
            <a:off x="7395329" y="-3246209"/>
            <a:ext cx="732940" cy="8647760"/>
            <a:chOff x="6086960" y="-6533073"/>
            <a:chExt cx="1008680" cy="10311833"/>
          </a:xfrm>
        </p:grpSpPr>
        <p:cxnSp>
          <p:nvCxnSpPr>
            <p:cNvPr id="12" name="Straight Connector 11">
              <a:extLst>
                <a:ext uri="{FF2B5EF4-FFF2-40B4-BE49-F238E27FC236}">
                  <a16:creationId xmlns:a16="http://schemas.microsoft.com/office/drawing/2014/main" id="{1E795237-C3C2-4173-8E89-71C9D022A758}"/>
                </a:ext>
              </a:extLst>
            </p:cNvPr>
            <p:cNvCxnSpPr/>
            <p:nvPr/>
          </p:nvCxnSpPr>
          <p:spPr>
            <a:xfrm>
              <a:off x="6400799" y="-6512994"/>
              <a:ext cx="0" cy="995916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6AE0776-61E3-46AE-9D27-4BA75A071AC8}"/>
                </a:ext>
              </a:extLst>
            </p:cNvPr>
            <p:cNvCxnSpPr/>
            <p:nvPr/>
          </p:nvCxnSpPr>
          <p:spPr>
            <a:xfrm>
              <a:off x="6781803" y="-6533073"/>
              <a:ext cx="0" cy="99591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C881520-87EA-49A7-A58E-2ECB8365D617}"/>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A33ABFC-5303-42B2-B054-3F9DAC8836F2}"/>
                </a:ext>
              </a:extLst>
            </p:cNvPr>
            <p:cNvCxnSpPr>
              <a:cxnSpLocks/>
            </p:cNvCxnSpPr>
            <p:nvPr/>
          </p:nvCxnSpPr>
          <p:spPr>
            <a:xfrm rot="5400000">
              <a:off x="6933640" y="3254885"/>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F0C4CD-5133-4879-853E-E5D76DACC6CF}"/>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37AD8DD-602C-4CB6-BEA8-DC6912EA05AC}"/>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9B5F53D1-C2BA-457A-BA07-60C634E61BA2}"/>
              </a:ext>
            </a:extLst>
          </p:cNvPr>
          <p:cNvGrpSpPr/>
          <p:nvPr/>
        </p:nvGrpSpPr>
        <p:grpSpPr>
          <a:xfrm rot="16200000">
            <a:off x="7395889" y="-17840"/>
            <a:ext cx="732940" cy="8646640"/>
            <a:chOff x="6086960" y="-6531737"/>
            <a:chExt cx="1008680" cy="10310497"/>
          </a:xfrm>
        </p:grpSpPr>
        <p:cxnSp>
          <p:nvCxnSpPr>
            <p:cNvPr id="19" name="Straight Connector 18">
              <a:extLst>
                <a:ext uri="{FF2B5EF4-FFF2-40B4-BE49-F238E27FC236}">
                  <a16:creationId xmlns:a16="http://schemas.microsoft.com/office/drawing/2014/main" id="{E29B5189-490A-4277-80CF-C9F812874732}"/>
                </a:ext>
              </a:extLst>
            </p:cNvPr>
            <p:cNvCxnSpPr/>
            <p:nvPr/>
          </p:nvCxnSpPr>
          <p:spPr>
            <a:xfrm>
              <a:off x="6400799" y="-6512992"/>
              <a:ext cx="0" cy="995916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E6F5C12-B328-4F59-B85A-63815256871F}"/>
                </a:ext>
              </a:extLst>
            </p:cNvPr>
            <p:cNvCxnSpPr/>
            <p:nvPr/>
          </p:nvCxnSpPr>
          <p:spPr>
            <a:xfrm>
              <a:off x="6781803" y="-6531737"/>
              <a:ext cx="0" cy="995916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16E3469-ED5B-41EE-970C-B5905CC22F65}"/>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6839285-A12B-44CC-ADD3-F34E410871D7}"/>
                </a:ext>
              </a:extLst>
            </p:cNvPr>
            <p:cNvCxnSpPr>
              <a:cxnSpLocks/>
            </p:cNvCxnSpPr>
            <p:nvPr/>
          </p:nvCxnSpPr>
          <p:spPr>
            <a:xfrm rot="5400000">
              <a:off x="6933640" y="3254885"/>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8E449B9-53E4-440D-8120-7FF7A81CCE38}"/>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0D64D2C-EFE9-41CA-9C51-84579CDA2BD0}"/>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595565D0-1E5A-40F1-8734-899C56364FB7}"/>
              </a:ext>
            </a:extLst>
          </p:cNvPr>
          <p:cNvGrpSpPr/>
          <p:nvPr/>
        </p:nvGrpSpPr>
        <p:grpSpPr>
          <a:xfrm>
            <a:off x="3561439" y="2529050"/>
            <a:ext cx="769920" cy="1906918"/>
            <a:chOff x="677880" y="2819402"/>
            <a:chExt cx="769920" cy="1906918"/>
          </a:xfrm>
        </p:grpSpPr>
        <p:grpSp>
          <p:nvGrpSpPr>
            <p:cNvPr id="26" name="Group 25">
              <a:extLst>
                <a:ext uri="{FF2B5EF4-FFF2-40B4-BE49-F238E27FC236}">
                  <a16:creationId xmlns:a16="http://schemas.microsoft.com/office/drawing/2014/main" id="{DECC11F8-4930-4462-9882-2C5677981DED}"/>
                </a:ext>
              </a:extLst>
            </p:cNvPr>
            <p:cNvGrpSpPr/>
            <p:nvPr/>
          </p:nvGrpSpPr>
          <p:grpSpPr>
            <a:xfrm rot="16200000">
              <a:off x="696370" y="2800912"/>
              <a:ext cx="732940" cy="769920"/>
              <a:chOff x="6086960" y="2860683"/>
              <a:chExt cx="1008680" cy="918077"/>
            </a:xfrm>
          </p:grpSpPr>
          <p:cxnSp>
            <p:nvCxnSpPr>
              <p:cNvPr id="29" name="Straight Connector 28">
                <a:extLst>
                  <a:ext uri="{FF2B5EF4-FFF2-40B4-BE49-F238E27FC236}">
                    <a16:creationId xmlns:a16="http://schemas.microsoft.com/office/drawing/2014/main" id="{7E5F9AE3-A31E-4901-9AAA-A2B2E6B7E93A}"/>
                  </a:ext>
                </a:extLst>
              </p:cNvPr>
              <p:cNvCxnSpPr/>
              <p:nvPr/>
            </p:nvCxnSpPr>
            <p:spPr>
              <a:xfrm>
                <a:off x="6400799" y="3204105"/>
                <a:ext cx="0" cy="227516"/>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2467DA5-7F21-4182-81AA-F6FB027F9B57}"/>
                  </a:ext>
                </a:extLst>
              </p:cNvPr>
              <p:cNvCxnSpPr/>
              <p:nvPr/>
            </p:nvCxnSpPr>
            <p:spPr>
              <a:xfrm>
                <a:off x="6781802" y="2860683"/>
                <a:ext cx="0" cy="558058"/>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254DD1F-B090-459E-B5D9-11883DBD8AC6}"/>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20CE6A6-8FDA-482A-B4B0-5D3EB2F96380}"/>
                  </a:ext>
                </a:extLst>
              </p:cNvPr>
              <p:cNvCxnSpPr>
                <a:cxnSpLocks/>
              </p:cNvCxnSpPr>
              <p:nvPr/>
            </p:nvCxnSpPr>
            <p:spPr>
              <a:xfrm rot="5400000">
                <a:off x="6933640" y="326700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32C4CB2-88F1-47EE-B6F5-3E103B3A1E5A}"/>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8C6FB09-324D-4649-9974-32004F45EBEF}"/>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27" name="Straight Connector 26">
              <a:extLst>
                <a:ext uri="{FF2B5EF4-FFF2-40B4-BE49-F238E27FC236}">
                  <a16:creationId xmlns:a16="http://schemas.microsoft.com/office/drawing/2014/main" id="{672EA94C-FA4A-465C-86A6-606DBE37E954}"/>
                </a:ext>
              </a:extLst>
            </p:cNvPr>
            <p:cNvCxnSpPr>
              <a:cxnSpLocks/>
            </p:cNvCxnSpPr>
            <p:nvPr/>
          </p:nvCxnSpPr>
          <p:spPr>
            <a:xfrm>
              <a:off x="685800" y="3048000"/>
              <a:ext cx="0" cy="1404000"/>
            </a:xfrm>
            <a:prstGeom prst="line">
              <a:avLst/>
            </a:prstGeom>
            <a:ln w="28575">
              <a:headEnd type="none"/>
              <a:tailEnd type="ova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883864E-C356-4E53-AB12-68E44D2FF5FB}"/>
                </a:ext>
              </a:extLst>
            </p:cNvPr>
            <p:cNvCxnSpPr>
              <a:cxnSpLocks/>
            </p:cNvCxnSpPr>
            <p:nvPr/>
          </p:nvCxnSpPr>
          <p:spPr>
            <a:xfrm>
              <a:off x="970280" y="3322320"/>
              <a:ext cx="0" cy="1404000"/>
            </a:xfrm>
            <a:prstGeom prst="line">
              <a:avLst/>
            </a:prstGeom>
            <a:ln w="28575">
              <a:headEnd type="none"/>
              <a:tailEnd type="ova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C02267E5-FE31-477F-9DDB-53E6AD199F93}"/>
              </a:ext>
            </a:extLst>
          </p:cNvPr>
          <p:cNvGrpSpPr/>
          <p:nvPr/>
        </p:nvGrpSpPr>
        <p:grpSpPr>
          <a:xfrm>
            <a:off x="4331359" y="2148048"/>
            <a:ext cx="1219200" cy="1872278"/>
            <a:chOff x="1447800" y="2438400"/>
            <a:chExt cx="1219200" cy="1872278"/>
          </a:xfrm>
        </p:grpSpPr>
        <p:sp>
          <p:nvSpPr>
            <p:cNvPr id="36" name="Rectangle 35">
              <a:extLst>
                <a:ext uri="{FF2B5EF4-FFF2-40B4-BE49-F238E27FC236}">
                  <a16:creationId xmlns:a16="http://schemas.microsoft.com/office/drawing/2014/main" id="{15145A4E-AAB3-4350-939E-65ADDFC1B48B}"/>
                </a:ext>
              </a:extLst>
            </p:cNvPr>
            <p:cNvSpPr/>
            <p:nvPr/>
          </p:nvSpPr>
          <p:spPr>
            <a:xfrm>
              <a:off x="1447800" y="2438400"/>
              <a:ext cx="1219200" cy="1752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a:extLst>
                <a:ext uri="{FF2B5EF4-FFF2-40B4-BE49-F238E27FC236}">
                  <a16:creationId xmlns:a16="http://schemas.microsoft.com/office/drawing/2014/main" id="{A395E52B-70F1-4A4E-92FF-23D0375D2105}"/>
                </a:ext>
              </a:extLst>
            </p:cNvPr>
            <p:cNvSpPr txBox="1"/>
            <p:nvPr/>
          </p:nvSpPr>
          <p:spPr>
            <a:xfrm>
              <a:off x="1579184" y="2967596"/>
              <a:ext cx="981136" cy="646331"/>
            </a:xfrm>
            <a:prstGeom prst="rect">
              <a:avLst/>
            </a:prstGeom>
            <a:noFill/>
          </p:spPr>
          <p:txBody>
            <a:bodyPr wrap="square" rtlCol="0">
              <a:spAutoFit/>
            </a:bodyPr>
            <a:lstStyle/>
            <a:p>
              <a:pPr algn="ctr"/>
              <a:r>
                <a:rPr lang="en-US" dirty="0"/>
                <a:t>PROM 1</a:t>
              </a:r>
            </a:p>
            <a:p>
              <a:pPr algn="ctr"/>
              <a:r>
                <a:rPr lang="en-US" dirty="0"/>
                <a:t>1K x 8</a:t>
              </a:r>
              <a:endParaRPr lang="en-IN" dirty="0"/>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AA39501-239D-4A5F-B38A-04FCC82D5AA0}"/>
                    </a:ext>
                  </a:extLst>
                </p:cNvPr>
                <p:cNvSpPr txBox="1"/>
                <p:nvPr/>
              </p:nvSpPr>
              <p:spPr>
                <a:xfrm>
                  <a:off x="1849285" y="3922331"/>
                  <a:ext cx="327544" cy="369909"/>
                </a:xfrm>
                <a:prstGeom prst="rect">
                  <a:avLst/>
                </a:prstGeom>
                <a:noFill/>
              </p:spPr>
              <p:txBody>
                <a:bodyPr wrap="square" rtlCol="0">
                  <a:noAutofit/>
                </a:bodyPr>
                <a:lstStyle/>
                <a:p>
                  <a:pPr/>
                  <a14:m>
                    <m:oMathPara xmlns:m="http://schemas.openxmlformats.org/officeDocument/2006/math">
                      <m:oMathParaPr>
                        <m:jc m:val="centerGroup"/>
                      </m:oMathParaPr>
                      <m:oMath xmlns:m="http://schemas.openxmlformats.org/officeDocument/2006/math">
                        <m:acc>
                          <m:accPr>
                            <m:chr m:val="̅"/>
                            <m:ctrlPr>
                              <a:rPr lang="en-US" sz="1600" i="1" dirty="0">
                                <a:latin typeface="Cambria Math" panose="02040503050406030204" pitchFamily="18" charset="0"/>
                              </a:rPr>
                            </m:ctrlPr>
                          </m:accPr>
                          <m:e>
                            <m:r>
                              <a:rPr lang="en-US" sz="1600" b="0" i="1" dirty="0" smtClean="0">
                                <a:latin typeface="Cambria Math" panose="02040503050406030204" pitchFamily="18" charset="0"/>
                              </a:rPr>
                              <m:t>𝐶𝑆</m:t>
                            </m:r>
                          </m:e>
                        </m:acc>
                      </m:oMath>
                    </m:oMathPara>
                  </a14:m>
                  <a:endParaRPr lang="en-IN" sz="1600" dirty="0"/>
                </a:p>
              </p:txBody>
            </p:sp>
          </mc:Choice>
          <mc:Fallback xmlns="">
            <p:sp>
              <p:nvSpPr>
                <p:cNvPr id="51" name="TextBox 50">
                  <a:extLst>
                    <a:ext uri="{FF2B5EF4-FFF2-40B4-BE49-F238E27FC236}">
                      <a16:creationId xmlns:a16="http://schemas.microsoft.com/office/drawing/2014/main" id="{9FBF9914-AC1C-4633-AB79-827C795E370F}"/>
                    </a:ext>
                  </a:extLst>
                </p:cNvPr>
                <p:cNvSpPr txBox="1">
                  <a:spLocks noRot="1" noChangeAspect="1" noMove="1" noResize="1" noEditPoints="1" noAdjustHandles="1" noChangeArrowheads="1" noChangeShapeType="1" noTextEdit="1"/>
                </p:cNvSpPr>
                <p:nvPr/>
              </p:nvSpPr>
              <p:spPr>
                <a:xfrm>
                  <a:off x="1849285" y="3922331"/>
                  <a:ext cx="327544" cy="369909"/>
                </a:xfrm>
                <a:prstGeom prst="rect">
                  <a:avLst/>
                </a:prstGeom>
                <a:blipFill>
                  <a:blip r:embed="rId2"/>
                  <a:stretch>
                    <a:fillRect r="-16667"/>
                  </a:stretch>
                </a:blipFill>
              </p:spPr>
              <p:txBody>
                <a:bodyPr/>
                <a:lstStyle/>
                <a:p>
                  <a:r>
                    <a:rPr lang="en-IN">
                      <a:noFill/>
                    </a:rPr>
                    <a:t> </a:t>
                  </a:r>
                </a:p>
              </p:txBody>
            </p:sp>
          </mc:Fallback>
        </mc:AlternateContent>
        <p:sp>
          <p:nvSpPr>
            <p:cNvPr id="39" name="Oval 38">
              <a:extLst>
                <a:ext uri="{FF2B5EF4-FFF2-40B4-BE49-F238E27FC236}">
                  <a16:creationId xmlns:a16="http://schemas.microsoft.com/office/drawing/2014/main" id="{A7B98302-5F27-4464-B7AF-3897F43D5323}"/>
                </a:ext>
              </a:extLst>
            </p:cNvPr>
            <p:cNvSpPr/>
            <p:nvPr/>
          </p:nvSpPr>
          <p:spPr>
            <a:xfrm>
              <a:off x="2003400" y="4202678"/>
              <a:ext cx="108000" cy="10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0" name="Group 39">
            <a:extLst>
              <a:ext uri="{FF2B5EF4-FFF2-40B4-BE49-F238E27FC236}">
                <a16:creationId xmlns:a16="http://schemas.microsoft.com/office/drawing/2014/main" id="{E7001580-B7BF-41CF-8D05-201A44D1073E}"/>
              </a:ext>
            </a:extLst>
          </p:cNvPr>
          <p:cNvGrpSpPr/>
          <p:nvPr/>
        </p:nvGrpSpPr>
        <p:grpSpPr>
          <a:xfrm>
            <a:off x="6716009" y="948008"/>
            <a:ext cx="732940" cy="1187960"/>
            <a:chOff x="6086960" y="2362200"/>
            <a:chExt cx="1008680" cy="1416560"/>
          </a:xfrm>
        </p:grpSpPr>
        <p:cxnSp>
          <p:nvCxnSpPr>
            <p:cNvPr id="41" name="Straight Connector 40">
              <a:extLst>
                <a:ext uri="{FF2B5EF4-FFF2-40B4-BE49-F238E27FC236}">
                  <a16:creationId xmlns:a16="http://schemas.microsoft.com/office/drawing/2014/main" id="{CB2DC0FB-0842-4691-8060-F42A0C7D41B8}"/>
                </a:ext>
              </a:extLst>
            </p:cNvPr>
            <p:cNvCxnSpPr/>
            <p:nvPr/>
          </p:nvCxnSpPr>
          <p:spPr>
            <a:xfrm>
              <a:off x="6400799" y="2678957"/>
              <a:ext cx="0" cy="772695"/>
            </a:xfrm>
            <a:prstGeom prst="line">
              <a:avLst/>
            </a:prstGeom>
            <a:ln w="28575">
              <a:headEnd type="ova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3FDA7DB-5D0D-4621-8581-B42AF5A257A3}"/>
                </a:ext>
              </a:extLst>
            </p:cNvPr>
            <p:cNvCxnSpPr/>
            <p:nvPr/>
          </p:nvCxnSpPr>
          <p:spPr>
            <a:xfrm>
              <a:off x="6781800" y="2362200"/>
              <a:ext cx="0" cy="1066800"/>
            </a:xfrm>
            <a:prstGeom prst="line">
              <a:avLst/>
            </a:prstGeom>
            <a:ln w="28575">
              <a:head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2ED3EF6-609E-48F8-B48D-E5D412C3A77C}"/>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8E64E58-520E-4D47-848C-F6D7F5D31ABE}"/>
                </a:ext>
              </a:extLst>
            </p:cNvPr>
            <p:cNvCxnSpPr>
              <a:cxnSpLocks/>
            </p:cNvCxnSpPr>
            <p:nvPr/>
          </p:nvCxnSpPr>
          <p:spPr>
            <a:xfrm rot="5400000">
              <a:off x="6933640" y="326700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E21F325-7DB4-4A7B-9729-3C4F253367D9}"/>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4BF87F3-E956-4C55-8F83-1FDF141DAE0B}"/>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6B0EBE2A-AD3E-4E1A-BCF9-A4801FA10C8F}"/>
              </a:ext>
            </a:extLst>
          </p:cNvPr>
          <p:cNvGrpSpPr/>
          <p:nvPr/>
        </p:nvGrpSpPr>
        <p:grpSpPr>
          <a:xfrm>
            <a:off x="5702959" y="2527130"/>
            <a:ext cx="769920" cy="1906918"/>
            <a:chOff x="677880" y="2819402"/>
            <a:chExt cx="769920" cy="1906918"/>
          </a:xfrm>
        </p:grpSpPr>
        <p:grpSp>
          <p:nvGrpSpPr>
            <p:cNvPr id="48" name="Group 47">
              <a:extLst>
                <a:ext uri="{FF2B5EF4-FFF2-40B4-BE49-F238E27FC236}">
                  <a16:creationId xmlns:a16="http://schemas.microsoft.com/office/drawing/2014/main" id="{FDE3F680-3C06-4FB7-9C4A-BD33552EFF1F}"/>
                </a:ext>
              </a:extLst>
            </p:cNvPr>
            <p:cNvGrpSpPr/>
            <p:nvPr/>
          </p:nvGrpSpPr>
          <p:grpSpPr>
            <a:xfrm rot="16200000">
              <a:off x="696370" y="2800912"/>
              <a:ext cx="732940" cy="769920"/>
              <a:chOff x="6086960" y="2860683"/>
              <a:chExt cx="1008680" cy="918077"/>
            </a:xfrm>
          </p:grpSpPr>
          <p:cxnSp>
            <p:nvCxnSpPr>
              <p:cNvPr id="51" name="Straight Connector 50">
                <a:extLst>
                  <a:ext uri="{FF2B5EF4-FFF2-40B4-BE49-F238E27FC236}">
                    <a16:creationId xmlns:a16="http://schemas.microsoft.com/office/drawing/2014/main" id="{C1E7990B-0AC6-4D2B-BDF6-B04B6FB34669}"/>
                  </a:ext>
                </a:extLst>
              </p:cNvPr>
              <p:cNvCxnSpPr/>
              <p:nvPr/>
            </p:nvCxnSpPr>
            <p:spPr>
              <a:xfrm>
                <a:off x="6400799" y="3204105"/>
                <a:ext cx="0" cy="227516"/>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621BEF65-25AD-4AD4-A20F-E7285582BE76}"/>
                  </a:ext>
                </a:extLst>
              </p:cNvPr>
              <p:cNvCxnSpPr/>
              <p:nvPr/>
            </p:nvCxnSpPr>
            <p:spPr>
              <a:xfrm>
                <a:off x="6781802" y="2860683"/>
                <a:ext cx="0" cy="558058"/>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F2DBBE4-E7E7-4B02-8A70-E0A6812AEE1B}"/>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EE87BA5-7B51-46FC-9AA9-74C679EE5157}"/>
                  </a:ext>
                </a:extLst>
              </p:cNvPr>
              <p:cNvCxnSpPr>
                <a:cxnSpLocks/>
              </p:cNvCxnSpPr>
              <p:nvPr/>
            </p:nvCxnSpPr>
            <p:spPr>
              <a:xfrm rot="5400000">
                <a:off x="6933640" y="326700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5BC31D3-7EEB-427E-B8E6-6D7C5C44BA30}"/>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969CB0D-9EEB-48E2-97A6-EB282D8284CC}"/>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49" name="Straight Connector 48">
              <a:extLst>
                <a:ext uri="{FF2B5EF4-FFF2-40B4-BE49-F238E27FC236}">
                  <a16:creationId xmlns:a16="http://schemas.microsoft.com/office/drawing/2014/main" id="{AC726BCF-06B2-41A2-93AA-CD19AAB9B625}"/>
                </a:ext>
              </a:extLst>
            </p:cNvPr>
            <p:cNvCxnSpPr>
              <a:cxnSpLocks/>
            </p:cNvCxnSpPr>
            <p:nvPr/>
          </p:nvCxnSpPr>
          <p:spPr>
            <a:xfrm>
              <a:off x="685800" y="3048000"/>
              <a:ext cx="0" cy="1404000"/>
            </a:xfrm>
            <a:prstGeom prst="line">
              <a:avLst/>
            </a:prstGeom>
            <a:ln w="28575">
              <a:headEnd type="none"/>
              <a:tailEnd type="ova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0394F02-E74F-4395-8F28-4C45831D77F0}"/>
                </a:ext>
              </a:extLst>
            </p:cNvPr>
            <p:cNvCxnSpPr>
              <a:cxnSpLocks/>
            </p:cNvCxnSpPr>
            <p:nvPr/>
          </p:nvCxnSpPr>
          <p:spPr>
            <a:xfrm>
              <a:off x="970280" y="3322320"/>
              <a:ext cx="0" cy="1404000"/>
            </a:xfrm>
            <a:prstGeom prst="line">
              <a:avLst/>
            </a:prstGeom>
            <a:ln w="28575">
              <a:headEnd type="none"/>
              <a:tailEnd type="ova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73874075-AFD8-40B4-9A87-BCA0AEBE730A}"/>
              </a:ext>
            </a:extLst>
          </p:cNvPr>
          <p:cNvGrpSpPr/>
          <p:nvPr/>
        </p:nvGrpSpPr>
        <p:grpSpPr>
          <a:xfrm>
            <a:off x="6472879" y="2146128"/>
            <a:ext cx="1219200" cy="1872278"/>
            <a:chOff x="1447800" y="2438400"/>
            <a:chExt cx="1219200" cy="1872278"/>
          </a:xfrm>
        </p:grpSpPr>
        <p:sp>
          <p:nvSpPr>
            <p:cNvPr id="58" name="Rectangle 57">
              <a:extLst>
                <a:ext uri="{FF2B5EF4-FFF2-40B4-BE49-F238E27FC236}">
                  <a16:creationId xmlns:a16="http://schemas.microsoft.com/office/drawing/2014/main" id="{6B4CA6DA-0380-4654-BF48-35BAD3739366}"/>
                </a:ext>
              </a:extLst>
            </p:cNvPr>
            <p:cNvSpPr/>
            <p:nvPr/>
          </p:nvSpPr>
          <p:spPr>
            <a:xfrm>
              <a:off x="1447800" y="2438400"/>
              <a:ext cx="1219200" cy="1752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TextBox 58">
              <a:extLst>
                <a:ext uri="{FF2B5EF4-FFF2-40B4-BE49-F238E27FC236}">
                  <a16:creationId xmlns:a16="http://schemas.microsoft.com/office/drawing/2014/main" id="{AEE899B4-0C12-4A63-9913-3F4A6789A122}"/>
                </a:ext>
              </a:extLst>
            </p:cNvPr>
            <p:cNvSpPr txBox="1"/>
            <p:nvPr/>
          </p:nvSpPr>
          <p:spPr>
            <a:xfrm>
              <a:off x="1579184" y="2967596"/>
              <a:ext cx="981136" cy="646331"/>
            </a:xfrm>
            <a:prstGeom prst="rect">
              <a:avLst/>
            </a:prstGeom>
            <a:noFill/>
          </p:spPr>
          <p:txBody>
            <a:bodyPr wrap="square" rtlCol="0">
              <a:spAutoFit/>
            </a:bodyPr>
            <a:lstStyle/>
            <a:p>
              <a:pPr algn="ctr"/>
              <a:r>
                <a:rPr lang="en-US" dirty="0"/>
                <a:t>PROM 1</a:t>
              </a:r>
            </a:p>
            <a:p>
              <a:pPr algn="ctr"/>
              <a:r>
                <a:rPr lang="en-US" dirty="0"/>
                <a:t>1K x 8</a:t>
              </a:r>
              <a:endParaRPr lang="en-IN" dirty="0"/>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E725F417-A694-423E-B9EB-C8844BF2F865}"/>
                    </a:ext>
                  </a:extLst>
                </p:cNvPr>
                <p:cNvSpPr txBox="1"/>
                <p:nvPr/>
              </p:nvSpPr>
              <p:spPr>
                <a:xfrm>
                  <a:off x="1849285" y="3922331"/>
                  <a:ext cx="327544" cy="369909"/>
                </a:xfrm>
                <a:prstGeom prst="rect">
                  <a:avLst/>
                </a:prstGeom>
                <a:noFill/>
              </p:spPr>
              <p:txBody>
                <a:bodyPr wrap="square" rtlCol="0">
                  <a:noAutofit/>
                </a:bodyPr>
                <a:lstStyle/>
                <a:p>
                  <a:pPr/>
                  <a14:m>
                    <m:oMathPara xmlns:m="http://schemas.openxmlformats.org/officeDocument/2006/math">
                      <m:oMathParaPr>
                        <m:jc m:val="centerGroup"/>
                      </m:oMathParaPr>
                      <m:oMath xmlns:m="http://schemas.openxmlformats.org/officeDocument/2006/math">
                        <m:acc>
                          <m:accPr>
                            <m:chr m:val="̅"/>
                            <m:ctrlPr>
                              <a:rPr lang="en-US" sz="1600" i="1" dirty="0">
                                <a:latin typeface="Cambria Math" panose="02040503050406030204" pitchFamily="18" charset="0"/>
                              </a:rPr>
                            </m:ctrlPr>
                          </m:accPr>
                          <m:e>
                            <m:r>
                              <a:rPr lang="en-US" sz="1600" b="0" i="1" dirty="0" smtClean="0">
                                <a:latin typeface="Cambria Math" panose="02040503050406030204" pitchFamily="18" charset="0"/>
                              </a:rPr>
                              <m:t>𝐶𝑆</m:t>
                            </m:r>
                          </m:e>
                        </m:acc>
                      </m:oMath>
                    </m:oMathPara>
                  </a14:m>
                  <a:endParaRPr lang="en-IN" sz="1600" dirty="0"/>
                </a:p>
              </p:txBody>
            </p:sp>
          </mc:Choice>
          <mc:Fallback xmlns="">
            <p:sp>
              <p:nvSpPr>
                <p:cNvPr id="75" name="TextBox 74">
                  <a:extLst>
                    <a:ext uri="{FF2B5EF4-FFF2-40B4-BE49-F238E27FC236}">
                      <a16:creationId xmlns:a16="http://schemas.microsoft.com/office/drawing/2014/main" id="{EC7551D4-55CB-4513-97D8-2350F8DC6715}"/>
                    </a:ext>
                  </a:extLst>
                </p:cNvPr>
                <p:cNvSpPr txBox="1">
                  <a:spLocks noRot="1" noChangeAspect="1" noMove="1" noResize="1" noEditPoints="1" noAdjustHandles="1" noChangeArrowheads="1" noChangeShapeType="1" noTextEdit="1"/>
                </p:cNvSpPr>
                <p:nvPr/>
              </p:nvSpPr>
              <p:spPr>
                <a:xfrm>
                  <a:off x="1849285" y="3922331"/>
                  <a:ext cx="327544" cy="369909"/>
                </a:xfrm>
                <a:prstGeom prst="rect">
                  <a:avLst/>
                </a:prstGeom>
                <a:blipFill>
                  <a:blip r:embed="rId3"/>
                  <a:stretch>
                    <a:fillRect r="-18519"/>
                  </a:stretch>
                </a:blipFill>
              </p:spPr>
              <p:txBody>
                <a:bodyPr/>
                <a:lstStyle/>
                <a:p>
                  <a:r>
                    <a:rPr lang="en-IN">
                      <a:noFill/>
                    </a:rPr>
                    <a:t> </a:t>
                  </a:r>
                </a:p>
              </p:txBody>
            </p:sp>
          </mc:Fallback>
        </mc:AlternateContent>
        <p:sp>
          <p:nvSpPr>
            <p:cNvPr id="61" name="Oval 60">
              <a:extLst>
                <a:ext uri="{FF2B5EF4-FFF2-40B4-BE49-F238E27FC236}">
                  <a16:creationId xmlns:a16="http://schemas.microsoft.com/office/drawing/2014/main" id="{B44D3207-5524-436E-A573-C7EA9CC30718}"/>
                </a:ext>
              </a:extLst>
            </p:cNvPr>
            <p:cNvSpPr/>
            <p:nvPr/>
          </p:nvSpPr>
          <p:spPr>
            <a:xfrm>
              <a:off x="2003400" y="4202678"/>
              <a:ext cx="108000" cy="10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62" name="Group 61">
            <a:extLst>
              <a:ext uri="{FF2B5EF4-FFF2-40B4-BE49-F238E27FC236}">
                <a16:creationId xmlns:a16="http://schemas.microsoft.com/office/drawing/2014/main" id="{FA51AF04-092A-48B3-9620-B9F6E3FD99F3}"/>
              </a:ext>
            </a:extLst>
          </p:cNvPr>
          <p:cNvGrpSpPr/>
          <p:nvPr/>
        </p:nvGrpSpPr>
        <p:grpSpPr>
          <a:xfrm>
            <a:off x="8841689" y="948008"/>
            <a:ext cx="732940" cy="1187960"/>
            <a:chOff x="6086960" y="2362200"/>
            <a:chExt cx="1008680" cy="1416560"/>
          </a:xfrm>
        </p:grpSpPr>
        <p:cxnSp>
          <p:nvCxnSpPr>
            <p:cNvPr id="63" name="Straight Connector 62">
              <a:extLst>
                <a:ext uri="{FF2B5EF4-FFF2-40B4-BE49-F238E27FC236}">
                  <a16:creationId xmlns:a16="http://schemas.microsoft.com/office/drawing/2014/main" id="{8E6B9D7A-7C61-421E-8821-BCA9E1E073CE}"/>
                </a:ext>
              </a:extLst>
            </p:cNvPr>
            <p:cNvCxnSpPr/>
            <p:nvPr/>
          </p:nvCxnSpPr>
          <p:spPr>
            <a:xfrm>
              <a:off x="6400799" y="2678957"/>
              <a:ext cx="0" cy="772695"/>
            </a:xfrm>
            <a:prstGeom prst="line">
              <a:avLst/>
            </a:prstGeom>
            <a:ln w="28575">
              <a:headEnd type="ova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D655CAC-32DA-4C6D-8051-4AE1DA204EF4}"/>
                </a:ext>
              </a:extLst>
            </p:cNvPr>
            <p:cNvCxnSpPr/>
            <p:nvPr/>
          </p:nvCxnSpPr>
          <p:spPr>
            <a:xfrm>
              <a:off x="6781800" y="2362200"/>
              <a:ext cx="0" cy="1066800"/>
            </a:xfrm>
            <a:prstGeom prst="line">
              <a:avLst/>
            </a:prstGeom>
            <a:ln w="28575">
              <a:headEnd type="ova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E25880A8-3D7D-4C21-8DB9-C338DA05BD62}"/>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B5D62BE-19F2-4AC0-B832-5B77F05D903B}"/>
                </a:ext>
              </a:extLst>
            </p:cNvPr>
            <p:cNvCxnSpPr>
              <a:cxnSpLocks/>
            </p:cNvCxnSpPr>
            <p:nvPr/>
          </p:nvCxnSpPr>
          <p:spPr>
            <a:xfrm rot="5400000">
              <a:off x="6933640" y="326700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57A71966-C38D-4F77-B832-FFD31FA6B117}"/>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FBA54D7-6030-4DA3-8EB9-DE2D5C4F5E18}"/>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4486AA70-DAE5-4112-A852-02FCF3E19C55}"/>
              </a:ext>
            </a:extLst>
          </p:cNvPr>
          <p:cNvGrpSpPr/>
          <p:nvPr/>
        </p:nvGrpSpPr>
        <p:grpSpPr>
          <a:xfrm>
            <a:off x="7828639" y="2527130"/>
            <a:ext cx="769920" cy="1906918"/>
            <a:chOff x="677880" y="2819402"/>
            <a:chExt cx="769920" cy="1906918"/>
          </a:xfrm>
        </p:grpSpPr>
        <p:grpSp>
          <p:nvGrpSpPr>
            <p:cNvPr id="70" name="Group 69">
              <a:extLst>
                <a:ext uri="{FF2B5EF4-FFF2-40B4-BE49-F238E27FC236}">
                  <a16:creationId xmlns:a16="http://schemas.microsoft.com/office/drawing/2014/main" id="{87CE0F2E-F8B8-4EAD-AB76-717B8EC07F32}"/>
                </a:ext>
              </a:extLst>
            </p:cNvPr>
            <p:cNvGrpSpPr/>
            <p:nvPr/>
          </p:nvGrpSpPr>
          <p:grpSpPr>
            <a:xfrm rot="16200000">
              <a:off x="696370" y="2800912"/>
              <a:ext cx="732940" cy="769920"/>
              <a:chOff x="6086960" y="2860683"/>
              <a:chExt cx="1008680" cy="918077"/>
            </a:xfrm>
          </p:grpSpPr>
          <p:cxnSp>
            <p:nvCxnSpPr>
              <p:cNvPr id="73" name="Straight Connector 72">
                <a:extLst>
                  <a:ext uri="{FF2B5EF4-FFF2-40B4-BE49-F238E27FC236}">
                    <a16:creationId xmlns:a16="http://schemas.microsoft.com/office/drawing/2014/main" id="{FF611D26-7BA8-42E9-AD7A-99BC08149672}"/>
                  </a:ext>
                </a:extLst>
              </p:cNvPr>
              <p:cNvCxnSpPr/>
              <p:nvPr/>
            </p:nvCxnSpPr>
            <p:spPr>
              <a:xfrm>
                <a:off x="6400799" y="3204105"/>
                <a:ext cx="0" cy="227516"/>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4451A094-3DC2-4063-9B65-36524277CA6D}"/>
                  </a:ext>
                </a:extLst>
              </p:cNvPr>
              <p:cNvCxnSpPr/>
              <p:nvPr/>
            </p:nvCxnSpPr>
            <p:spPr>
              <a:xfrm>
                <a:off x="6781802" y="2860683"/>
                <a:ext cx="0" cy="558058"/>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E7587BA-33CE-435D-AEA7-72797FD73C83}"/>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BEE868A-AF49-42A5-9E95-F5CD19471466}"/>
                  </a:ext>
                </a:extLst>
              </p:cNvPr>
              <p:cNvCxnSpPr>
                <a:cxnSpLocks/>
              </p:cNvCxnSpPr>
              <p:nvPr/>
            </p:nvCxnSpPr>
            <p:spPr>
              <a:xfrm rot="5400000">
                <a:off x="6933640" y="326700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07182DF-57ED-49A3-BF6A-69C7066A5D35}"/>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C17465D-69F5-4539-85B0-96A9CEF6A7F5}"/>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71" name="Straight Connector 70">
              <a:extLst>
                <a:ext uri="{FF2B5EF4-FFF2-40B4-BE49-F238E27FC236}">
                  <a16:creationId xmlns:a16="http://schemas.microsoft.com/office/drawing/2014/main" id="{75FCCB44-F6C1-4AE3-88F7-F59158571496}"/>
                </a:ext>
              </a:extLst>
            </p:cNvPr>
            <p:cNvCxnSpPr>
              <a:cxnSpLocks/>
            </p:cNvCxnSpPr>
            <p:nvPr/>
          </p:nvCxnSpPr>
          <p:spPr>
            <a:xfrm>
              <a:off x="685800" y="3048000"/>
              <a:ext cx="0" cy="1404000"/>
            </a:xfrm>
            <a:prstGeom prst="line">
              <a:avLst/>
            </a:prstGeom>
            <a:ln w="28575">
              <a:headEnd type="none"/>
              <a:tailEnd type="ova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B5B81C4-C378-4848-A158-050999B50224}"/>
                </a:ext>
              </a:extLst>
            </p:cNvPr>
            <p:cNvCxnSpPr>
              <a:cxnSpLocks/>
            </p:cNvCxnSpPr>
            <p:nvPr/>
          </p:nvCxnSpPr>
          <p:spPr>
            <a:xfrm>
              <a:off x="970280" y="3322320"/>
              <a:ext cx="0" cy="1404000"/>
            </a:xfrm>
            <a:prstGeom prst="line">
              <a:avLst/>
            </a:prstGeom>
            <a:ln w="28575">
              <a:headEnd type="none"/>
              <a:tailEnd type="oval"/>
            </a:ln>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DD69549A-B934-4B52-88C5-0E24C6F599D8}"/>
              </a:ext>
            </a:extLst>
          </p:cNvPr>
          <p:cNvGrpSpPr/>
          <p:nvPr/>
        </p:nvGrpSpPr>
        <p:grpSpPr>
          <a:xfrm>
            <a:off x="8598559" y="2146128"/>
            <a:ext cx="1219200" cy="1872278"/>
            <a:chOff x="1447800" y="2438400"/>
            <a:chExt cx="1219200" cy="1872278"/>
          </a:xfrm>
        </p:grpSpPr>
        <p:sp>
          <p:nvSpPr>
            <p:cNvPr id="80" name="Rectangle 79">
              <a:extLst>
                <a:ext uri="{FF2B5EF4-FFF2-40B4-BE49-F238E27FC236}">
                  <a16:creationId xmlns:a16="http://schemas.microsoft.com/office/drawing/2014/main" id="{2D97C5A3-1B5D-4B18-B5FA-04BEE4572500}"/>
                </a:ext>
              </a:extLst>
            </p:cNvPr>
            <p:cNvSpPr/>
            <p:nvPr/>
          </p:nvSpPr>
          <p:spPr>
            <a:xfrm>
              <a:off x="1447800" y="2438400"/>
              <a:ext cx="1219200" cy="1752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TextBox 80">
              <a:extLst>
                <a:ext uri="{FF2B5EF4-FFF2-40B4-BE49-F238E27FC236}">
                  <a16:creationId xmlns:a16="http://schemas.microsoft.com/office/drawing/2014/main" id="{289E80CF-DDC4-410B-8881-09FF7B973C82}"/>
                </a:ext>
              </a:extLst>
            </p:cNvPr>
            <p:cNvSpPr txBox="1"/>
            <p:nvPr/>
          </p:nvSpPr>
          <p:spPr>
            <a:xfrm>
              <a:off x="1579184" y="2967596"/>
              <a:ext cx="981136" cy="646331"/>
            </a:xfrm>
            <a:prstGeom prst="rect">
              <a:avLst/>
            </a:prstGeom>
            <a:noFill/>
          </p:spPr>
          <p:txBody>
            <a:bodyPr wrap="square" rtlCol="0">
              <a:spAutoFit/>
            </a:bodyPr>
            <a:lstStyle/>
            <a:p>
              <a:pPr algn="ctr"/>
              <a:r>
                <a:rPr lang="en-US" dirty="0"/>
                <a:t>PROM 1</a:t>
              </a:r>
            </a:p>
            <a:p>
              <a:pPr algn="ctr"/>
              <a:r>
                <a:rPr lang="en-US" dirty="0"/>
                <a:t>1K x 8</a:t>
              </a:r>
              <a:endParaRPr lang="en-IN" dirty="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5AB90CA1-D61C-47FC-9465-6458671ABA6E}"/>
                    </a:ext>
                  </a:extLst>
                </p:cNvPr>
                <p:cNvSpPr txBox="1"/>
                <p:nvPr/>
              </p:nvSpPr>
              <p:spPr>
                <a:xfrm>
                  <a:off x="1849285" y="3922331"/>
                  <a:ext cx="327544" cy="369909"/>
                </a:xfrm>
                <a:prstGeom prst="rect">
                  <a:avLst/>
                </a:prstGeom>
                <a:noFill/>
              </p:spPr>
              <p:txBody>
                <a:bodyPr wrap="square" rtlCol="0">
                  <a:noAutofit/>
                </a:bodyPr>
                <a:lstStyle/>
                <a:p>
                  <a:pPr/>
                  <a14:m>
                    <m:oMathPara xmlns:m="http://schemas.openxmlformats.org/officeDocument/2006/math">
                      <m:oMathParaPr>
                        <m:jc m:val="centerGroup"/>
                      </m:oMathParaPr>
                      <m:oMath xmlns:m="http://schemas.openxmlformats.org/officeDocument/2006/math">
                        <m:acc>
                          <m:accPr>
                            <m:chr m:val="̅"/>
                            <m:ctrlPr>
                              <a:rPr lang="en-US" sz="1600" i="1" dirty="0">
                                <a:latin typeface="Cambria Math" panose="02040503050406030204" pitchFamily="18" charset="0"/>
                              </a:rPr>
                            </m:ctrlPr>
                          </m:accPr>
                          <m:e>
                            <m:r>
                              <a:rPr lang="en-US" sz="1600" b="0" i="1" dirty="0" smtClean="0">
                                <a:latin typeface="Cambria Math" panose="02040503050406030204" pitchFamily="18" charset="0"/>
                              </a:rPr>
                              <m:t>𝐶𝑆</m:t>
                            </m:r>
                          </m:e>
                        </m:acc>
                      </m:oMath>
                    </m:oMathPara>
                  </a14:m>
                  <a:endParaRPr lang="en-IN" sz="1600" dirty="0"/>
                </a:p>
              </p:txBody>
            </p:sp>
          </mc:Choice>
          <mc:Fallback xmlns="">
            <p:sp>
              <p:nvSpPr>
                <p:cNvPr id="97" name="TextBox 96">
                  <a:extLst>
                    <a:ext uri="{FF2B5EF4-FFF2-40B4-BE49-F238E27FC236}">
                      <a16:creationId xmlns:a16="http://schemas.microsoft.com/office/drawing/2014/main" id="{D10873CA-16E8-4C2F-A00C-293DB7B8FC08}"/>
                    </a:ext>
                  </a:extLst>
                </p:cNvPr>
                <p:cNvSpPr txBox="1">
                  <a:spLocks noRot="1" noChangeAspect="1" noMove="1" noResize="1" noEditPoints="1" noAdjustHandles="1" noChangeArrowheads="1" noChangeShapeType="1" noTextEdit="1"/>
                </p:cNvSpPr>
                <p:nvPr/>
              </p:nvSpPr>
              <p:spPr>
                <a:xfrm>
                  <a:off x="1849285" y="3922331"/>
                  <a:ext cx="327544" cy="369909"/>
                </a:xfrm>
                <a:prstGeom prst="rect">
                  <a:avLst/>
                </a:prstGeom>
                <a:blipFill>
                  <a:blip r:embed="rId4"/>
                  <a:stretch>
                    <a:fillRect r="-16667"/>
                  </a:stretch>
                </a:blipFill>
              </p:spPr>
              <p:txBody>
                <a:bodyPr/>
                <a:lstStyle/>
                <a:p>
                  <a:r>
                    <a:rPr lang="en-IN">
                      <a:noFill/>
                    </a:rPr>
                    <a:t> </a:t>
                  </a:r>
                </a:p>
              </p:txBody>
            </p:sp>
          </mc:Fallback>
        </mc:AlternateContent>
        <p:sp>
          <p:nvSpPr>
            <p:cNvPr id="83" name="Oval 82">
              <a:extLst>
                <a:ext uri="{FF2B5EF4-FFF2-40B4-BE49-F238E27FC236}">
                  <a16:creationId xmlns:a16="http://schemas.microsoft.com/office/drawing/2014/main" id="{12EE05B4-171E-4C3D-80A9-CC19EB375558}"/>
                </a:ext>
              </a:extLst>
            </p:cNvPr>
            <p:cNvSpPr/>
            <p:nvPr/>
          </p:nvSpPr>
          <p:spPr>
            <a:xfrm>
              <a:off x="2003400" y="4202678"/>
              <a:ext cx="108000" cy="10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84" name="Group 83">
            <a:extLst>
              <a:ext uri="{FF2B5EF4-FFF2-40B4-BE49-F238E27FC236}">
                <a16:creationId xmlns:a16="http://schemas.microsoft.com/office/drawing/2014/main" id="{033559FC-9FC5-41DD-8013-EC784216CABE}"/>
              </a:ext>
            </a:extLst>
          </p:cNvPr>
          <p:cNvGrpSpPr/>
          <p:nvPr/>
        </p:nvGrpSpPr>
        <p:grpSpPr>
          <a:xfrm>
            <a:off x="10967369" y="948008"/>
            <a:ext cx="732940" cy="1187960"/>
            <a:chOff x="6086960" y="2362200"/>
            <a:chExt cx="1008680" cy="1416560"/>
          </a:xfrm>
        </p:grpSpPr>
        <p:cxnSp>
          <p:nvCxnSpPr>
            <p:cNvPr id="85" name="Straight Connector 84">
              <a:extLst>
                <a:ext uri="{FF2B5EF4-FFF2-40B4-BE49-F238E27FC236}">
                  <a16:creationId xmlns:a16="http://schemas.microsoft.com/office/drawing/2014/main" id="{098E4601-22DC-4649-BC87-FFCDBE80CFB0}"/>
                </a:ext>
              </a:extLst>
            </p:cNvPr>
            <p:cNvCxnSpPr/>
            <p:nvPr/>
          </p:nvCxnSpPr>
          <p:spPr>
            <a:xfrm>
              <a:off x="6400799" y="2678957"/>
              <a:ext cx="0" cy="772695"/>
            </a:xfrm>
            <a:prstGeom prst="line">
              <a:avLst/>
            </a:prstGeom>
            <a:ln w="28575">
              <a:headEnd type="ova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6ECE385-6D2A-4474-B57F-ABBC24D86BE2}"/>
                </a:ext>
              </a:extLst>
            </p:cNvPr>
            <p:cNvCxnSpPr/>
            <p:nvPr/>
          </p:nvCxnSpPr>
          <p:spPr>
            <a:xfrm>
              <a:off x="6781800" y="2362200"/>
              <a:ext cx="0" cy="1066800"/>
            </a:xfrm>
            <a:prstGeom prst="line">
              <a:avLst/>
            </a:prstGeom>
            <a:ln w="28575">
              <a:headEnd type="ova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13FF0726-F898-4A23-B763-B4B6AD09C47B}"/>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E5F8274D-C3F0-4907-A1B8-4F205ACA5352}"/>
                </a:ext>
              </a:extLst>
            </p:cNvPr>
            <p:cNvCxnSpPr>
              <a:cxnSpLocks/>
            </p:cNvCxnSpPr>
            <p:nvPr/>
          </p:nvCxnSpPr>
          <p:spPr>
            <a:xfrm rot="5400000">
              <a:off x="6933640" y="326700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A8243FA-30E1-453D-9F32-19F2B900115D}"/>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A2F96D54-1CD2-4561-AC66-7D004FED83B6}"/>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91" name="Group 90">
            <a:extLst>
              <a:ext uri="{FF2B5EF4-FFF2-40B4-BE49-F238E27FC236}">
                <a16:creationId xmlns:a16="http://schemas.microsoft.com/office/drawing/2014/main" id="{37BB184D-2CD7-4480-9FEC-EE3732B0E413}"/>
              </a:ext>
            </a:extLst>
          </p:cNvPr>
          <p:cNvGrpSpPr/>
          <p:nvPr/>
        </p:nvGrpSpPr>
        <p:grpSpPr>
          <a:xfrm>
            <a:off x="9954319" y="2527130"/>
            <a:ext cx="769920" cy="1906918"/>
            <a:chOff x="677880" y="2819402"/>
            <a:chExt cx="769920" cy="1906918"/>
          </a:xfrm>
        </p:grpSpPr>
        <p:grpSp>
          <p:nvGrpSpPr>
            <p:cNvPr id="92" name="Group 91">
              <a:extLst>
                <a:ext uri="{FF2B5EF4-FFF2-40B4-BE49-F238E27FC236}">
                  <a16:creationId xmlns:a16="http://schemas.microsoft.com/office/drawing/2014/main" id="{8D720B2D-A13A-486A-8F3B-249F45D7422A}"/>
                </a:ext>
              </a:extLst>
            </p:cNvPr>
            <p:cNvGrpSpPr/>
            <p:nvPr/>
          </p:nvGrpSpPr>
          <p:grpSpPr>
            <a:xfrm rot="16200000">
              <a:off x="696370" y="2800912"/>
              <a:ext cx="732940" cy="769920"/>
              <a:chOff x="6086960" y="2860683"/>
              <a:chExt cx="1008680" cy="918077"/>
            </a:xfrm>
          </p:grpSpPr>
          <p:cxnSp>
            <p:nvCxnSpPr>
              <p:cNvPr id="95" name="Straight Connector 94">
                <a:extLst>
                  <a:ext uri="{FF2B5EF4-FFF2-40B4-BE49-F238E27FC236}">
                    <a16:creationId xmlns:a16="http://schemas.microsoft.com/office/drawing/2014/main" id="{783513A4-C865-4487-9212-87F7FD666D64}"/>
                  </a:ext>
                </a:extLst>
              </p:cNvPr>
              <p:cNvCxnSpPr/>
              <p:nvPr/>
            </p:nvCxnSpPr>
            <p:spPr>
              <a:xfrm>
                <a:off x="6400799" y="3204105"/>
                <a:ext cx="0" cy="227516"/>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479419A1-EA89-4184-9F01-05D147EE86F6}"/>
                  </a:ext>
                </a:extLst>
              </p:cNvPr>
              <p:cNvCxnSpPr/>
              <p:nvPr/>
            </p:nvCxnSpPr>
            <p:spPr>
              <a:xfrm>
                <a:off x="6781802" y="2860683"/>
                <a:ext cx="0" cy="558058"/>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764529F-5DCA-4821-8C45-584728DF233D}"/>
                  </a:ext>
                </a:extLst>
              </p:cNvPr>
              <p:cNvCxnSpPr>
                <a:cxnSpLocks/>
              </p:cNvCxnSpPr>
              <p:nvPr/>
            </p:nvCxnSpPr>
            <p:spPr>
              <a:xfrm rot="5400000">
                <a:off x="6248960" y="327284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6063891-992F-4E40-A9E4-B2247F0497AA}"/>
                  </a:ext>
                </a:extLst>
              </p:cNvPr>
              <p:cNvCxnSpPr>
                <a:cxnSpLocks/>
              </p:cNvCxnSpPr>
              <p:nvPr/>
            </p:nvCxnSpPr>
            <p:spPr>
              <a:xfrm rot="5400000">
                <a:off x="6933640" y="3267000"/>
                <a:ext cx="0" cy="324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CB7D768B-FEB6-4D3E-9069-E8A788E31981}"/>
                  </a:ext>
                </a:extLst>
              </p:cNvPr>
              <p:cNvCxnSpPr>
                <a:cxnSpLocks/>
              </p:cNvCxnSpPr>
              <p:nvPr/>
            </p:nvCxnSpPr>
            <p:spPr>
              <a:xfrm flipH="1" flipV="1">
                <a:off x="6097462" y="3434840"/>
                <a:ext cx="503658" cy="343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B41B30F-AFBC-4DA5-BD2A-766EBEC378B5}"/>
                  </a:ext>
                </a:extLst>
              </p:cNvPr>
              <p:cNvCxnSpPr>
                <a:cxnSpLocks/>
              </p:cNvCxnSpPr>
              <p:nvPr/>
            </p:nvCxnSpPr>
            <p:spPr>
              <a:xfrm flipV="1">
                <a:off x="6591640" y="3423160"/>
                <a:ext cx="504000" cy="355600"/>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93" name="Straight Connector 92">
              <a:extLst>
                <a:ext uri="{FF2B5EF4-FFF2-40B4-BE49-F238E27FC236}">
                  <a16:creationId xmlns:a16="http://schemas.microsoft.com/office/drawing/2014/main" id="{F50CD017-E4A1-41B0-A531-53E1CDCD515C}"/>
                </a:ext>
              </a:extLst>
            </p:cNvPr>
            <p:cNvCxnSpPr>
              <a:cxnSpLocks/>
            </p:cNvCxnSpPr>
            <p:nvPr/>
          </p:nvCxnSpPr>
          <p:spPr>
            <a:xfrm>
              <a:off x="685800" y="3048000"/>
              <a:ext cx="0" cy="1404000"/>
            </a:xfrm>
            <a:prstGeom prst="line">
              <a:avLst/>
            </a:prstGeom>
            <a:ln w="28575">
              <a:headEnd type="none"/>
              <a:tailEnd type="ova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44F5250-A50A-40CB-9701-A856EABABAC4}"/>
                </a:ext>
              </a:extLst>
            </p:cNvPr>
            <p:cNvCxnSpPr>
              <a:cxnSpLocks/>
            </p:cNvCxnSpPr>
            <p:nvPr/>
          </p:nvCxnSpPr>
          <p:spPr>
            <a:xfrm>
              <a:off x="970280" y="3322320"/>
              <a:ext cx="0" cy="1404000"/>
            </a:xfrm>
            <a:prstGeom prst="line">
              <a:avLst/>
            </a:prstGeom>
            <a:ln w="28575">
              <a:headEnd type="none"/>
              <a:tailEnd type="oval"/>
            </a:ln>
          </p:spPr>
          <p:style>
            <a:lnRef idx="1">
              <a:schemeClr val="accent1"/>
            </a:lnRef>
            <a:fillRef idx="0">
              <a:schemeClr val="accent1"/>
            </a:fillRef>
            <a:effectRef idx="0">
              <a:schemeClr val="accent1"/>
            </a:effectRef>
            <a:fontRef idx="minor">
              <a:schemeClr val="tx1"/>
            </a:fontRef>
          </p:style>
        </p:cxnSp>
      </p:grpSp>
      <p:grpSp>
        <p:nvGrpSpPr>
          <p:cNvPr id="101" name="Group 100">
            <a:extLst>
              <a:ext uri="{FF2B5EF4-FFF2-40B4-BE49-F238E27FC236}">
                <a16:creationId xmlns:a16="http://schemas.microsoft.com/office/drawing/2014/main" id="{CB24E794-A0F8-4814-B82F-769A502F64E2}"/>
              </a:ext>
            </a:extLst>
          </p:cNvPr>
          <p:cNvGrpSpPr/>
          <p:nvPr/>
        </p:nvGrpSpPr>
        <p:grpSpPr>
          <a:xfrm>
            <a:off x="10724239" y="2146128"/>
            <a:ext cx="1219200" cy="1872278"/>
            <a:chOff x="1447800" y="2438400"/>
            <a:chExt cx="1219200" cy="1872278"/>
          </a:xfrm>
        </p:grpSpPr>
        <p:sp>
          <p:nvSpPr>
            <p:cNvPr id="102" name="Rectangle 101">
              <a:extLst>
                <a:ext uri="{FF2B5EF4-FFF2-40B4-BE49-F238E27FC236}">
                  <a16:creationId xmlns:a16="http://schemas.microsoft.com/office/drawing/2014/main" id="{2D77FFB9-6F19-4A70-950A-77BD181AF2E7}"/>
                </a:ext>
              </a:extLst>
            </p:cNvPr>
            <p:cNvSpPr/>
            <p:nvPr/>
          </p:nvSpPr>
          <p:spPr>
            <a:xfrm>
              <a:off x="1447800" y="2438400"/>
              <a:ext cx="1219200" cy="1752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3" name="TextBox 102">
              <a:extLst>
                <a:ext uri="{FF2B5EF4-FFF2-40B4-BE49-F238E27FC236}">
                  <a16:creationId xmlns:a16="http://schemas.microsoft.com/office/drawing/2014/main" id="{2535EDA1-DA57-42CD-8DED-5C792CA40985}"/>
                </a:ext>
              </a:extLst>
            </p:cNvPr>
            <p:cNvSpPr txBox="1"/>
            <p:nvPr/>
          </p:nvSpPr>
          <p:spPr>
            <a:xfrm>
              <a:off x="1579184" y="2967596"/>
              <a:ext cx="981136" cy="646331"/>
            </a:xfrm>
            <a:prstGeom prst="rect">
              <a:avLst/>
            </a:prstGeom>
            <a:noFill/>
          </p:spPr>
          <p:txBody>
            <a:bodyPr wrap="square" rtlCol="0">
              <a:spAutoFit/>
            </a:bodyPr>
            <a:lstStyle/>
            <a:p>
              <a:pPr algn="ctr"/>
              <a:r>
                <a:rPr lang="en-US" dirty="0"/>
                <a:t>PROM 1</a:t>
              </a:r>
            </a:p>
            <a:p>
              <a:pPr algn="ctr"/>
              <a:r>
                <a:rPr lang="en-US" dirty="0"/>
                <a:t>1K x 8</a:t>
              </a:r>
              <a:endParaRPr lang="en-IN" dirty="0"/>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C66A6080-5D37-4BBA-9A9C-F17F69AFA56A}"/>
                    </a:ext>
                  </a:extLst>
                </p:cNvPr>
                <p:cNvSpPr txBox="1"/>
                <p:nvPr/>
              </p:nvSpPr>
              <p:spPr>
                <a:xfrm>
                  <a:off x="1849285" y="3922331"/>
                  <a:ext cx="327544" cy="369909"/>
                </a:xfrm>
                <a:prstGeom prst="rect">
                  <a:avLst/>
                </a:prstGeom>
                <a:noFill/>
              </p:spPr>
              <p:txBody>
                <a:bodyPr wrap="square" rtlCol="0">
                  <a:noAutofit/>
                </a:bodyPr>
                <a:lstStyle/>
                <a:p>
                  <a:pPr/>
                  <a14:m>
                    <m:oMathPara xmlns:m="http://schemas.openxmlformats.org/officeDocument/2006/math">
                      <m:oMathParaPr>
                        <m:jc m:val="centerGroup"/>
                      </m:oMathParaPr>
                      <m:oMath xmlns:m="http://schemas.openxmlformats.org/officeDocument/2006/math">
                        <m:acc>
                          <m:accPr>
                            <m:chr m:val="̅"/>
                            <m:ctrlPr>
                              <a:rPr lang="en-US" sz="1600" i="1" dirty="0">
                                <a:latin typeface="Cambria Math" panose="02040503050406030204" pitchFamily="18" charset="0"/>
                              </a:rPr>
                            </m:ctrlPr>
                          </m:accPr>
                          <m:e>
                            <m:r>
                              <a:rPr lang="en-US" sz="1600" b="0" i="1" dirty="0" smtClean="0">
                                <a:latin typeface="Cambria Math" panose="02040503050406030204" pitchFamily="18" charset="0"/>
                              </a:rPr>
                              <m:t>𝐶𝑆</m:t>
                            </m:r>
                          </m:e>
                        </m:acc>
                      </m:oMath>
                    </m:oMathPara>
                  </a14:m>
                  <a:endParaRPr lang="en-IN" sz="1600" dirty="0"/>
                </a:p>
              </p:txBody>
            </p:sp>
          </mc:Choice>
          <mc:Fallback xmlns="">
            <p:sp>
              <p:nvSpPr>
                <p:cNvPr id="141" name="TextBox 140">
                  <a:extLst>
                    <a:ext uri="{FF2B5EF4-FFF2-40B4-BE49-F238E27FC236}">
                      <a16:creationId xmlns:a16="http://schemas.microsoft.com/office/drawing/2014/main" id="{4C22D45C-9779-46E6-93C3-34D76CB22E4B}"/>
                    </a:ext>
                  </a:extLst>
                </p:cNvPr>
                <p:cNvSpPr txBox="1">
                  <a:spLocks noRot="1" noChangeAspect="1" noMove="1" noResize="1" noEditPoints="1" noAdjustHandles="1" noChangeArrowheads="1" noChangeShapeType="1" noTextEdit="1"/>
                </p:cNvSpPr>
                <p:nvPr/>
              </p:nvSpPr>
              <p:spPr>
                <a:xfrm>
                  <a:off x="1849285" y="3922331"/>
                  <a:ext cx="327544" cy="369909"/>
                </a:xfrm>
                <a:prstGeom prst="rect">
                  <a:avLst/>
                </a:prstGeom>
                <a:blipFill>
                  <a:blip r:embed="rId5"/>
                  <a:stretch>
                    <a:fillRect r="-18868"/>
                  </a:stretch>
                </a:blipFill>
              </p:spPr>
              <p:txBody>
                <a:bodyPr/>
                <a:lstStyle/>
                <a:p>
                  <a:r>
                    <a:rPr lang="en-IN">
                      <a:noFill/>
                    </a:rPr>
                    <a:t> </a:t>
                  </a:r>
                </a:p>
              </p:txBody>
            </p:sp>
          </mc:Fallback>
        </mc:AlternateContent>
        <p:sp>
          <p:nvSpPr>
            <p:cNvPr id="105" name="Oval 104">
              <a:extLst>
                <a:ext uri="{FF2B5EF4-FFF2-40B4-BE49-F238E27FC236}">
                  <a16:creationId xmlns:a16="http://schemas.microsoft.com/office/drawing/2014/main" id="{461A3998-E11E-434F-AD92-98F1AA4CE475}"/>
                </a:ext>
              </a:extLst>
            </p:cNvPr>
            <p:cNvSpPr/>
            <p:nvPr/>
          </p:nvSpPr>
          <p:spPr>
            <a:xfrm>
              <a:off x="2003400" y="4202678"/>
              <a:ext cx="108000" cy="10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06" name="Straight Connector 105">
            <a:extLst>
              <a:ext uri="{FF2B5EF4-FFF2-40B4-BE49-F238E27FC236}">
                <a16:creationId xmlns:a16="http://schemas.microsoft.com/office/drawing/2014/main" id="{CCEDF0C2-7EB6-4F29-BAD6-7FA268F91FDA}"/>
              </a:ext>
            </a:extLst>
          </p:cNvPr>
          <p:cNvCxnSpPr>
            <a:cxnSpLocks/>
          </p:cNvCxnSpPr>
          <p:nvPr/>
        </p:nvCxnSpPr>
        <p:spPr>
          <a:xfrm>
            <a:off x="4943199" y="4007328"/>
            <a:ext cx="0" cy="8748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0BAA6DF5-508E-4A83-A7C2-6BEBDB0C6566}"/>
              </a:ext>
            </a:extLst>
          </p:cNvPr>
          <p:cNvCxnSpPr/>
          <p:nvPr/>
        </p:nvCxnSpPr>
        <p:spPr>
          <a:xfrm rot="16200000">
            <a:off x="5816934" y="3939313"/>
            <a:ext cx="0" cy="25200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F988F559-A648-47E3-BF9B-7A64E4FEFD5C}"/>
              </a:ext>
            </a:extLst>
          </p:cNvPr>
          <p:cNvCxnSpPr>
            <a:cxnSpLocks/>
          </p:cNvCxnSpPr>
          <p:nvPr/>
        </p:nvCxnSpPr>
        <p:spPr>
          <a:xfrm>
            <a:off x="7089614" y="4018406"/>
            <a:ext cx="0" cy="11880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CCE28C41-5A18-445B-9850-643342773DFA}"/>
              </a:ext>
            </a:extLst>
          </p:cNvPr>
          <p:cNvCxnSpPr/>
          <p:nvPr/>
        </p:nvCxnSpPr>
        <p:spPr>
          <a:xfrm rot="16200000">
            <a:off x="6889094" y="3184339"/>
            <a:ext cx="0" cy="46440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D173D520-E9AC-472E-BDB4-328B0118FA22}"/>
              </a:ext>
            </a:extLst>
          </p:cNvPr>
          <p:cNvCxnSpPr>
            <a:cxnSpLocks/>
          </p:cNvCxnSpPr>
          <p:nvPr/>
        </p:nvCxnSpPr>
        <p:spPr>
          <a:xfrm>
            <a:off x="9215294" y="4018406"/>
            <a:ext cx="0" cy="14940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09F1F6B1-A114-488A-B6DF-5E461201EE76}"/>
              </a:ext>
            </a:extLst>
          </p:cNvPr>
          <p:cNvCxnSpPr/>
          <p:nvPr/>
        </p:nvCxnSpPr>
        <p:spPr>
          <a:xfrm rot="16200000">
            <a:off x="7958489" y="2448082"/>
            <a:ext cx="0" cy="67680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420C4302-B19F-45AD-8449-5C0009254A08}"/>
              </a:ext>
            </a:extLst>
          </p:cNvPr>
          <p:cNvCxnSpPr>
            <a:cxnSpLocks/>
          </p:cNvCxnSpPr>
          <p:nvPr/>
        </p:nvCxnSpPr>
        <p:spPr>
          <a:xfrm>
            <a:off x="11330814" y="4010128"/>
            <a:ext cx="0" cy="18360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4DCAEED1-BFAD-4A7F-9D80-CB6C09013F32}"/>
              </a:ext>
            </a:extLst>
          </p:cNvPr>
          <p:cNvSpPr txBox="1"/>
          <p:nvPr/>
        </p:nvSpPr>
        <p:spPr>
          <a:xfrm>
            <a:off x="3104239" y="742396"/>
            <a:ext cx="435412" cy="369332"/>
          </a:xfrm>
          <a:prstGeom prst="rect">
            <a:avLst/>
          </a:prstGeom>
          <a:noFill/>
        </p:spPr>
        <p:txBody>
          <a:bodyPr wrap="square" rtlCol="0">
            <a:noAutofit/>
          </a:bodyPr>
          <a:lstStyle/>
          <a:p>
            <a:r>
              <a:rPr lang="en-IN" dirty="0"/>
              <a:t>D</a:t>
            </a:r>
            <a:r>
              <a:rPr lang="en-IN" baseline="-25000" dirty="0"/>
              <a:t>7</a:t>
            </a:r>
            <a:endParaRPr lang="en-IN" dirty="0"/>
          </a:p>
        </p:txBody>
      </p:sp>
      <p:sp>
        <p:nvSpPr>
          <p:cNvPr id="114" name="TextBox 113">
            <a:extLst>
              <a:ext uri="{FF2B5EF4-FFF2-40B4-BE49-F238E27FC236}">
                <a16:creationId xmlns:a16="http://schemas.microsoft.com/office/drawing/2014/main" id="{0CAE7E9D-DDCE-4CDB-AEE3-67B39226A469}"/>
              </a:ext>
            </a:extLst>
          </p:cNvPr>
          <p:cNvSpPr txBox="1"/>
          <p:nvPr/>
        </p:nvSpPr>
        <p:spPr>
          <a:xfrm>
            <a:off x="3105707" y="1005048"/>
            <a:ext cx="435412" cy="369332"/>
          </a:xfrm>
          <a:prstGeom prst="rect">
            <a:avLst/>
          </a:prstGeom>
          <a:noFill/>
        </p:spPr>
        <p:txBody>
          <a:bodyPr wrap="square" rtlCol="0">
            <a:noAutofit/>
          </a:bodyPr>
          <a:lstStyle/>
          <a:p>
            <a:r>
              <a:rPr lang="en-IN" dirty="0"/>
              <a:t>D</a:t>
            </a:r>
            <a:r>
              <a:rPr lang="en-IN" baseline="-25000" dirty="0"/>
              <a:t>0</a:t>
            </a:r>
            <a:endParaRPr lang="en-IN" dirty="0"/>
          </a:p>
        </p:txBody>
      </p:sp>
      <p:sp>
        <p:nvSpPr>
          <p:cNvPr id="115" name="TextBox 114">
            <a:extLst>
              <a:ext uri="{FF2B5EF4-FFF2-40B4-BE49-F238E27FC236}">
                <a16:creationId xmlns:a16="http://schemas.microsoft.com/office/drawing/2014/main" id="{1E3B8C81-CBBA-4156-85DC-2243032B7019}"/>
              </a:ext>
            </a:extLst>
          </p:cNvPr>
          <p:cNvSpPr txBox="1"/>
          <p:nvPr/>
        </p:nvSpPr>
        <p:spPr>
          <a:xfrm>
            <a:off x="3086640" y="3943273"/>
            <a:ext cx="435412" cy="369332"/>
          </a:xfrm>
          <a:prstGeom prst="rect">
            <a:avLst/>
          </a:prstGeom>
          <a:noFill/>
        </p:spPr>
        <p:txBody>
          <a:bodyPr wrap="square" rtlCol="0">
            <a:noAutofit/>
          </a:bodyPr>
          <a:lstStyle/>
          <a:p>
            <a:r>
              <a:rPr lang="en-IN" dirty="0"/>
              <a:t>A</a:t>
            </a:r>
            <a:r>
              <a:rPr lang="en-IN" baseline="-25000" dirty="0"/>
              <a:t>9</a:t>
            </a:r>
            <a:endParaRPr lang="en-IN" dirty="0"/>
          </a:p>
        </p:txBody>
      </p:sp>
      <p:sp>
        <p:nvSpPr>
          <p:cNvPr id="116" name="TextBox 115">
            <a:extLst>
              <a:ext uri="{FF2B5EF4-FFF2-40B4-BE49-F238E27FC236}">
                <a16:creationId xmlns:a16="http://schemas.microsoft.com/office/drawing/2014/main" id="{7DEA513D-75E2-4504-B901-D00D8E2A501E}"/>
              </a:ext>
            </a:extLst>
          </p:cNvPr>
          <p:cNvSpPr txBox="1"/>
          <p:nvPr/>
        </p:nvSpPr>
        <p:spPr>
          <a:xfrm>
            <a:off x="3088108" y="4205925"/>
            <a:ext cx="435412" cy="369332"/>
          </a:xfrm>
          <a:prstGeom prst="rect">
            <a:avLst/>
          </a:prstGeom>
          <a:noFill/>
        </p:spPr>
        <p:txBody>
          <a:bodyPr wrap="square" rtlCol="0">
            <a:noAutofit/>
          </a:bodyPr>
          <a:lstStyle/>
          <a:p>
            <a:r>
              <a:rPr lang="en-IN" dirty="0"/>
              <a:t>A</a:t>
            </a:r>
            <a:r>
              <a:rPr lang="en-IN" baseline="-25000" dirty="0"/>
              <a:t>0</a:t>
            </a:r>
            <a:endParaRPr lang="en-IN" dirty="0"/>
          </a:p>
        </p:txBody>
      </p:sp>
      <p:cxnSp>
        <p:nvCxnSpPr>
          <p:cNvPr id="117" name="Straight Connector 116">
            <a:extLst>
              <a:ext uri="{FF2B5EF4-FFF2-40B4-BE49-F238E27FC236}">
                <a16:creationId xmlns:a16="http://schemas.microsoft.com/office/drawing/2014/main" id="{87679475-96EF-4D21-9BD8-A2874BB1CA70}"/>
              </a:ext>
            </a:extLst>
          </p:cNvPr>
          <p:cNvCxnSpPr/>
          <p:nvPr/>
        </p:nvCxnSpPr>
        <p:spPr>
          <a:xfrm rot="16200000">
            <a:off x="4742953" y="4681286"/>
            <a:ext cx="0" cy="3816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7C2EB7FF-D2BC-471F-AD7D-40343A245F95}"/>
              </a:ext>
            </a:extLst>
          </p:cNvPr>
          <p:cNvSpPr txBox="1"/>
          <p:nvPr/>
        </p:nvSpPr>
        <p:spPr>
          <a:xfrm>
            <a:off x="3052006" y="5358608"/>
            <a:ext cx="478953" cy="369332"/>
          </a:xfrm>
          <a:prstGeom prst="rect">
            <a:avLst/>
          </a:prstGeom>
          <a:noFill/>
        </p:spPr>
        <p:txBody>
          <a:bodyPr wrap="square" rtlCol="0">
            <a:noAutofit/>
          </a:bodyPr>
          <a:lstStyle/>
          <a:p>
            <a:r>
              <a:rPr lang="en-IN" dirty="0"/>
              <a:t>A</a:t>
            </a:r>
            <a:r>
              <a:rPr lang="en-IN" baseline="-25000" dirty="0"/>
              <a:t>10</a:t>
            </a:r>
            <a:endParaRPr lang="en-IN" dirty="0"/>
          </a:p>
        </p:txBody>
      </p:sp>
      <p:grpSp>
        <p:nvGrpSpPr>
          <p:cNvPr id="119" name="Group 118">
            <a:extLst>
              <a:ext uri="{FF2B5EF4-FFF2-40B4-BE49-F238E27FC236}">
                <a16:creationId xmlns:a16="http://schemas.microsoft.com/office/drawing/2014/main" id="{40333EE1-F7FA-497C-8729-885DF8DBAAEA}"/>
              </a:ext>
            </a:extLst>
          </p:cNvPr>
          <p:cNvGrpSpPr/>
          <p:nvPr/>
        </p:nvGrpSpPr>
        <p:grpSpPr>
          <a:xfrm>
            <a:off x="3062149" y="4671950"/>
            <a:ext cx="1860730" cy="1544838"/>
            <a:chOff x="-31930" y="4962302"/>
            <a:chExt cx="1860730" cy="1544838"/>
          </a:xfrm>
        </p:grpSpPr>
        <p:grpSp>
          <p:nvGrpSpPr>
            <p:cNvPr id="120" name="Group 119">
              <a:extLst>
                <a:ext uri="{FF2B5EF4-FFF2-40B4-BE49-F238E27FC236}">
                  <a16:creationId xmlns:a16="http://schemas.microsoft.com/office/drawing/2014/main" id="{F298A00A-0222-44AB-A8E8-312D95BA21F7}"/>
                </a:ext>
              </a:extLst>
            </p:cNvPr>
            <p:cNvGrpSpPr/>
            <p:nvPr/>
          </p:nvGrpSpPr>
          <p:grpSpPr>
            <a:xfrm>
              <a:off x="-31930" y="4962302"/>
              <a:ext cx="1860730" cy="1312949"/>
              <a:chOff x="-31930" y="4962302"/>
              <a:chExt cx="1860730" cy="1312949"/>
            </a:xfrm>
          </p:grpSpPr>
          <p:sp>
            <p:nvSpPr>
              <p:cNvPr id="122" name="Rectangle 121">
                <a:extLst>
                  <a:ext uri="{FF2B5EF4-FFF2-40B4-BE49-F238E27FC236}">
                    <a16:creationId xmlns:a16="http://schemas.microsoft.com/office/drawing/2014/main" id="{2C9EA04D-230F-468A-AEBB-49C0B813F199}"/>
                  </a:ext>
                </a:extLst>
              </p:cNvPr>
              <p:cNvSpPr/>
              <p:nvPr/>
            </p:nvSpPr>
            <p:spPr>
              <a:xfrm>
                <a:off x="574040" y="4962302"/>
                <a:ext cx="779043" cy="13129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3" name="Straight Connector 122">
                <a:extLst>
                  <a:ext uri="{FF2B5EF4-FFF2-40B4-BE49-F238E27FC236}">
                    <a16:creationId xmlns:a16="http://schemas.microsoft.com/office/drawing/2014/main" id="{3D78727D-E33A-4D38-BDC9-C235CD7250D8}"/>
                  </a:ext>
                </a:extLst>
              </p:cNvPr>
              <p:cNvCxnSpPr/>
              <p:nvPr/>
            </p:nvCxnSpPr>
            <p:spPr>
              <a:xfrm rot="16200000">
                <a:off x="466360" y="5296800"/>
                <a:ext cx="0" cy="2268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52F5E0FA-FDE4-443C-9BD3-C0B829DB8A92}"/>
                  </a:ext>
                </a:extLst>
              </p:cNvPr>
              <p:cNvCxnSpPr/>
              <p:nvPr/>
            </p:nvCxnSpPr>
            <p:spPr>
              <a:xfrm rot="16200000">
                <a:off x="461279" y="5754000"/>
                <a:ext cx="0" cy="226800"/>
              </a:xfrm>
              <a:prstGeom prst="line">
                <a:avLst/>
              </a:prstGeom>
              <a:ln w="28575">
                <a:headEnd type="none"/>
              </a:ln>
            </p:spPr>
            <p:style>
              <a:lnRef idx="1">
                <a:schemeClr val="accent1"/>
              </a:lnRef>
              <a:fillRef idx="0">
                <a:schemeClr val="accent1"/>
              </a:fillRef>
              <a:effectRef idx="0">
                <a:schemeClr val="accent1"/>
              </a:effectRef>
              <a:fontRef idx="minor">
                <a:schemeClr val="tx1"/>
              </a:fontRef>
            </p:style>
          </p:cxnSp>
          <p:sp>
            <p:nvSpPr>
              <p:cNvPr id="125" name="Oval 124">
                <a:extLst>
                  <a:ext uri="{FF2B5EF4-FFF2-40B4-BE49-F238E27FC236}">
                    <a16:creationId xmlns:a16="http://schemas.microsoft.com/office/drawing/2014/main" id="{6E005F88-3629-4895-B44D-CF0DC9CC7673}"/>
                  </a:ext>
                </a:extLst>
              </p:cNvPr>
              <p:cNvSpPr/>
              <p:nvPr/>
            </p:nvSpPr>
            <p:spPr>
              <a:xfrm>
                <a:off x="1368601" y="5105400"/>
                <a:ext cx="108000" cy="10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Oval 125">
                <a:extLst>
                  <a:ext uri="{FF2B5EF4-FFF2-40B4-BE49-F238E27FC236}">
                    <a16:creationId xmlns:a16="http://schemas.microsoft.com/office/drawing/2014/main" id="{7CF964B3-E2C7-4F61-825F-B4215E60A106}"/>
                  </a:ext>
                </a:extLst>
              </p:cNvPr>
              <p:cNvSpPr/>
              <p:nvPr/>
            </p:nvSpPr>
            <p:spPr>
              <a:xfrm>
                <a:off x="1368601" y="5430520"/>
                <a:ext cx="108000" cy="10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Oval 126">
                <a:extLst>
                  <a:ext uri="{FF2B5EF4-FFF2-40B4-BE49-F238E27FC236}">
                    <a16:creationId xmlns:a16="http://schemas.microsoft.com/office/drawing/2014/main" id="{C8031C4E-3FAD-433A-A23A-B1A9B625029F}"/>
                  </a:ext>
                </a:extLst>
              </p:cNvPr>
              <p:cNvSpPr/>
              <p:nvPr/>
            </p:nvSpPr>
            <p:spPr>
              <a:xfrm>
                <a:off x="1369881" y="5740400"/>
                <a:ext cx="108000" cy="10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 name="Oval 127">
                <a:extLst>
                  <a:ext uri="{FF2B5EF4-FFF2-40B4-BE49-F238E27FC236}">
                    <a16:creationId xmlns:a16="http://schemas.microsoft.com/office/drawing/2014/main" id="{2FEA3DD7-704B-4EDB-B635-8F9FB5113E18}"/>
                  </a:ext>
                </a:extLst>
              </p:cNvPr>
              <p:cNvSpPr/>
              <p:nvPr/>
            </p:nvSpPr>
            <p:spPr>
              <a:xfrm>
                <a:off x="1368601" y="6062320"/>
                <a:ext cx="108000" cy="10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 name="TextBox 128">
                <a:extLst>
                  <a:ext uri="{FF2B5EF4-FFF2-40B4-BE49-F238E27FC236}">
                    <a16:creationId xmlns:a16="http://schemas.microsoft.com/office/drawing/2014/main" id="{03E28CE1-919B-4C1F-9F9E-5AC4E278C379}"/>
                  </a:ext>
                </a:extLst>
              </p:cNvPr>
              <p:cNvSpPr txBox="1"/>
              <p:nvPr/>
            </p:nvSpPr>
            <p:spPr>
              <a:xfrm>
                <a:off x="-31930" y="5196500"/>
                <a:ext cx="478953" cy="369332"/>
              </a:xfrm>
              <a:prstGeom prst="rect">
                <a:avLst/>
              </a:prstGeom>
              <a:noFill/>
            </p:spPr>
            <p:txBody>
              <a:bodyPr wrap="square" rtlCol="0">
                <a:noAutofit/>
              </a:bodyPr>
              <a:lstStyle/>
              <a:p>
                <a:r>
                  <a:rPr lang="en-IN" dirty="0"/>
                  <a:t>A</a:t>
                </a:r>
                <a:r>
                  <a:rPr lang="en-IN" baseline="-25000" dirty="0"/>
                  <a:t>11</a:t>
                </a:r>
                <a:endParaRPr lang="en-IN" dirty="0"/>
              </a:p>
            </p:txBody>
          </p:sp>
          <p:sp>
            <p:nvSpPr>
              <p:cNvPr id="130" name="TextBox 129">
                <a:extLst>
                  <a:ext uri="{FF2B5EF4-FFF2-40B4-BE49-F238E27FC236}">
                    <a16:creationId xmlns:a16="http://schemas.microsoft.com/office/drawing/2014/main" id="{2818F49C-A00A-460D-B347-39B3C8A0BF06}"/>
                  </a:ext>
                </a:extLst>
              </p:cNvPr>
              <p:cNvSpPr txBox="1"/>
              <p:nvPr/>
            </p:nvSpPr>
            <p:spPr>
              <a:xfrm>
                <a:off x="513466" y="5334001"/>
                <a:ext cx="914033" cy="664100"/>
              </a:xfrm>
              <a:prstGeom prst="rect">
                <a:avLst/>
              </a:prstGeom>
              <a:noFill/>
            </p:spPr>
            <p:txBody>
              <a:bodyPr wrap="square" rtlCol="0">
                <a:noAutofit/>
              </a:bodyPr>
              <a:lstStyle/>
              <a:p>
                <a:pPr algn="ctr"/>
                <a:r>
                  <a:rPr lang="en-IN" sz="1600" dirty="0"/>
                  <a:t>2 to 4 decoder</a:t>
                </a:r>
              </a:p>
            </p:txBody>
          </p:sp>
          <p:sp>
            <p:nvSpPr>
              <p:cNvPr id="131" name="TextBox 130">
                <a:extLst>
                  <a:ext uri="{FF2B5EF4-FFF2-40B4-BE49-F238E27FC236}">
                    <a16:creationId xmlns:a16="http://schemas.microsoft.com/office/drawing/2014/main" id="{5C4F753C-C30C-48C0-A99B-D0B88AD5C07A}"/>
                  </a:ext>
                </a:extLst>
              </p:cNvPr>
              <p:cNvSpPr txBox="1"/>
              <p:nvPr/>
            </p:nvSpPr>
            <p:spPr>
              <a:xfrm>
                <a:off x="1393711" y="5116078"/>
                <a:ext cx="422777" cy="357380"/>
              </a:xfrm>
              <a:prstGeom prst="rect">
                <a:avLst/>
              </a:prstGeom>
              <a:noFill/>
            </p:spPr>
            <p:txBody>
              <a:bodyPr wrap="square" rtlCol="0">
                <a:noAutofit/>
              </a:bodyPr>
              <a:lstStyle/>
              <a:p>
                <a:r>
                  <a:rPr lang="en-IN" dirty="0"/>
                  <a:t>O</a:t>
                </a:r>
                <a:r>
                  <a:rPr lang="en-IN" baseline="-25000" dirty="0"/>
                  <a:t>0</a:t>
                </a:r>
                <a:endParaRPr lang="en-IN" dirty="0"/>
              </a:p>
            </p:txBody>
          </p:sp>
          <p:sp>
            <p:nvSpPr>
              <p:cNvPr id="132" name="TextBox 131">
                <a:extLst>
                  <a:ext uri="{FF2B5EF4-FFF2-40B4-BE49-F238E27FC236}">
                    <a16:creationId xmlns:a16="http://schemas.microsoft.com/office/drawing/2014/main" id="{7C887BAD-15FB-422E-BEF0-B454CD13DB06}"/>
                  </a:ext>
                </a:extLst>
              </p:cNvPr>
              <p:cNvSpPr txBox="1"/>
              <p:nvPr/>
            </p:nvSpPr>
            <p:spPr>
              <a:xfrm>
                <a:off x="1402080" y="5449669"/>
                <a:ext cx="422777" cy="302771"/>
              </a:xfrm>
              <a:prstGeom prst="rect">
                <a:avLst/>
              </a:prstGeom>
              <a:noFill/>
            </p:spPr>
            <p:txBody>
              <a:bodyPr wrap="square" rtlCol="0">
                <a:noAutofit/>
              </a:bodyPr>
              <a:lstStyle/>
              <a:p>
                <a:r>
                  <a:rPr lang="en-IN" dirty="0"/>
                  <a:t>O</a:t>
                </a:r>
                <a:r>
                  <a:rPr lang="en-IN" baseline="-25000" dirty="0"/>
                  <a:t>1</a:t>
                </a:r>
                <a:endParaRPr lang="en-IN" dirty="0"/>
              </a:p>
            </p:txBody>
          </p:sp>
          <p:sp>
            <p:nvSpPr>
              <p:cNvPr id="133" name="TextBox 132">
                <a:extLst>
                  <a:ext uri="{FF2B5EF4-FFF2-40B4-BE49-F238E27FC236}">
                    <a16:creationId xmlns:a16="http://schemas.microsoft.com/office/drawing/2014/main" id="{81BE4F24-E49E-4546-8EDC-5C1097BF4B46}"/>
                  </a:ext>
                </a:extLst>
              </p:cNvPr>
              <p:cNvSpPr txBox="1"/>
              <p:nvPr/>
            </p:nvSpPr>
            <p:spPr>
              <a:xfrm>
                <a:off x="1406023" y="5770385"/>
                <a:ext cx="422777" cy="348317"/>
              </a:xfrm>
              <a:prstGeom prst="rect">
                <a:avLst/>
              </a:prstGeom>
              <a:noFill/>
            </p:spPr>
            <p:txBody>
              <a:bodyPr wrap="square" rtlCol="0">
                <a:noAutofit/>
              </a:bodyPr>
              <a:lstStyle/>
              <a:p>
                <a:r>
                  <a:rPr lang="en-IN" dirty="0"/>
                  <a:t>O</a:t>
                </a:r>
                <a:r>
                  <a:rPr lang="en-IN" baseline="-25000" dirty="0"/>
                  <a:t>2</a:t>
                </a:r>
                <a:endParaRPr lang="en-IN" dirty="0"/>
              </a:p>
            </p:txBody>
          </p:sp>
        </p:grpSp>
        <p:sp>
          <p:nvSpPr>
            <p:cNvPr id="121" name="TextBox 120">
              <a:extLst>
                <a:ext uri="{FF2B5EF4-FFF2-40B4-BE49-F238E27FC236}">
                  <a16:creationId xmlns:a16="http://schemas.microsoft.com/office/drawing/2014/main" id="{B01E117F-A140-4F67-90BA-C9796C203CED}"/>
                </a:ext>
              </a:extLst>
            </p:cNvPr>
            <p:cNvSpPr txBox="1"/>
            <p:nvPr/>
          </p:nvSpPr>
          <p:spPr>
            <a:xfrm>
              <a:off x="1406023" y="6090019"/>
              <a:ext cx="422777" cy="417121"/>
            </a:xfrm>
            <a:prstGeom prst="rect">
              <a:avLst/>
            </a:prstGeom>
            <a:noFill/>
          </p:spPr>
          <p:txBody>
            <a:bodyPr wrap="square" rtlCol="0">
              <a:noAutofit/>
            </a:bodyPr>
            <a:lstStyle/>
            <a:p>
              <a:r>
                <a:rPr lang="en-IN" dirty="0"/>
                <a:t>O</a:t>
              </a:r>
              <a:r>
                <a:rPr lang="en-IN" baseline="-25000" dirty="0"/>
                <a:t>3</a:t>
              </a:r>
              <a:endParaRPr lang="en-IN" dirty="0"/>
            </a:p>
          </p:txBody>
        </p:sp>
      </p:grpSp>
    </p:spTree>
    <p:extLst>
      <p:ext uri="{BB962C8B-B14F-4D97-AF65-F5344CB8AC3E}">
        <p14:creationId xmlns:p14="http://schemas.microsoft.com/office/powerpoint/2010/main" val="1513068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par>
                                <p:cTn id="23" presetID="10" presetClass="entr" presetSubtype="0" fill="hold"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fade">
                                      <p:cBhvr>
                                        <p:cTn id="25" dur="500"/>
                                        <p:tgtEl>
                                          <p:spTgt spid="57"/>
                                        </p:tgtEl>
                                      </p:cBhvr>
                                    </p:animEffect>
                                  </p:childTnLst>
                                </p:cTn>
                              </p:par>
                              <p:par>
                                <p:cTn id="26" presetID="10" presetClass="entr" presetSubtype="0" fill="hold" nodeType="withEffect">
                                  <p:stCondLst>
                                    <p:cond delay="0"/>
                                  </p:stCondLst>
                                  <p:childTnLst>
                                    <p:set>
                                      <p:cBhvr>
                                        <p:cTn id="27" dur="1" fill="hold">
                                          <p:stCondLst>
                                            <p:cond delay="0"/>
                                          </p:stCondLst>
                                        </p:cTn>
                                        <p:tgtEl>
                                          <p:spTgt spid="79"/>
                                        </p:tgtEl>
                                        <p:attrNameLst>
                                          <p:attrName>style.visibility</p:attrName>
                                        </p:attrNameLst>
                                      </p:cBhvr>
                                      <p:to>
                                        <p:strVal val="visible"/>
                                      </p:to>
                                    </p:set>
                                    <p:animEffect transition="in" filter="fade">
                                      <p:cBhvr>
                                        <p:cTn id="28" dur="500"/>
                                        <p:tgtEl>
                                          <p:spTgt spid="79"/>
                                        </p:tgtEl>
                                      </p:cBhvr>
                                    </p:animEffect>
                                  </p:childTnLst>
                                </p:cTn>
                              </p:par>
                              <p:par>
                                <p:cTn id="29" presetID="10" presetClass="entr" presetSubtype="0" fill="hold" nodeType="withEffect">
                                  <p:stCondLst>
                                    <p:cond delay="0"/>
                                  </p:stCondLst>
                                  <p:childTnLst>
                                    <p:set>
                                      <p:cBhvr>
                                        <p:cTn id="30" dur="1" fill="hold">
                                          <p:stCondLst>
                                            <p:cond delay="0"/>
                                          </p:stCondLst>
                                        </p:cTn>
                                        <p:tgtEl>
                                          <p:spTgt spid="101"/>
                                        </p:tgtEl>
                                        <p:attrNameLst>
                                          <p:attrName>style.visibility</p:attrName>
                                        </p:attrNameLst>
                                      </p:cBhvr>
                                      <p:to>
                                        <p:strVal val="visible"/>
                                      </p:to>
                                    </p:set>
                                    <p:animEffect transition="in" filter="fade">
                                      <p:cBhvr>
                                        <p:cTn id="31" dur="500"/>
                                        <p:tgtEl>
                                          <p:spTgt spid="10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nodeType="with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fade">
                                      <p:cBhvr>
                                        <p:cTn id="39" dur="500"/>
                                        <p:tgtEl>
                                          <p:spTgt spid="4"/>
                                        </p:tgtEl>
                                      </p:cBhvr>
                                    </p:animEffect>
                                  </p:childTnLst>
                                </p:cTn>
                              </p:par>
                              <p:par>
                                <p:cTn id="40" presetID="10" presetClass="entr" presetSubtype="0" fill="hold"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500"/>
                                        <p:tgtEl>
                                          <p:spTgt spid="40"/>
                                        </p:tgtEl>
                                      </p:cBhvr>
                                    </p:animEffect>
                                  </p:childTnLst>
                                </p:cTn>
                              </p:par>
                              <p:par>
                                <p:cTn id="43" presetID="10" presetClass="entr" presetSubtype="0" fill="hold" nodeType="withEffect">
                                  <p:stCondLst>
                                    <p:cond delay="0"/>
                                  </p:stCondLst>
                                  <p:childTnLst>
                                    <p:set>
                                      <p:cBhvr>
                                        <p:cTn id="44" dur="1" fill="hold">
                                          <p:stCondLst>
                                            <p:cond delay="0"/>
                                          </p:stCondLst>
                                        </p:cTn>
                                        <p:tgtEl>
                                          <p:spTgt spid="62"/>
                                        </p:tgtEl>
                                        <p:attrNameLst>
                                          <p:attrName>style.visibility</p:attrName>
                                        </p:attrNameLst>
                                      </p:cBhvr>
                                      <p:to>
                                        <p:strVal val="visible"/>
                                      </p:to>
                                    </p:set>
                                    <p:animEffect transition="in" filter="fade">
                                      <p:cBhvr>
                                        <p:cTn id="45" dur="500"/>
                                        <p:tgtEl>
                                          <p:spTgt spid="62"/>
                                        </p:tgtEl>
                                      </p:cBhvr>
                                    </p:animEffect>
                                  </p:childTnLst>
                                </p:cTn>
                              </p:par>
                              <p:par>
                                <p:cTn id="46" presetID="10" presetClass="entr" presetSubtype="0" fill="hold" nodeType="withEffect">
                                  <p:stCondLst>
                                    <p:cond delay="0"/>
                                  </p:stCondLst>
                                  <p:childTnLst>
                                    <p:set>
                                      <p:cBhvr>
                                        <p:cTn id="47" dur="1" fill="hold">
                                          <p:stCondLst>
                                            <p:cond delay="0"/>
                                          </p:stCondLst>
                                        </p:cTn>
                                        <p:tgtEl>
                                          <p:spTgt spid="84"/>
                                        </p:tgtEl>
                                        <p:attrNameLst>
                                          <p:attrName>style.visibility</p:attrName>
                                        </p:attrNameLst>
                                      </p:cBhvr>
                                      <p:to>
                                        <p:strVal val="visible"/>
                                      </p:to>
                                    </p:set>
                                    <p:animEffect transition="in" filter="fade">
                                      <p:cBhvr>
                                        <p:cTn id="48" dur="500"/>
                                        <p:tgtEl>
                                          <p:spTgt spid="8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14"/>
                                        </p:tgtEl>
                                        <p:attrNameLst>
                                          <p:attrName>style.visibility</p:attrName>
                                        </p:attrNameLst>
                                      </p:cBhvr>
                                      <p:to>
                                        <p:strVal val="visible"/>
                                      </p:to>
                                    </p:set>
                                    <p:animEffect transition="in" filter="fade">
                                      <p:cBhvr>
                                        <p:cTn id="51" dur="500"/>
                                        <p:tgtEl>
                                          <p:spTgt spid="11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13"/>
                                        </p:tgtEl>
                                        <p:attrNameLst>
                                          <p:attrName>style.visibility</p:attrName>
                                        </p:attrNameLst>
                                      </p:cBhvr>
                                      <p:to>
                                        <p:strVal val="visible"/>
                                      </p:to>
                                    </p:set>
                                    <p:animEffect transition="in" filter="fade">
                                      <p:cBhvr>
                                        <p:cTn id="54" dur="500"/>
                                        <p:tgtEl>
                                          <p:spTgt spid="11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par>
                                <p:cTn id="60" presetID="10" presetClass="entr" presetSubtype="0"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fade">
                                      <p:cBhvr>
                                        <p:cTn id="65" dur="500"/>
                                        <p:tgtEl>
                                          <p:spTgt spid="47"/>
                                        </p:tgtEl>
                                      </p:cBhvr>
                                    </p:animEffect>
                                  </p:childTnLst>
                                </p:cTn>
                              </p:par>
                              <p:par>
                                <p:cTn id="66" presetID="10" presetClass="entr" presetSubtype="0" fill="hold" nodeType="withEffect">
                                  <p:stCondLst>
                                    <p:cond delay="0"/>
                                  </p:stCondLst>
                                  <p:childTnLst>
                                    <p:set>
                                      <p:cBhvr>
                                        <p:cTn id="67" dur="1" fill="hold">
                                          <p:stCondLst>
                                            <p:cond delay="0"/>
                                          </p:stCondLst>
                                        </p:cTn>
                                        <p:tgtEl>
                                          <p:spTgt spid="69"/>
                                        </p:tgtEl>
                                        <p:attrNameLst>
                                          <p:attrName>style.visibility</p:attrName>
                                        </p:attrNameLst>
                                      </p:cBhvr>
                                      <p:to>
                                        <p:strVal val="visible"/>
                                      </p:to>
                                    </p:set>
                                    <p:animEffect transition="in" filter="fade">
                                      <p:cBhvr>
                                        <p:cTn id="68" dur="500"/>
                                        <p:tgtEl>
                                          <p:spTgt spid="69"/>
                                        </p:tgtEl>
                                      </p:cBhvr>
                                    </p:animEffect>
                                  </p:childTnLst>
                                </p:cTn>
                              </p:par>
                              <p:par>
                                <p:cTn id="69" presetID="10" presetClass="entr" presetSubtype="0" fill="hold" nodeType="withEffect">
                                  <p:stCondLst>
                                    <p:cond delay="0"/>
                                  </p:stCondLst>
                                  <p:childTnLst>
                                    <p:set>
                                      <p:cBhvr>
                                        <p:cTn id="70" dur="1" fill="hold">
                                          <p:stCondLst>
                                            <p:cond delay="0"/>
                                          </p:stCondLst>
                                        </p:cTn>
                                        <p:tgtEl>
                                          <p:spTgt spid="91"/>
                                        </p:tgtEl>
                                        <p:attrNameLst>
                                          <p:attrName>style.visibility</p:attrName>
                                        </p:attrNameLst>
                                      </p:cBhvr>
                                      <p:to>
                                        <p:strVal val="visible"/>
                                      </p:to>
                                    </p:set>
                                    <p:animEffect transition="in" filter="fade">
                                      <p:cBhvr>
                                        <p:cTn id="71" dur="500"/>
                                        <p:tgtEl>
                                          <p:spTgt spid="9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15"/>
                                        </p:tgtEl>
                                        <p:attrNameLst>
                                          <p:attrName>style.visibility</p:attrName>
                                        </p:attrNameLst>
                                      </p:cBhvr>
                                      <p:to>
                                        <p:strVal val="visible"/>
                                      </p:to>
                                    </p:set>
                                    <p:animEffect transition="in" filter="fade">
                                      <p:cBhvr>
                                        <p:cTn id="74" dur="500"/>
                                        <p:tgtEl>
                                          <p:spTgt spid="11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116"/>
                                        </p:tgtEl>
                                        <p:attrNameLst>
                                          <p:attrName>style.visibility</p:attrName>
                                        </p:attrNameLst>
                                      </p:cBhvr>
                                      <p:to>
                                        <p:strVal val="visible"/>
                                      </p:to>
                                    </p:set>
                                    <p:animEffect transition="in" filter="fade">
                                      <p:cBhvr>
                                        <p:cTn id="77" dur="500"/>
                                        <p:tgtEl>
                                          <p:spTgt spid="11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19"/>
                                        </p:tgtEl>
                                        <p:attrNameLst>
                                          <p:attrName>style.visibility</p:attrName>
                                        </p:attrNameLst>
                                      </p:cBhvr>
                                      <p:to>
                                        <p:strVal val="visible"/>
                                      </p:to>
                                    </p:set>
                                    <p:animEffect transition="in" filter="fade">
                                      <p:cBhvr>
                                        <p:cTn id="82" dur="500"/>
                                        <p:tgtEl>
                                          <p:spTgt spid="11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18"/>
                                        </p:tgtEl>
                                        <p:attrNameLst>
                                          <p:attrName>style.visibility</p:attrName>
                                        </p:attrNameLst>
                                      </p:cBhvr>
                                      <p:to>
                                        <p:strVal val="visible"/>
                                      </p:to>
                                    </p:set>
                                    <p:animEffect transition="in" filter="fade">
                                      <p:cBhvr>
                                        <p:cTn id="85" dur="500"/>
                                        <p:tgtEl>
                                          <p:spTgt spid="118"/>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106"/>
                                        </p:tgtEl>
                                        <p:attrNameLst>
                                          <p:attrName>style.visibility</p:attrName>
                                        </p:attrNameLst>
                                      </p:cBhvr>
                                      <p:to>
                                        <p:strVal val="visible"/>
                                      </p:to>
                                    </p:set>
                                    <p:animEffect transition="in" filter="fade">
                                      <p:cBhvr>
                                        <p:cTn id="90" dur="500"/>
                                        <p:tgtEl>
                                          <p:spTgt spid="106"/>
                                        </p:tgtEl>
                                      </p:cBhvr>
                                    </p:animEffect>
                                  </p:childTnLst>
                                </p:cTn>
                              </p:par>
                              <p:par>
                                <p:cTn id="91" presetID="10" presetClass="entr" presetSubtype="0" fill="hold" nodeType="withEffect">
                                  <p:stCondLst>
                                    <p:cond delay="0"/>
                                  </p:stCondLst>
                                  <p:childTnLst>
                                    <p:set>
                                      <p:cBhvr>
                                        <p:cTn id="92" dur="1" fill="hold">
                                          <p:stCondLst>
                                            <p:cond delay="0"/>
                                          </p:stCondLst>
                                        </p:cTn>
                                        <p:tgtEl>
                                          <p:spTgt spid="117"/>
                                        </p:tgtEl>
                                        <p:attrNameLst>
                                          <p:attrName>style.visibility</p:attrName>
                                        </p:attrNameLst>
                                      </p:cBhvr>
                                      <p:to>
                                        <p:strVal val="visible"/>
                                      </p:to>
                                    </p:set>
                                    <p:animEffect transition="in" filter="fade">
                                      <p:cBhvr>
                                        <p:cTn id="93" dur="500"/>
                                        <p:tgtEl>
                                          <p:spTgt spid="117"/>
                                        </p:tgtEl>
                                      </p:cBhvr>
                                    </p:animEffect>
                                  </p:childTnLst>
                                </p:cTn>
                              </p:par>
                              <p:par>
                                <p:cTn id="94" presetID="10" presetClass="entr" presetSubtype="0" fill="hold" nodeType="withEffect">
                                  <p:stCondLst>
                                    <p:cond delay="0"/>
                                  </p:stCondLst>
                                  <p:childTnLst>
                                    <p:set>
                                      <p:cBhvr>
                                        <p:cTn id="95" dur="1" fill="hold">
                                          <p:stCondLst>
                                            <p:cond delay="0"/>
                                          </p:stCondLst>
                                        </p:cTn>
                                        <p:tgtEl>
                                          <p:spTgt spid="107"/>
                                        </p:tgtEl>
                                        <p:attrNameLst>
                                          <p:attrName>style.visibility</p:attrName>
                                        </p:attrNameLst>
                                      </p:cBhvr>
                                      <p:to>
                                        <p:strVal val="visible"/>
                                      </p:to>
                                    </p:set>
                                    <p:animEffect transition="in" filter="fade">
                                      <p:cBhvr>
                                        <p:cTn id="96" dur="500"/>
                                        <p:tgtEl>
                                          <p:spTgt spid="107"/>
                                        </p:tgtEl>
                                      </p:cBhvr>
                                    </p:animEffect>
                                  </p:childTnLst>
                                </p:cTn>
                              </p:par>
                              <p:par>
                                <p:cTn id="97" presetID="10" presetClass="entr" presetSubtype="0" fill="hold" nodeType="withEffect">
                                  <p:stCondLst>
                                    <p:cond delay="0"/>
                                  </p:stCondLst>
                                  <p:childTnLst>
                                    <p:set>
                                      <p:cBhvr>
                                        <p:cTn id="98" dur="1" fill="hold">
                                          <p:stCondLst>
                                            <p:cond delay="0"/>
                                          </p:stCondLst>
                                        </p:cTn>
                                        <p:tgtEl>
                                          <p:spTgt spid="109"/>
                                        </p:tgtEl>
                                        <p:attrNameLst>
                                          <p:attrName>style.visibility</p:attrName>
                                        </p:attrNameLst>
                                      </p:cBhvr>
                                      <p:to>
                                        <p:strVal val="visible"/>
                                      </p:to>
                                    </p:set>
                                    <p:animEffect transition="in" filter="fade">
                                      <p:cBhvr>
                                        <p:cTn id="99" dur="500"/>
                                        <p:tgtEl>
                                          <p:spTgt spid="109"/>
                                        </p:tgtEl>
                                      </p:cBhvr>
                                    </p:animEffect>
                                  </p:childTnLst>
                                </p:cTn>
                              </p:par>
                              <p:par>
                                <p:cTn id="100" presetID="10" presetClass="entr" presetSubtype="0" fill="hold" nodeType="withEffect">
                                  <p:stCondLst>
                                    <p:cond delay="0"/>
                                  </p:stCondLst>
                                  <p:childTnLst>
                                    <p:set>
                                      <p:cBhvr>
                                        <p:cTn id="101" dur="1" fill="hold">
                                          <p:stCondLst>
                                            <p:cond delay="0"/>
                                          </p:stCondLst>
                                        </p:cTn>
                                        <p:tgtEl>
                                          <p:spTgt spid="111"/>
                                        </p:tgtEl>
                                        <p:attrNameLst>
                                          <p:attrName>style.visibility</p:attrName>
                                        </p:attrNameLst>
                                      </p:cBhvr>
                                      <p:to>
                                        <p:strVal val="visible"/>
                                      </p:to>
                                    </p:set>
                                    <p:animEffect transition="in" filter="fade">
                                      <p:cBhvr>
                                        <p:cTn id="102" dur="500"/>
                                        <p:tgtEl>
                                          <p:spTgt spid="111"/>
                                        </p:tgtEl>
                                      </p:cBhvr>
                                    </p:animEffect>
                                  </p:childTnLst>
                                </p:cTn>
                              </p:par>
                              <p:par>
                                <p:cTn id="103" presetID="10" presetClass="entr" presetSubtype="0" fill="hold" nodeType="withEffect">
                                  <p:stCondLst>
                                    <p:cond delay="0"/>
                                  </p:stCondLst>
                                  <p:childTnLst>
                                    <p:set>
                                      <p:cBhvr>
                                        <p:cTn id="104" dur="1" fill="hold">
                                          <p:stCondLst>
                                            <p:cond delay="0"/>
                                          </p:stCondLst>
                                        </p:cTn>
                                        <p:tgtEl>
                                          <p:spTgt spid="110"/>
                                        </p:tgtEl>
                                        <p:attrNameLst>
                                          <p:attrName>style.visibility</p:attrName>
                                        </p:attrNameLst>
                                      </p:cBhvr>
                                      <p:to>
                                        <p:strVal val="visible"/>
                                      </p:to>
                                    </p:set>
                                    <p:animEffect transition="in" filter="fade">
                                      <p:cBhvr>
                                        <p:cTn id="105" dur="500"/>
                                        <p:tgtEl>
                                          <p:spTgt spid="110"/>
                                        </p:tgtEl>
                                      </p:cBhvr>
                                    </p:animEffect>
                                  </p:childTnLst>
                                </p:cTn>
                              </p:par>
                              <p:par>
                                <p:cTn id="106" presetID="10" presetClass="entr" presetSubtype="0" fill="hold" nodeType="withEffect">
                                  <p:stCondLst>
                                    <p:cond delay="0"/>
                                  </p:stCondLst>
                                  <p:childTnLst>
                                    <p:set>
                                      <p:cBhvr>
                                        <p:cTn id="107" dur="1" fill="hold">
                                          <p:stCondLst>
                                            <p:cond delay="0"/>
                                          </p:stCondLst>
                                        </p:cTn>
                                        <p:tgtEl>
                                          <p:spTgt spid="108"/>
                                        </p:tgtEl>
                                        <p:attrNameLst>
                                          <p:attrName>style.visibility</p:attrName>
                                        </p:attrNameLst>
                                      </p:cBhvr>
                                      <p:to>
                                        <p:strVal val="visible"/>
                                      </p:to>
                                    </p:set>
                                    <p:animEffect transition="in" filter="fade">
                                      <p:cBhvr>
                                        <p:cTn id="108" dur="500"/>
                                        <p:tgtEl>
                                          <p:spTgt spid="108"/>
                                        </p:tgtEl>
                                      </p:cBhvr>
                                    </p:animEffect>
                                  </p:childTnLst>
                                </p:cTn>
                              </p:par>
                              <p:par>
                                <p:cTn id="109" presetID="10" presetClass="entr" presetSubtype="0" fill="hold" nodeType="withEffect">
                                  <p:stCondLst>
                                    <p:cond delay="0"/>
                                  </p:stCondLst>
                                  <p:childTnLst>
                                    <p:set>
                                      <p:cBhvr>
                                        <p:cTn id="110" dur="1" fill="hold">
                                          <p:stCondLst>
                                            <p:cond delay="0"/>
                                          </p:stCondLst>
                                        </p:cTn>
                                        <p:tgtEl>
                                          <p:spTgt spid="112"/>
                                        </p:tgtEl>
                                        <p:attrNameLst>
                                          <p:attrName>style.visibility</p:attrName>
                                        </p:attrNameLst>
                                      </p:cBhvr>
                                      <p:to>
                                        <p:strVal val="visible"/>
                                      </p:to>
                                    </p:set>
                                    <p:animEffect transition="in" filter="fade">
                                      <p:cBhvr>
                                        <p:cTn id="111"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3" grpId="0"/>
      <p:bldP spid="114" grpId="0"/>
      <p:bldP spid="115" grpId="0"/>
      <p:bldP spid="116" grpId="0"/>
      <p:bldP spid="1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D1317-8BA4-4D28-9DFA-BFFACB5920CD}"/>
              </a:ext>
            </a:extLst>
          </p:cNvPr>
          <p:cNvSpPr>
            <a:spLocks noGrp="1"/>
          </p:cNvSpPr>
          <p:nvPr>
            <p:ph type="title"/>
          </p:nvPr>
        </p:nvSpPr>
        <p:spPr/>
        <p:txBody>
          <a:bodyPr/>
          <a:lstStyle/>
          <a:p>
            <a:r>
              <a:rPr lang="en-US" dirty="0"/>
              <a:t>Memory Address Map</a:t>
            </a:r>
            <a:endParaRPr lang="en-IN" dirty="0"/>
          </a:p>
        </p:txBody>
      </p:sp>
      <p:sp>
        <p:nvSpPr>
          <p:cNvPr id="4" name="TextBox 3">
            <a:extLst>
              <a:ext uri="{FF2B5EF4-FFF2-40B4-BE49-F238E27FC236}">
                <a16:creationId xmlns:a16="http://schemas.microsoft.com/office/drawing/2014/main" id="{BC34283E-7D2C-4DBD-9D9B-8C25CB2FD30C}"/>
              </a:ext>
            </a:extLst>
          </p:cNvPr>
          <p:cNvSpPr txBox="1"/>
          <p:nvPr/>
        </p:nvSpPr>
        <p:spPr>
          <a:xfrm>
            <a:off x="2772956" y="1655133"/>
            <a:ext cx="478953" cy="369332"/>
          </a:xfrm>
          <a:prstGeom prst="rect">
            <a:avLst/>
          </a:prstGeom>
          <a:noFill/>
        </p:spPr>
        <p:txBody>
          <a:bodyPr wrap="square" rtlCol="0">
            <a:noAutofit/>
          </a:bodyPr>
          <a:lstStyle/>
          <a:p>
            <a:r>
              <a:rPr lang="en-IN" dirty="0"/>
              <a:t>A</a:t>
            </a:r>
            <a:r>
              <a:rPr lang="en-IN" baseline="-25000" dirty="0"/>
              <a:t>11</a:t>
            </a:r>
            <a:endParaRPr lang="en-IN" dirty="0"/>
          </a:p>
        </p:txBody>
      </p:sp>
      <p:sp>
        <p:nvSpPr>
          <p:cNvPr id="5" name="TextBox 4">
            <a:extLst>
              <a:ext uri="{FF2B5EF4-FFF2-40B4-BE49-F238E27FC236}">
                <a16:creationId xmlns:a16="http://schemas.microsoft.com/office/drawing/2014/main" id="{7F192336-EC06-43E5-9546-8D9B126C282F}"/>
              </a:ext>
            </a:extLst>
          </p:cNvPr>
          <p:cNvSpPr txBox="1"/>
          <p:nvPr/>
        </p:nvSpPr>
        <p:spPr>
          <a:xfrm>
            <a:off x="3296196" y="1655133"/>
            <a:ext cx="478953" cy="369332"/>
          </a:xfrm>
          <a:prstGeom prst="rect">
            <a:avLst/>
          </a:prstGeom>
          <a:noFill/>
        </p:spPr>
        <p:txBody>
          <a:bodyPr wrap="square" rtlCol="0">
            <a:noAutofit/>
          </a:bodyPr>
          <a:lstStyle/>
          <a:p>
            <a:r>
              <a:rPr lang="en-IN" dirty="0"/>
              <a:t>A</a:t>
            </a:r>
            <a:r>
              <a:rPr lang="en-IN" baseline="-25000" dirty="0"/>
              <a:t>10</a:t>
            </a:r>
            <a:endParaRPr lang="en-IN" dirty="0"/>
          </a:p>
        </p:txBody>
      </p:sp>
      <p:sp>
        <p:nvSpPr>
          <p:cNvPr id="6" name="TextBox 5">
            <a:extLst>
              <a:ext uri="{FF2B5EF4-FFF2-40B4-BE49-F238E27FC236}">
                <a16:creationId xmlns:a16="http://schemas.microsoft.com/office/drawing/2014/main" id="{BA97AFCD-E5F3-45C7-955C-99BB96724889}"/>
              </a:ext>
            </a:extLst>
          </p:cNvPr>
          <p:cNvSpPr txBox="1"/>
          <p:nvPr/>
        </p:nvSpPr>
        <p:spPr>
          <a:xfrm>
            <a:off x="3829596" y="1665293"/>
            <a:ext cx="478953" cy="369332"/>
          </a:xfrm>
          <a:prstGeom prst="rect">
            <a:avLst/>
          </a:prstGeom>
          <a:noFill/>
        </p:spPr>
        <p:txBody>
          <a:bodyPr wrap="square" rtlCol="0">
            <a:noAutofit/>
          </a:bodyPr>
          <a:lstStyle/>
          <a:p>
            <a:r>
              <a:rPr lang="en-IN" dirty="0"/>
              <a:t>A</a:t>
            </a:r>
            <a:r>
              <a:rPr lang="en-IN" baseline="-25000" dirty="0"/>
              <a:t>9</a:t>
            </a:r>
            <a:endParaRPr lang="en-IN" dirty="0"/>
          </a:p>
        </p:txBody>
      </p:sp>
      <p:sp>
        <p:nvSpPr>
          <p:cNvPr id="7" name="TextBox 6">
            <a:extLst>
              <a:ext uri="{FF2B5EF4-FFF2-40B4-BE49-F238E27FC236}">
                <a16:creationId xmlns:a16="http://schemas.microsoft.com/office/drawing/2014/main" id="{C41C5101-5992-406A-80F5-8B3D94E65D38}"/>
              </a:ext>
            </a:extLst>
          </p:cNvPr>
          <p:cNvSpPr txBox="1"/>
          <p:nvPr/>
        </p:nvSpPr>
        <p:spPr>
          <a:xfrm>
            <a:off x="4362996" y="1665293"/>
            <a:ext cx="478953" cy="369332"/>
          </a:xfrm>
          <a:prstGeom prst="rect">
            <a:avLst/>
          </a:prstGeom>
          <a:noFill/>
        </p:spPr>
        <p:txBody>
          <a:bodyPr wrap="square" rtlCol="0">
            <a:noAutofit/>
          </a:bodyPr>
          <a:lstStyle/>
          <a:p>
            <a:r>
              <a:rPr lang="en-IN" dirty="0"/>
              <a:t>A</a:t>
            </a:r>
            <a:r>
              <a:rPr lang="en-IN" baseline="-25000" dirty="0"/>
              <a:t>8</a:t>
            </a:r>
            <a:endParaRPr lang="en-IN" dirty="0"/>
          </a:p>
        </p:txBody>
      </p:sp>
      <p:sp>
        <p:nvSpPr>
          <p:cNvPr id="8" name="TextBox 7">
            <a:extLst>
              <a:ext uri="{FF2B5EF4-FFF2-40B4-BE49-F238E27FC236}">
                <a16:creationId xmlns:a16="http://schemas.microsoft.com/office/drawing/2014/main" id="{992443A6-AEB8-49B9-AA8B-51E40A349694}"/>
              </a:ext>
            </a:extLst>
          </p:cNvPr>
          <p:cNvSpPr txBox="1"/>
          <p:nvPr/>
        </p:nvSpPr>
        <p:spPr>
          <a:xfrm>
            <a:off x="4896396" y="1665293"/>
            <a:ext cx="478953" cy="369332"/>
          </a:xfrm>
          <a:prstGeom prst="rect">
            <a:avLst/>
          </a:prstGeom>
          <a:noFill/>
        </p:spPr>
        <p:txBody>
          <a:bodyPr wrap="square" rtlCol="0">
            <a:noAutofit/>
          </a:bodyPr>
          <a:lstStyle/>
          <a:p>
            <a:r>
              <a:rPr lang="en-IN" dirty="0"/>
              <a:t>A</a:t>
            </a:r>
            <a:r>
              <a:rPr lang="en-IN" baseline="-25000" dirty="0"/>
              <a:t>7</a:t>
            </a:r>
            <a:endParaRPr lang="en-IN" dirty="0"/>
          </a:p>
        </p:txBody>
      </p:sp>
      <p:sp>
        <p:nvSpPr>
          <p:cNvPr id="9" name="TextBox 8">
            <a:extLst>
              <a:ext uri="{FF2B5EF4-FFF2-40B4-BE49-F238E27FC236}">
                <a16:creationId xmlns:a16="http://schemas.microsoft.com/office/drawing/2014/main" id="{011CC075-9512-4317-BDFA-94A55B51B6A5}"/>
              </a:ext>
            </a:extLst>
          </p:cNvPr>
          <p:cNvSpPr txBox="1"/>
          <p:nvPr/>
        </p:nvSpPr>
        <p:spPr>
          <a:xfrm>
            <a:off x="5399316" y="1665293"/>
            <a:ext cx="478953" cy="369332"/>
          </a:xfrm>
          <a:prstGeom prst="rect">
            <a:avLst/>
          </a:prstGeom>
          <a:noFill/>
        </p:spPr>
        <p:txBody>
          <a:bodyPr wrap="square" rtlCol="0">
            <a:noAutofit/>
          </a:bodyPr>
          <a:lstStyle/>
          <a:p>
            <a:r>
              <a:rPr lang="en-IN" dirty="0"/>
              <a:t>A</a:t>
            </a:r>
            <a:r>
              <a:rPr lang="en-IN" baseline="-25000" dirty="0"/>
              <a:t>6</a:t>
            </a:r>
            <a:endParaRPr lang="en-IN" dirty="0"/>
          </a:p>
        </p:txBody>
      </p:sp>
      <p:sp>
        <p:nvSpPr>
          <p:cNvPr id="10" name="TextBox 9">
            <a:extLst>
              <a:ext uri="{FF2B5EF4-FFF2-40B4-BE49-F238E27FC236}">
                <a16:creationId xmlns:a16="http://schemas.microsoft.com/office/drawing/2014/main" id="{CD9B7494-AB25-4B73-8003-98F69C309A84}"/>
              </a:ext>
            </a:extLst>
          </p:cNvPr>
          <p:cNvSpPr txBox="1"/>
          <p:nvPr/>
        </p:nvSpPr>
        <p:spPr>
          <a:xfrm>
            <a:off x="5883349" y="1665293"/>
            <a:ext cx="478953" cy="369332"/>
          </a:xfrm>
          <a:prstGeom prst="rect">
            <a:avLst/>
          </a:prstGeom>
          <a:noFill/>
        </p:spPr>
        <p:txBody>
          <a:bodyPr wrap="square" rtlCol="0">
            <a:noAutofit/>
          </a:bodyPr>
          <a:lstStyle/>
          <a:p>
            <a:r>
              <a:rPr lang="en-IN" dirty="0"/>
              <a:t>A</a:t>
            </a:r>
            <a:r>
              <a:rPr lang="en-IN" baseline="-25000" dirty="0"/>
              <a:t>5</a:t>
            </a:r>
            <a:endParaRPr lang="en-IN" dirty="0"/>
          </a:p>
        </p:txBody>
      </p:sp>
      <p:sp>
        <p:nvSpPr>
          <p:cNvPr id="11" name="TextBox 10">
            <a:extLst>
              <a:ext uri="{FF2B5EF4-FFF2-40B4-BE49-F238E27FC236}">
                <a16:creationId xmlns:a16="http://schemas.microsoft.com/office/drawing/2014/main" id="{EB122FA9-B8DE-4CC9-B18F-F5115EA03935}"/>
              </a:ext>
            </a:extLst>
          </p:cNvPr>
          <p:cNvSpPr txBox="1"/>
          <p:nvPr/>
        </p:nvSpPr>
        <p:spPr>
          <a:xfrm>
            <a:off x="6416749" y="1665293"/>
            <a:ext cx="478953" cy="369332"/>
          </a:xfrm>
          <a:prstGeom prst="rect">
            <a:avLst/>
          </a:prstGeom>
          <a:noFill/>
        </p:spPr>
        <p:txBody>
          <a:bodyPr wrap="square" rtlCol="0">
            <a:noAutofit/>
          </a:bodyPr>
          <a:lstStyle/>
          <a:p>
            <a:r>
              <a:rPr lang="en-IN" dirty="0"/>
              <a:t>A</a:t>
            </a:r>
            <a:r>
              <a:rPr lang="en-IN" baseline="-25000" dirty="0"/>
              <a:t>4</a:t>
            </a:r>
            <a:endParaRPr lang="en-IN" dirty="0"/>
          </a:p>
        </p:txBody>
      </p:sp>
      <p:sp>
        <p:nvSpPr>
          <p:cNvPr id="12" name="TextBox 11">
            <a:extLst>
              <a:ext uri="{FF2B5EF4-FFF2-40B4-BE49-F238E27FC236}">
                <a16:creationId xmlns:a16="http://schemas.microsoft.com/office/drawing/2014/main" id="{23B9C382-E80B-4969-8A00-4960C8781BE7}"/>
              </a:ext>
            </a:extLst>
          </p:cNvPr>
          <p:cNvSpPr txBox="1"/>
          <p:nvPr/>
        </p:nvSpPr>
        <p:spPr>
          <a:xfrm>
            <a:off x="6950149" y="1675453"/>
            <a:ext cx="478953" cy="369332"/>
          </a:xfrm>
          <a:prstGeom prst="rect">
            <a:avLst/>
          </a:prstGeom>
          <a:noFill/>
        </p:spPr>
        <p:txBody>
          <a:bodyPr wrap="square" rtlCol="0">
            <a:noAutofit/>
          </a:bodyPr>
          <a:lstStyle/>
          <a:p>
            <a:r>
              <a:rPr lang="en-IN" dirty="0"/>
              <a:t>A</a:t>
            </a:r>
            <a:r>
              <a:rPr lang="en-IN" baseline="-25000" dirty="0"/>
              <a:t>3</a:t>
            </a:r>
            <a:endParaRPr lang="en-IN" dirty="0"/>
          </a:p>
        </p:txBody>
      </p:sp>
      <p:sp>
        <p:nvSpPr>
          <p:cNvPr id="13" name="TextBox 12">
            <a:extLst>
              <a:ext uri="{FF2B5EF4-FFF2-40B4-BE49-F238E27FC236}">
                <a16:creationId xmlns:a16="http://schemas.microsoft.com/office/drawing/2014/main" id="{4CFFFA57-5563-41C6-9FCB-850C54961912}"/>
              </a:ext>
            </a:extLst>
          </p:cNvPr>
          <p:cNvSpPr txBox="1"/>
          <p:nvPr/>
        </p:nvSpPr>
        <p:spPr>
          <a:xfrm>
            <a:off x="7461796" y="1675453"/>
            <a:ext cx="478953" cy="369332"/>
          </a:xfrm>
          <a:prstGeom prst="rect">
            <a:avLst/>
          </a:prstGeom>
          <a:noFill/>
        </p:spPr>
        <p:txBody>
          <a:bodyPr wrap="square" rtlCol="0">
            <a:noAutofit/>
          </a:bodyPr>
          <a:lstStyle/>
          <a:p>
            <a:r>
              <a:rPr lang="en-IN" dirty="0"/>
              <a:t>A</a:t>
            </a:r>
            <a:r>
              <a:rPr lang="en-IN" baseline="-25000" dirty="0"/>
              <a:t>2</a:t>
            </a:r>
            <a:endParaRPr lang="en-IN" dirty="0"/>
          </a:p>
        </p:txBody>
      </p:sp>
      <p:sp>
        <p:nvSpPr>
          <p:cNvPr id="14" name="TextBox 13">
            <a:extLst>
              <a:ext uri="{FF2B5EF4-FFF2-40B4-BE49-F238E27FC236}">
                <a16:creationId xmlns:a16="http://schemas.microsoft.com/office/drawing/2014/main" id="{313DD9D3-E2B1-4129-BAC9-57A91CDED3DF}"/>
              </a:ext>
            </a:extLst>
          </p:cNvPr>
          <p:cNvSpPr txBox="1"/>
          <p:nvPr/>
        </p:nvSpPr>
        <p:spPr>
          <a:xfrm>
            <a:off x="7940749" y="1675453"/>
            <a:ext cx="478953" cy="369332"/>
          </a:xfrm>
          <a:prstGeom prst="rect">
            <a:avLst/>
          </a:prstGeom>
          <a:noFill/>
        </p:spPr>
        <p:txBody>
          <a:bodyPr wrap="square" rtlCol="0">
            <a:noAutofit/>
          </a:bodyPr>
          <a:lstStyle/>
          <a:p>
            <a:r>
              <a:rPr lang="en-IN" dirty="0"/>
              <a:t>A</a:t>
            </a:r>
            <a:r>
              <a:rPr lang="en-IN" baseline="-25000" dirty="0"/>
              <a:t>1</a:t>
            </a:r>
            <a:endParaRPr lang="en-IN" dirty="0"/>
          </a:p>
        </p:txBody>
      </p:sp>
      <p:sp>
        <p:nvSpPr>
          <p:cNvPr id="15" name="TextBox 14">
            <a:extLst>
              <a:ext uri="{FF2B5EF4-FFF2-40B4-BE49-F238E27FC236}">
                <a16:creationId xmlns:a16="http://schemas.microsoft.com/office/drawing/2014/main" id="{A83E53E5-B9DB-4866-B6C2-05713B3E4D80}"/>
              </a:ext>
            </a:extLst>
          </p:cNvPr>
          <p:cNvSpPr txBox="1"/>
          <p:nvPr/>
        </p:nvSpPr>
        <p:spPr>
          <a:xfrm>
            <a:off x="8452396" y="1675453"/>
            <a:ext cx="478953" cy="369332"/>
          </a:xfrm>
          <a:prstGeom prst="rect">
            <a:avLst/>
          </a:prstGeom>
          <a:noFill/>
        </p:spPr>
        <p:txBody>
          <a:bodyPr wrap="square" rtlCol="0">
            <a:noAutofit/>
          </a:bodyPr>
          <a:lstStyle/>
          <a:p>
            <a:r>
              <a:rPr lang="en-IN" dirty="0"/>
              <a:t>A</a:t>
            </a:r>
            <a:r>
              <a:rPr lang="en-IN" baseline="-25000" dirty="0"/>
              <a:t>0</a:t>
            </a:r>
            <a:endParaRPr lang="en-IN" dirty="0"/>
          </a:p>
        </p:txBody>
      </p:sp>
      <p:cxnSp>
        <p:nvCxnSpPr>
          <p:cNvPr id="16" name="Straight Connector 15">
            <a:extLst>
              <a:ext uri="{FF2B5EF4-FFF2-40B4-BE49-F238E27FC236}">
                <a16:creationId xmlns:a16="http://schemas.microsoft.com/office/drawing/2014/main" id="{585C4FEA-1F24-451C-9FCC-7F52F98D868C}"/>
              </a:ext>
            </a:extLst>
          </p:cNvPr>
          <p:cNvCxnSpPr/>
          <p:nvPr/>
        </p:nvCxnSpPr>
        <p:spPr>
          <a:xfrm>
            <a:off x="3764989" y="1731333"/>
            <a:ext cx="0" cy="13716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BDA577F-7BC1-499B-8CEA-974FE43A1CD6}"/>
              </a:ext>
            </a:extLst>
          </p:cNvPr>
          <p:cNvSpPr txBox="1"/>
          <p:nvPr/>
        </p:nvSpPr>
        <p:spPr>
          <a:xfrm>
            <a:off x="2877892" y="2024465"/>
            <a:ext cx="276064" cy="369332"/>
          </a:xfrm>
          <a:prstGeom prst="rect">
            <a:avLst/>
          </a:prstGeom>
          <a:noFill/>
        </p:spPr>
        <p:txBody>
          <a:bodyPr wrap="square" rtlCol="0">
            <a:noAutofit/>
          </a:bodyPr>
          <a:lstStyle/>
          <a:p>
            <a:r>
              <a:rPr lang="en-IN" dirty="0"/>
              <a:t>0</a:t>
            </a:r>
          </a:p>
        </p:txBody>
      </p:sp>
      <p:sp>
        <p:nvSpPr>
          <p:cNvPr id="18" name="TextBox 17">
            <a:extLst>
              <a:ext uri="{FF2B5EF4-FFF2-40B4-BE49-F238E27FC236}">
                <a16:creationId xmlns:a16="http://schemas.microsoft.com/office/drawing/2014/main" id="{62BDC087-B3A7-4062-B937-AAC8E5E955D6}"/>
              </a:ext>
            </a:extLst>
          </p:cNvPr>
          <p:cNvSpPr txBox="1"/>
          <p:nvPr/>
        </p:nvSpPr>
        <p:spPr>
          <a:xfrm>
            <a:off x="3372396" y="2036133"/>
            <a:ext cx="276064" cy="369332"/>
          </a:xfrm>
          <a:prstGeom prst="rect">
            <a:avLst/>
          </a:prstGeom>
          <a:noFill/>
        </p:spPr>
        <p:txBody>
          <a:bodyPr wrap="square" rtlCol="0">
            <a:noAutofit/>
          </a:bodyPr>
          <a:lstStyle/>
          <a:p>
            <a:r>
              <a:rPr lang="en-IN" dirty="0"/>
              <a:t>0</a:t>
            </a:r>
          </a:p>
        </p:txBody>
      </p:sp>
      <p:sp>
        <p:nvSpPr>
          <p:cNvPr id="19" name="TextBox 18">
            <a:extLst>
              <a:ext uri="{FF2B5EF4-FFF2-40B4-BE49-F238E27FC236}">
                <a16:creationId xmlns:a16="http://schemas.microsoft.com/office/drawing/2014/main" id="{9E692E99-EF3D-4C61-8734-EBA14CC719AA}"/>
              </a:ext>
            </a:extLst>
          </p:cNvPr>
          <p:cNvSpPr txBox="1"/>
          <p:nvPr/>
        </p:nvSpPr>
        <p:spPr>
          <a:xfrm>
            <a:off x="3887068" y="2036133"/>
            <a:ext cx="276064" cy="369332"/>
          </a:xfrm>
          <a:prstGeom prst="rect">
            <a:avLst/>
          </a:prstGeom>
          <a:noFill/>
        </p:spPr>
        <p:txBody>
          <a:bodyPr wrap="square" rtlCol="0">
            <a:noAutofit/>
          </a:bodyPr>
          <a:lstStyle/>
          <a:p>
            <a:r>
              <a:rPr lang="en-IN" dirty="0"/>
              <a:t>0</a:t>
            </a:r>
          </a:p>
        </p:txBody>
      </p:sp>
      <p:sp>
        <p:nvSpPr>
          <p:cNvPr id="20" name="TextBox 19">
            <a:extLst>
              <a:ext uri="{FF2B5EF4-FFF2-40B4-BE49-F238E27FC236}">
                <a16:creationId xmlns:a16="http://schemas.microsoft.com/office/drawing/2014/main" id="{A716602E-4837-49B3-8068-28E16BA6E0CF}"/>
              </a:ext>
            </a:extLst>
          </p:cNvPr>
          <p:cNvSpPr txBox="1"/>
          <p:nvPr/>
        </p:nvSpPr>
        <p:spPr>
          <a:xfrm>
            <a:off x="4391732" y="2047801"/>
            <a:ext cx="276064" cy="369332"/>
          </a:xfrm>
          <a:prstGeom prst="rect">
            <a:avLst/>
          </a:prstGeom>
          <a:noFill/>
        </p:spPr>
        <p:txBody>
          <a:bodyPr wrap="square" rtlCol="0">
            <a:noAutofit/>
          </a:bodyPr>
          <a:lstStyle/>
          <a:p>
            <a:r>
              <a:rPr lang="en-IN" dirty="0"/>
              <a:t>0</a:t>
            </a:r>
          </a:p>
        </p:txBody>
      </p:sp>
      <p:sp>
        <p:nvSpPr>
          <p:cNvPr id="21" name="TextBox 20">
            <a:extLst>
              <a:ext uri="{FF2B5EF4-FFF2-40B4-BE49-F238E27FC236}">
                <a16:creationId xmlns:a16="http://schemas.microsoft.com/office/drawing/2014/main" id="{1307F7A1-D441-46D2-977D-895F7CAB96A6}"/>
              </a:ext>
            </a:extLst>
          </p:cNvPr>
          <p:cNvSpPr txBox="1"/>
          <p:nvPr/>
        </p:nvSpPr>
        <p:spPr>
          <a:xfrm>
            <a:off x="4925132" y="2044785"/>
            <a:ext cx="276064" cy="369332"/>
          </a:xfrm>
          <a:prstGeom prst="rect">
            <a:avLst/>
          </a:prstGeom>
          <a:noFill/>
        </p:spPr>
        <p:txBody>
          <a:bodyPr wrap="square" rtlCol="0">
            <a:noAutofit/>
          </a:bodyPr>
          <a:lstStyle/>
          <a:p>
            <a:r>
              <a:rPr lang="en-IN" dirty="0"/>
              <a:t>0</a:t>
            </a:r>
          </a:p>
        </p:txBody>
      </p:sp>
      <p:sp>
        <p:nvSpPr>
          <p:cNvPr id="22" name="TextBox 21">
            <a:extLst>
              <a:ext uri="{FF2B5EF4-FFF2-40B4-BE49-F238E27FC236}">
                <a16:creationId xmlns:a16="http://schemas.microsoft.com/office/drawing/2014/main" id="{86CE7304-0C94-44D6-B46B-248A0E06AA7C}"/>
              </a:ext>
            </a:extLst>
          </p:cNvPr>
          <p:cNvSpPr txBox="1"/>
          <p:nvPr/>
        </p:nvSpPr>
        <p:spPr>
          <a:xfrm>
            <a:off x="5428052" y="2056453"/>
            <a:ext cx="276064" cy="369332"/>
          </a:xfrm>
          <a:prstGeom prst="rect">
            <a:avLst/>
          </a:prstGeom>
          <a:noFill/>
        </p:spPr>
        <p:txBody>
          <a:bodyPr wrap="square" rtlCol="0">
            <a:noAutofit/>
          </a:bodyPr>
          <a:lstStyle/>
          <a:p>
            <a:r>
              <a:rPr lang="en-IN" dirty="0"/>
              <a:t>0</a:t>
            </a:r>
          </a:p>
        </p:txBody>
      </p:sp>
      <p:sp>
        <p:nvSpPr>
          <p:cNvPr id="23" name="TextBox 22">
            <a:extLst>
              <a:ext uri="{FF2B5EF4-FFF2-40B4-BE49-F238E27FC236}">
                <a16:creationId xmlns:a16="http://schemas.microsoft.com/office/drawing/2014/main" id="{CCA6D167-E995-47F3-92A1-2159AABCDB35}"/>
              </a:ext>
            </a:extLst>
          </p:cNvPr>
          <p:cNvSpPr txBox="1"/>
          <p:nvPr/>
        </p:nvSpPr>
        <p:spPr>
          <a:xfrm>
            <a:off x="5937796" y="2056453"/>
            <a:ext cx="276064" cy="369332"/>
          </a:xfrm>
          <a:prstGeom prst="rect">
            <a:avLst/>
          </a:prstGeom>
          <a:noFill/>
        </p:spPr>
        <p:txBody>
          <a:bodyPr wrap="square" rtlCol="0">
            <a:noAutofit/>
          </a:bodyPr>
          <a:lstStyle/>
          <a:p>
            <a:r>
              <a:rPr lang="en-IN" dirty="0"/>
              <a:t>0</a:t>
            </a:r>
          </a:p>
        </p:txBody>
      </p:sp>
      <p:sp>
        <p:nvSpPr>
          <p:cNvPr id="24" name="TextBox 23">
            <a:extLst>
              <a:ext uri="{FF2B5EF4-FFF2-40B4-BE49-F238E27FC236}">
                <a16:creationId xmlns:a16="http://schemas.microsoft.com/office/drawing/2014/main" id="{AF009557-27EF-4CA2-978A-A43FB02F7099}"/>
              </a:ext>
            </a:extLst>
          </p:cNvPr>
          <p:cNvSpPr txBox="1"/>
          <p:nvPr/>
        </p:nvSpPr>
        <p:spPr>
          <a:xfrm>
            <a:off x="6454212" y="2068121"/>
            <a:ext cx="276064" cy="369332"/>
          </a:xfrm>
          <a:prstGeom prst="rect">
            <a:avLst/>
          </a:prstGeom>
          <a:noFill/>
        </p:spPr>
        <p:txBody>
          <a:bodyPr wrap="square" rtlCol="0">
            <a:noAutofit/>
          </a:bodyPr>
          <a:lstStyle/>
          <a:p>
            <a:r>
              <a:rPr lang="en-IN" dirty="0"/>
              <a:t>0</a:t>
            </a:r>
          </a:p>
        </p:txBody>
      </p:sp>
      <p:sp>
        <p:nvSpPr>
          <p:cNvPr id="25" name="TextBox 24">
            <a:extLst>
              <a:ext uri="{FF2B5EF4-FFF2-40B4-BE49-F238E27FC236}">
                <a16:creationId xmlns:a16="http://schemas.microsoft.com/office/drawing/2014/main" id="{99CCD8A2-F6D9-4124-ADF6-3E3E6CB26833}"/>
              </a:ext>
            </a:extLst>
          </p:cNvPr>
          <p:cNvSpPr txBox="1"/>
          <p:nvPr/>
        </p:nvSpPr>
        <p:spPr>
          <a:xfrm>
            <a:off x="6992381" y="2075265"/>
            <a:ext cx="276064" cy="369332"/>
          </a:xfrm>
          <a:prstGeom prst="rect">
            <a:avLst/>
          </a:prstGeom>
          <a:noFill/>
        </p:spPr>
        <p:txBody>
          <a:bodyPr wrap="square" rtlCol="0">
            <a:noAutofit/>
          </a:bodyPr>
          <a:lstStyle/>
          <a:p>
            <a:r>
              <a:rPr lang="en-IN" dirty="0"/>
              <a:t>0</a:t>
            </a:r>
          </a:p>
        </p:txBody>
      </p:sp>
      <p:sp>
        <p:nvSpPr>
          <p:cNvPr id="26" name="TextBox 25">
            <a:extLst>
              <a:ext uri="{FF2B5EF4-FFF2-40B4-BE49-F238E27FC236}">
                <a16:creationId xmlns:a16="http://schemas.microsoft.com/office/drawing/2014/main" id="{1591BC98-3646-4012-B2FE-D213C5631885}"/>
              </a:ext>
            </a:extLst>
          </p:cNvPr>
          <p:cNvSpPr txBox="1"/>
          <p:nvPr/>
        </p:nvSpPr>
        <p:spPr>
          <a:xfrm>
            <a:off x="7505461" y="2076773"/>
            <a:ext cx="276064" cy="369332"/>
          </a:xfrm>
          <a:prstGeom prst="rect">
            <a:avLst/>
          </a:prstGeom>
          <a:noFill/>
        </p:spPr>
        <p:txBody>
          <a:bodyPr wrap="square" rtlCol="0">
            <a:noAutofit/>
          </a:bodyPr>
          <a:lstStyle/>
          <a:p>
            <a:r>
              <a:rPr lang="en-IN" dirty="0"/>
              <a:t>0</a:t>
            </a:r>
          </a:p>
        </p:txBody>
      </p:sp>
      <p:sp>
        <p:nvSpPr>
          <p:cNvPr id="27" name="TextBox 26">
            <a:extLst>
              <a:ext uri="{FF2B5EF4-FFF2-40B4-BE49-F238E27FC236}">
                <a16:creationId xmlns:a16="http://schemas.microsoft.com/office/drawing/2014/main" id="{5B1ED89D-C8FC-4EA6-81D3-2174E680FF02}"/>
              </a:ext>
            </a:extLst>
          </p:cNvPr>
          <p:cNvSpPr txBox="1"/>
          <p:nvPr/>
        </p:nvSpPr>
        <p:spPr>
          <a:xfrm>
            <a:off x="7969796" y="2076773"/>
            <a:ext cx="276064" cy="369332"/>
          </a:xfrm>
          <a:prstGeom prst="rect">
            <a:avLst/>
          </a:prstGeom>
          <a:noFill/>
        </p:spPr>
        <p:txBody>
          <a:bodyPr wrap="square" rtlCol="0">
            <a:noAutofit/>
          </a:bodyPr>
          <a:lstStyle/>
          <a:p>
            <a:r>
              <a:rPr lang="en-IN" dirty="0"/>
              <a:t>0</a:t>
            </a:r>
          </a:p>
        </p:txBody>
      </p:sp>
      <p:sp>
        <p:nvSpPr>
          <p:cNvPr id="28" name="TextBox 27">
            <a:extLst>
              <a:ext uri="{FF2B5EF4-FFF2-40B4-BE49-F238E27FC236}">
                <a16:creationId xmlns:a16="http://schemas.microsoft.com/office/drawing/2014/main" id="{39F914AE-0626-4DDF-A137-945AF2776268}"/>
              </a:ext>
            </a:extLst>
          </p:cNvPr>
          <p:cNvSpPr txBox="1"/>
          <p:nvPr/>
        </p:nvSpPr>
        <p:spPr>
          <a:xfrm>
            <a:off x="8491292" y="2088441"/>
            <a:ext cx="276064" cy="369332"/>
          </a:xfrm>
          <a:prstGeom prst="rect">
            <a:avLst/>
          </a:prstGeom>
          <a:noFill/>
        </p:spPr>
        <p:txBody>
          <a:bodyPr wrap="square" rtlCol="0">
            <a:noAutofit/>
          </a:bodyPr>
          <a:lstStyle/>
          <a:p>
            <a:r>
              <a:rPr lang="en-IN" dirty="0"/>
              <a:t>0</a:t>
            </a:r>
          </a:p>
        </p:txBody>
      </p:sp>
      <p:sp>
        <p:nvSpPr>
          <p:cNvPr id="29" name="TextBox 28">
            <a:extLst>
              <a:ext uri="{FF2B5EF4-FFF2-40B4-BE49-F238E27FC236}">
                <a16:creationId xmlns:a16="http://schemas.microsoft.com/office/drawing/2014/main" id="{C2212FD7-D4DF-455B-87F8-B80F14A69115}"/>
              </a:ext>
            </a:extLst>
          </p:cNvPr>
          <p:cNvSpPr txBox="1"/>
          <p:nvPr/>
        </p:nvSpPr>
        <p:spPr>
          <a:xfrm>
            <a:off x="2876148" y="2499921"/>
            <a:ext cx="276064" cy="369332"/>
          </a:xfrm>
          <a:prstGeom prst="rect">
            <a:avLst/>
          </a:prstGeom>
          <a:noFill/>
        </p:spPr>
        <p:txBody>
          <a:bodyPr wrap="square" rtlCol="0">
            <a:noAutofit/>
          </a:bodyPr>
          <a:lstStyle/>
          <a:p>
            <a:r>
              <a:rPr lang="en-IN" dirty="0"/>
              <a:t>0</a:t>
            </a:r>
          </a:p>
        </p:txBody>
      </p:sp>
      <p:sp>
        <p:nvSpPr>
          <p:cNvPr id="30" name="TextBox 29">
            <a:extLst>
              <a:ext uri="{FF2B5EF4-FFF2-40B4-BE49-F238E27FC236}">
                <a16:creationId xmlns:a16="http://schemas.microsoft.com/office/drawing/2014/main" id="{9A644BBA-1377-457D-B34E-895B12AFD361}"/>
              </a:ext>
            </a:extLst>
          </p:cNvPr>
          <p:cNvSpPr txBox="1"/>
          <p:nvPr/>
        </p:nvSpPr>
        <p:spPr>
          <a:xfrm>
            <a:off x="3370652" y="2511589"/>
            <a:ext cx="276064" cy="369332"/>
          </a:xfrm>
          <a:prstGeom prst="rect">
            <a:avLst/>
          </a:prstGeom>
          <a:noFill/>
        </p:spPr>
        <p:txBody>
          <a:bodyPr wrap="square" rtlCol="0">
            <a:noAutofit/>
          </a:bodyPr>
          <a:lstStyle/>
          <a:p>
            <a:r>
              <a:rPr lang="en-IN" dirty="0"/>
              <a:t>0</a:t>
            </a:r>
          </a:p>
        </p:txBody>
      </p:sp>
      <p:sp>
        <p:nvSpPr>
          <p:cNvPr id="31" name="TextBox 30">
            <a:extLst>
              <a:ext uri="{FF2B5EF4-FFF2-40B4-BE49-F238E27FC236}">
                <a16:creationId xmlns:a16="http://schemas.microsoft.com/office/drawing/2014/main" id="{6433591B-0042-4FFA-BF20-9D36B93674D2}"/>
              </a:ext>
            </a:extLst>
          </p:cNvPr>
          <p:cNvSpPr txBox="1"/>
          <p:nvPr/>
        </p:nvSpPr>
        <p:spPr>
          <a:xfrm>
            <a:off x="3885324" y="2511589"/>
            <a:ext cx="276064" cy="369332"/>
          </a:xfrm>
          <a:prstGeom prst="rect">
            <a:avLst/>
          </a:prstGeom>
          <a:noFill/>
        </p:spPr>
        <p:txBody>
          <a:bodyPr wrap="square" rtlCol="0">
            <a:noAutofit/>
          </a:bodyPr>
          <a:lstStyle/>
          <a:p>
            <a:r>
              <a:rPr lang="en-IN" dirty="0"/>
              <a:t>1</a:t>
            </a:r>
          </a:p>
        </p:txBody>
      </p:sp>
      <p:sp>
        <p:nvSpPr>
          <p:cNvPr id="32" name="TextBox 31">
            <a:extLst>
              <a:ext uri="{FF2B5EF4-FFF2-40B4-BE49-F238E27FC236}">
                <a16:creationId xmlns:a16="http://schemas.microsoft.com/office/drawing/2014/main" id="{8D3A66D2-83EF-473E-BE80-C31852C74EAF}"/>
              </a:ext>
            </a:extLst>
          </p:cNvPr>
          <p:cNvSpPr txBox="1"/>
          <p:nvPr/>
        </p:nvSpPr>
        <p:spPr>
          <a:xfrm>
            <a:off x="4389988" y="2523257"/>
            <a:ext cx="276064" cy="369332"/>
          </a:xfrm>
          <a:prstGeom prst="rect">
            <a:avLst/>
          </a:prstGeom>
          <a:noFill/>
        </p:spPr>
        <p:txBody>
          <a:bodyPr wrap="square" rtlCol="0">
            <a:noAutofit/>
          </a:bodyPr>
          <a:lstStyle/>
          <a:p>
            <a:r>
              <a:rPr lang="en-IN" dirty="0"/>
              <a:t>1</a:t>
            </a:r>
          </a:p>
        </p:txBody>
      </p:sp>
      <p:sp>
        <p:nvSpPr>
          <p:cNvPr id="33" name="TextBox 32">
            <a:extLst>
              <a:ext uri="{FF2B5EF4-FFF2-40B4-BE49-F238E27FC236}">
                <a16:creationId xmlns:a16="http://schemas.microsoft.com/office/drawing/2014/main" id="{B3067A38-C0DA-48A8-9BEB-4ADE632EC686}"/>
              </a:ext>
            </a:extLst>
          </p:cNvPr>
          <p:cNvSpPr txBox="1"/>
          <p:nvPr/>
        </p:nvSpPr>
        <p:spPr>
          <a:xfrm>
            <a:off x="4923388" y="2520241"/>
            <a:ext cx="276064" cy="369332"/>
          </a:xfrm>
          <a:prstGeom prst="rect">
            <a:avLst/>
          </a:prstGeom>
          <a:noFill/>
        </p:spPr>
        <p:txBody>
          <a:bodyPr wrap="square" rtlCol="0">
            <a:noAutofit/>
          </a:bodyPr>
          <a:lstStyle/>
          <a:p>
            <a:r>
              <a:rPr lang="en-IN" dirty="0"/>
              <a:t>1</a:t>
            </a:r>
          </a:p>
        </p:txBody>
      </p:sp>
      <p:sp>
        <p:nvSpPr>
          <p:cNvPr id="34" name="TextBox 33">
            <a:extLst>
              <a:ext uri="{FF2B5EF4-FFF2-40B4-BE49-F238E27FC236}">
                <a16:creationId xmlns:a16="http://schemas.microsoft.com/office/drawing/2014/main" id="{BD4604CD-F2B8-499C-ABEA-7AD60808F975}"/>
              </a:ext>
            </a:extLst>
          </p:cNvPr>
          <p:cNvSpPr txBox="1"/>
          <p:nvPr/>
        </p:nvSpPr>
        <p:spPr>
          <a:xfrm>
            <a:off x="5426308" y="2531909"/>
            <a:ext cx="276064" cy="369332"/>
          </a:xfrm>
          <a:prstGeom prst="rect">
            <a:avLst/>
          </a:prstGeom>
          <a:noFill/>
        </p:spPr>
        <p:txBody>
          <a:bodyPr wrap="square" rtlCol="0">
            <a:noAutofit/>
          </a:bodyPr>
          <a:lstStyle/>
          <a:p>
            <a:r>
              <a:rPr lang="en-IN" dirty="0"/>
              <a:t>1</a:t>
            </a:r>
          </a:p>
        </p:txBody>
      </p:sp>
      <p:sp>
        <p:nvSpPr>
          <p:cNvPr id="35" name="TextBox 34">
            <a:extLst>
              <a:ext uri="{FF2B5EF4-FFF2-40B4-BE49-F238E27FC236}">
                <a16:creationId xmlns:a16="http://schemas.microsoft.com/office/drawing/2014/main" id="{86492E00-3BDC-418E-921F-4F2503A5E2D6}"/>
              </a:ext>
            </a:extLst>
          </p:cNvPr>
          <p:cNvSpPr txBox="1"/>
          <p:nvPr/>
        </p:nvSpPr>
        <p:spPr>
          <a:xfrm>
            <a:off x="5936052" y="2531909"/>
            <a:ext cx="276064" cy="369332"/>
          </a:xfrm>
          <a:prstGeom prst="rect">
            <a:avLst/>
          </a:prstGeom>
          <a:noFill/>
        </p:spPr>
        <p:txBody>
          <a:bodyPr wrap="square" rtlCol="0">
            <a:noAutofit/>
          </a:bodyPr>
          <a:lstStyle/>
          <a:p>
            <a:r>
              <a:rPr lang="en-IN" dirty="0"/>
              <a:t>1</a:t>
            </a:r>
          </a:p>
        </p:txBody>
      </p:sp>
      <p:sp>
        <p:nvSpPr>
          <p:cNvPr id="36" name="TextBox 35">
            <a:extLst>
              <a:ext uri="{FF2B5EF4-FFF2-40B4-BE49-F238E27FC236}">
                <a16:creationId xmlns:a16="http://schemas.microsoft.com/office/drawing/2014/main" id="{3C176436-22C3-4129-9F12-E2FB566EBE0F}"/>
              </a:ext>
            </a:extLst>
          </p:cNvPr>
          <p:cNvSpPr txBox="1"/>
          <p:nvPr/>
        </p:nvSpPr>
        <p:spPr>
          <a:xfrm>
            <a:off x="6452468" y="2543577"/>
            <a:ext cx="276064" cy="369332"/>
          </a:xfrm>
          <a:prstGeom prst="rect">
            <a:avLst/>
          </a:prstGeom>
          <a:noFill/>
        </p:spPr>
        <p:txBody>
          <a:bodyPr wrap="square" rtlCol="0">
            <a:noAutofit/>
          </a:bodyPr>
          <a:lstStyle/>
          <a:p>
            <a:r>
              <a:rPr lang="en-IN" dirty="0"/>
              <a:t>1</a:t>
            </a:r>
          </a:p>
        </p:txBody>
      </p:sp>
      <p:sp>
        <p:nvSpPr>
          <p:cNvPr id="37" name="TextBox 36">
            <a:extLst>
              <a:ext uri="{FF2B5EF4-FFF2-40B4-BE49-F238E27FC236}">
                <a16:creationId xmlns:a16="http://schemas.microsoft.com/office/drawing/2014/main" id="{04E95A73-E3CD-41F9-B9FC-C7EB0729AC7F}"/>
              </a:ext>
            </a:extLst>
          </p:cNvPr>
          <p:cNvSpPr txBox="1"/>
          <p:nvPr/>
        </p:nvSpPr>
        <p:spPr>
          <a:xfrm>
            <a:off x="6990637" y="2540561"/>
            <a:ext cx="276064" cy="369332"/>
          </a:xfrm>
          <a:prstGeom prst="rect">
            <a:avLst/>
          </a:prstGeom>
          <a:noFill/>
        </p:spPr>
        <p:txBody>
          <a:bodyPr wrap="square" rtlCol="0">
            <a:noAutofit/>
          </a:bodyPr>
          <a:lstStyle/>
          <a:p>
            <a:r>
              <a:rPr lang="en-IN" dirty="0"/>
              <a:t>1</a:t>
            </a:r>
          </a:p>
        </p:txBody>
      </p:sp>
      <p:sp>
        <p:nvSpPr>
          <p:cNvPr id="38" name="TextBox 37">
            <a:extLst>
              <a:ext uri="{FF2B5EF4-FFF2-40B4-BE49-F238E27FC236}">
                <a16:creationId xmlns:a16="http://schemas.microsoft.com/office/drawing/2014/main" id="{E095A481-80E2-4113-A19E-0659C1176358}"/>
              </a:ext>
            </a:extLst>
          </p:cNvPr>
          <p:cNvSpPr txBox="1"/>
          <p:nvPr/>
        </p:nvSpPr>
        <p:spPr>
          <a:xfrm>
            <a:off x="7503717" y="2552229"/>
            <a:ext cx="276064" cy="369332"/>
          </a:xfrm>
          <a:prstGeom prst="rect">
            <a:avLst/>
          </a:prstGeom>
          <a:noFill/>
        </p:spPr>
        <p:txBody>
          <a:bodyPr wrap="square" rtlCol="0">
            <a:noAutofit/>
          </a:bodyPr>
          <a:lstStyle/>
          <a:p>
            <a:r>
              <a:rPr lang="en-IN" dirty="0"/>
              <a:t>1</a:t>
            </a:r>
          </a:p>
        </p:txBody>
      </p:sp>
      <p:sp>
        <p:nvSpPr>
          <p:cNvPr id="39" name="TextBox 38">
            <a:extLst>
              <a:ext uri="{FF2B5EF4-FFF2-40B4-BE49-F238E27FC236}">
                <a16:creationId xmlns:a16="http://schemas.microsoft.com/office/drawing/2014/main" id="{5332439A-DCFA-41DD-B2A7-4E697C9C8576}"/>
              </a:ext>
            </a:extLst>
          </p:cNvPr>
          <p:cNvSpPr txBox="1"/>
          <p:nvPr/>
        </p:nvSpPr>
        <p:spPr>
          <a:xfrm>
            <a:off x="7968052" y="2552229"/>
            <a:ext cx="276064" cy="369332"/>
          </a:xfrm>
          <a:prstGeom prst="rect">
            <a:avLst/>
          </a:prstGeom>
          <a:noFill/>
        </p:spPr>
        <p:txBody>
          <a:bodyPr wrap="square" rtlCol="0">
            <a:noAutofit/>
          </a:bodyPr>
          <a:lstStyle/>
          <a:p>
            <a:r>
              <a:rPr lang="en-IN" dirty="0"/>
              <a:t>1</a:t>
            </a:r>
          </a:p>
        </p:txBody>
      </p:sp>
      <p:sp>
        <p:nvSpPr>
          <p:cNvPr id="40" name="TextBox 39">
            <a:extLst>
              <a:ext uri="{FF2B5EF4-FFF2-40B4-BE49-F238E27FC236}">
                <a16:creationId xmlns:a16="http://schemas.microsoft.com/office/drawing/2014/main" id="{0934DED6-B2D0-45BF-88BD-BBDCD776E6A7}"/>
              </a:ext>
            </a:extLst>
          </p:cNvPr>
          <p:cNvSpPr txBox="1"/>
          <p:nvPr/>
        </p:nvSpPr>
        <p:spPr>
          <a:xfrm>
            <a:off x="8489548" y="2563897"/>
            <a:ext cx="276064" cy="369332"/>
          </a:xfrm>
          <a:prstGeom prst="rect">
            <a:avLst/>
          </a:prstGeom>
          <a:noFill/>
        </p:spPr>
        <p:txBody>
          <a:bodyPr wrap="square" rtlCol="0">
            <a:noAutofit/>
          </a:bodyPr>
          <a:lstStyle/>
          <a:p>
            <a:r>
              <a:rPr lang="en-IN" dirty="0"/>
              <a:t>1</a:t>
            </a:r>
          </a:p>
        </p:txBody>
      </p:sp>
      <p:cxnSp>
        <p:nvCxnSpPr>
          <p:cNvPr id="41" name="Straight Connector 40">
            <a:extLst>
              <a:ext uri="{FF2B5EF4-FFF2-40B4-BE49-F238E27FC236}">
                <a16:creationId xmlns:a16="http://schemas.microsoft.com/office/drawing/2014/main" id="{F671B284-D439-40D4-8045-9501CCD2771D}"/>
              </a:ext>
            </a:extLst>
          </p:cNvPr>
          <p:cNvCxnSpPr>
            <a:cxnSpLocks/>
            <a:stCxn id="28" idx="2"/>
          </p:cNvCxnSpPr>
          <p:nvPr/>
        </p:nvCxnSpPr>
        <p:spPr>
          <a:xfrm flipH="1" flipV="1">
            <a:off x="7048102" y="2420705"/>
            <a:ext cx="1692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4479D75-D3CD-49B0-8D95-182B3D7F6ED8}"/>
              </a:ext>
            </a:extLst>
          </p:cNvPr>
          <p:cNvCxnSpPr>
            <a:cxnSpLocks/>
          </p:cNvCxnSpPr>
          <p:nvPr/>
        </p:nvCxnSpPr>
        <p:spPr>
          <a:xfrm flipH="1" flipV="1">
            <a:off x="4972596" y="2420705"/>
            <a:ext cx="1692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8F89F97-AEA3-42D2-8082-F424B8EB3329}"/>
              </a:ext>
            </a:extLst>
          </p:cNvPr>
          <p:cNvCxnSpPr>
            <a:cxnSpLocks/>
          </p:cNvCxnSpPr>
          <p:nvPr/>
        </p:nvCxnSpPr>
        <p:spPr>
          <a:xfrm flipH="1" flipV="1">
            <a:off x="2918989" y="2420705"/>
            <a:ext cx="1692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8440B0F-86B9-4F6B-B8F8-8F835FF7266F}"/>
              </a:ext>
            </a:extLst>
          </p:cNvPr>
          <p:cNvCxnSpPr>
            <a:cxnSpLocks/>
          </p:cNvCxnSpPr>
          <p:nvPr/>
        </p:nvCxnSpPr>
        <p:spPr>
          <a:xfrm flipH="1" flipV="1">
            <a:off x="7048102" y="2921561"/>
            <a:ext cx="1692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E37DE27-3DF5-4AFB-AAFB-D76D7ABF576F}"/>
              </a:ext>
            </a:extLst>
          </p:cNvPr>
          <p:cNvCxnSpPr>
            <a:cxnSpLocks/>
          </p:cNvCxnSpPr>
          <p:nvPr/>
        </p:nvCxnSpPr>
        <p:spPr>
          <a:xfrm flipH="1" flipV="1">
            <a:off x="4972596" y="2921561"/>
            <a:ext cx="1692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A59FE31-3CDD-4307-A9EA-A957C11057E5}"/>
              </a:ext>
            </a:extLst>
          </p:cNvPr>
          <p:cNvCxnSpPr>
            <a:cxnSpLocks/>
          </p:cNvCxnSpPr>
          <p:nvPr/>
        </p:nvCxnSpPr>
        <p:spPr>
          <a:xfrm flipH="1" flipV="1">
            <a:off x="2918989" y="2921561"/>
            <a:ext cx="169200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47" name="Table 49">
            <a:extLst>
              <a:ext uri="{FF2B5EF4-FFF2-40B4-BE49-F238E27FC236}">
                <a16:creationId xmlns:a16="http://schemas.microsoft.com/office/drawing/2014/main" id="{B1230654-5659-40F2-9F68-C68DC3774C66}"/>
              </a:ext>
            </a:extLst>
          </p:cNvPr>
          <p:cNvGraphicFramePr>
            <a:graphicFrameLocks noGrp="1"/>
          </p:cNvGraphicFramePr>
          <p:nvPr>
            <p:extLst>
              <p:ext uri="{D42A27DB-BD31-4B8C-83A1-F6EECF244321}">
                <p14:modId xmlns:p14="http://schemas.microsoft.com/office/powerpoint/2010/main" val="2575506750"/>
              </p:ext>
            </p:extLst>
          </p:nvPr>
        </p:nvGraphicFramePr>
        <p:xfrm>
          <a:off x="2835349" y="3827865"/>
          <a:ext cx="6096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649178506"/>
                    </a:ext>
                  </a:extLst>
                </a:gridCol>
                <a:gridCol w="2032000">
                  <a:extLst>
                    <a:ext uri="{9D8B030D-6E8A-4147-A177-3AD203B41FA5}">
                      <a16:colId xmlns:a16="http://schemas.microsoft.com/office/drawing/2014/main" val="1531308578"/>
                    </a:ext>
                  </a:extLst>
                </a:gridCol>
                <a:gridCol w="2032000">
                  <a:extLst>
                    <a:ext uri="{9D8B030D-6E8A-4147-A177-3AD203B41FA5}">
                      <a16:colId xmlns:a16="http://schemas.microsoft.com/office/drawing/2014/main" val="954449952"/>
                    </a:ext>
                  </a:extLst>
                </a:gridCol>
              </a:tblGrid>
              <a:tr h="370840">
                <a:tc>
                  <a:txBody>
                    <a:bodyPr/>
                    <a:lstStyle/>
                    <a:p>
                      <a:pPr algn="ctr"/>
                      <a:r>
                        <a:rPr lang="en-IN" dirty="0"/>
                        <a:t>Memory chip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Starting address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Ending address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5469560"/>
                  </a:ext>
                </a:extLst>
              </a:tr>
              <a:tr h="370840">
                <a:tc>
                  <a:txBody>
                    <a:bodyPr/>
                    <a:lstStyle/>
                    <a:p>
                      <a:pPr algn="ctr"/>
                      <a:r>
                        <a:rPr lang="en-IN" dirty="0"/>
                        <a:t>PROM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t>000 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t>3FF 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5056987"/>
                  </a:ext>
                </a:extLst>
              </a:tr>
              <a:tr h="370840">
                <a:tc>
                  <a:txBody>
                    <a:bodyPr/>
                    <a:lstStyle/>
                    <a:p>
                      <a:pPr algn="ctr"/>
                      <a:r>
                        <a:rPr lang="en-IN" dirty="0"/>
                        <a:t>PROM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t>400 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t>7FF 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37119580"/>
                  </a:ext>
                </a:extLst>
              </a:tr>
              <a:tr h="370840">
                <a:tc>
                  <a:txBody>
                    <a:bodyPr/>
                    <a:lstStyle/>
                    <a:p>
                      <a:pPr algn="ctr"/>
                      <a:r>
                        <a:rPr lang="en-IN" dirty="0"/>
                        <a:t>PROM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t>800 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t>BFF 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17648239"/>
                  </a:ext>
                </a:extLst>
              </a:tr>
              <a:tr h="370840">
                <a:tc>
                  <a:txBody>
                    <a:bodyPr/>
                    <a:lstStyle/>
                    <a:p>
                      <a:pPr algn="ctr"/>
                      <a:r>
                        <a:rPr lang="en-IN" dirty="0"/>
                        <a:t>PROM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t>C00 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t>FFF 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2073795"/>
                  </a:ext>
                </a:extLst>
              </a:tr>
            </a:tbl>
          </a:graphicData>
        </a:graphic>
      </p:graphicFrame>
    </p:spTree>
    <p:extLst>
      <p:ext uri="{BB962C8B-B14F-4D97-AF65-F5344CB8AC3E}">
        <p14:creationId xmlns:p14="http://schemas.microsoft.com/office/powerpoint/2010/main" val="466315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5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5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500"/>
                                        <p:tgtEl>
                                          <p:spTgt spid="2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5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500"/>
                                        <p:tgtEl>
                                          <p:spTgt spid="28"/>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5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5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5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5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5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5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5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5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50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500"/>
                                        <p:tgtEl>
                                          <p:spTgt spid="40"/>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18"/>
                                        </p:tgtEl>
                                        <p:attrNameLst>
                                          <p:attrName>style.visibility</p:attrName>
                                        </p:attrNameLst>
                                      </p:cBhvr>
                                      <p:to>
                                        <p:strVal val="visible"/>
                                      </p:to>
                                    </p:set>
                                    <p:animEffect transition="in" filter="fade">
                                      <p:cBhvr>
                                        <p:cTn id="114" dur="500"/>
                                        <p:tgtEl>
                                          <p:spTgt spid="18"/>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30"/>
                                        </p:tgtEl>
                                        <p:attrNameLst>
                                          <p:attrName>style.visibility</p:attrName>
                                        </p:attrNameLst>
                                      </p:cBhvr>
                                      <p:to>
                                        <p:strVal val="visible"/>
                                      </p:to>
                                    </p:set>
                                    <p:animEffect transition="in" filter="fade">
                                      <p:cBhvr>
                                        <p:cTn id="117" dur="500"/>
                                        <p:tgtEl>
                                          <p:spTgt spid="3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7"/>
                                        </p:tgtEl>
                                        <p:attrNameLst>
                                          <p:attrName>style.visibility</p:attrName>
                                        </p:attrNameLst>
                                      </p:cBhvr>
                                      <p:to>
                                        <p:strVal val="visible"/>
                                      </p:to>
                                    </p:set>
                                    <p:animEffect transition="in" filter="fade">
                                      <p:cBhvr>
                                        <p:cTn id="120" dur="500"/>
                                        <p:tgtEl>
                                          <p:spTgt spid="17"/>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29"/>
                                        </p:tgtEl>
                                        <p:attrNameLst>
                                          <p:attrName>style.visibility</p:attrName>
                                        </p:attrNameLst>
                                      </p:cBhvr>
                                      <p:to>
                                        <p:strVal val="visible"/>
                                      </p:to>
                                    </p:set>
                                    <p:animEffect transition="in" filter="fade">
                                      <p:cBhvr>
                                        <p:cTn id="123" dur="500"/>
                                        <p:tgtEl>
                                          <p:spTgt spid="29"/>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41"/>
                                        </p:tgtEl>
                                        <p:attrNameLst>
                                          <p:attrName>style.visibility</p:attrName>
                                        </p:attrNameLst>
                                      </p:cBhvr>
                                      <p:to>
                                        <p:strVal val="visible"/>
                                      </p:to>
                                    </p:set>
                                    <p:animEffect transition="in" filter="fade">
                                      <p:cBhvr>
                                        <p:cTn id="128" dur="500"/>
                                        <p:tgtEl>
                                          <p:spTgt spid="41"/>
                                        </p:tgtEl>
                                      </p:cBhvr>
                                    </p:animEffect>
                                  </p:childTnLst>
                                </p:cTn>
                              </p:par>
                              <p:par>
                                <p:cTn id="129" presetID="10" presetClass="entr" presetSubtype="0" fill="hold" nodeType="withEffect">
                                  <p:stCondLst>
                                    <p:cond delay="0"/>
                                  </p:stCondLst>
                                  <p:childTnLst>
                                    <p:set>
                                      <p:cBhvr>
                                        <p:cTn id="130" dur="1" fill="hold">
                                          <p:stCondLst>
                                            <p:cond delay="0"/>
                                          </p:stCondLst>
                                        </p:cTn>
                                        <p:tgtEl>
                                          <p:spTgt spid="42"/>
                                        </p:tgtEl>
                                        <p:attrNameLst>
                                          <p:attrName>style.visibility</p:attrName>
                                        </p:attrNameLst>
                                      </p:cBhvr>
                                      <p:to>
                                        <p:strVal val="visible"/>
                                      </p:to>
                                    </p:set>
                                    <p:animEffect transition="in" filter="fade">
                                      <p:cBhvr>
                                        <p:cTn id="131" dur="500"/>
                                        <p:tgtEl>
                                          <p:spTgt spid="42"/>
                                        </p:tgtEl>
                                      </p:cBhvr>
                                    </p:animEffect>
                                  </p:childTnLst>
                                </p:cTn>
                              </p:par>
                              <p:par>
                                <p:cTn id="132" presetID="10" presetClass="entr" presetSubtype="0" fill="hold" nodeType="withEffect">
                                  <p:stCondLst>
                                    <p:cond delay="0"/>
                                  </p:stCondLst>
                                  <p:childTnLst>
                                    <p:set>
                                      <p:cBhvr>
                                        <p:cTn id="133" dur="1" fill="hold">
                                          <p:stCondLst>
                                            <p:cond delay="0"/>
                                          </p:stCondLst>
                                        </p:cTn>
                                        <p:tgtEl>
                                          <p:spTgt spid="43"/>
                                        </p:tgtEl>
                                        <p:attrNameLst>
                                          <p:attrName>style.visibility</p:attrName>
                                        </p:attrNameLst>
                                      </p:cBhvr>
                                      <p:to>
                                        <p:strVal val="visible"/>
                                      </p:to>
                                    </p:set>
                                    <p:animEffect transition="in" filter="fade">
                                      <p:cBhvr>
                                        <p:cTn id="134" dur="500"/>
                                        <p:tgtEl>
                                          <p:spTgt spid="43"/>
                                        </p:tgtEl>
                                      </p:cBhvr>
                                    </p:animEffect>
                                  </p:childTnLst>
                                </p:cTn>
                              </p:par>
                            </p:childTnLst>
                          </p:cTn>
                        </p:par>
                      </p:childTnLst>
                    </p:cTn>
                  </p:par>
                  <p:par>
                    <p:cTn id="135" fill="hold">
                      <p:stCondLst>
                        <p:cond delay="indefinite"/>
                      </p:stCondLst>
                      <p:childTnLst>
                        <p:par>
                          <p:cTn id="136" fill="hold">
                            <p:stCondLst>
                              <p:cond delay="0"/>
                            </p:stCondLst>
                            <p:childTnLst>
                              <p:par>
                                <p:cTn id="137" presetID="10" presetClass="entr" presetSubtype="0" fill="hold" nodeType="clickEffect">
                                  <p:stCondLst>
                                    <p:cond delay="0"/>
                                  </p:stCondLst>
                                  <p:childTnLst>
                                    <p:set>
                                      <p:cBhvr>
                                        <p:cTn id="138" dur="1" fill="hold">
                                          <p:stCondLst>
                                            <p:cond delay="0"/>
                                          </p:stCondLst>
                                        </p:cTn>
                                        <p:tgtEl>
                                          <p:spTgt spid="44"/>
                                        </p:tgtEl>
                                        <p:attrNameLst>
                                          <p:attrName>style.visibility</p:attrName>
                                        </p:attrNameLst>
                                      </p:cBhvr>
                                      <p:to>
                                        <p:strVal val="visible"/>
                                      </p:to>
                                    </p:set>
                                    <p:animEffect transition="in" filter="fade">
                                      <p:cBhvr>
                                        <p:cTn id="139" dur="500"/>
                                        <p:tgtEl>
                                          <p:spTgt spid="44"/>
                                        </p:tgtEl>
                                      </p:cBhvr>
                                    </p:animEffect>
                                  </p:childTnLst>
                                </p:cTn>
                              </p:par>
                              <p:par>
                                <p:cTn id="140" presetID="10" presetClass="entr" presetSubtype="0" fill="hold" nodeType="withEffect">
                                  <p:stCondLst>
                                    <p:cond delay="0"/>
                                  </p:stCondLst>
                                  <p:childTnLst>
                                    <p:set>
                                      <p:cBhvr>
                                        <p:cTn id="141" dur="1" fill="hold">
                                          <p:stCondLst>
                                            <p:cond delay="0"/>
                                          </p:stCondLst>
                                        </p:cTn>
                                        <p:tgtEl>
                                          <p:spTgt spid="45"/>
                                        </p:tgtEl>
                                        <p:attrNameLst>
                                          <p:attrName>style.visibility</p:attrName>
                                        </p:attrNameLst>
                                      </p:cBhvr>
                                      <p:to>
                                        <p:strVal val="visible"/>
                                      </p:to>
                                    </p:set>
                                    <p:animEffect transition="in" filter="fade">
                                      <p:cBhvr>
                                        <p:cTn id="142" dur="500"/>
                                        <p:tgtEl>
                                          <p:spTgt spid="45"/>
                                        </p:tgtEl>
                                      </p:cBhvr>
                                    </p:animEffect>
                                  </p:childTnLst>
                                </p:cTn>
                              </p:par>
                              <p:par>
                                <p:cTn id="143" presetID="10" presetClass="entr" presetSubtype="0" fill="hold" nodeType="withEffect">
                                  <p:stCondLst>
                                    <p:cond delay="0"/>
                                  </p:stCondLst>
                                  <p:childTnLst>
                                    <p:set>
                                      <p:cBhvr>
                                        <p:cTn id="144" dur="1" fill="hold">
                                          <p:stCondLst>
                                            <p:cond delay="0"/>
                                          </p:stCondLst>
                                        </p:cTn>
                                        <p:tgtEl>
                                          <p:spTgt spid="46"/>
                                        </p:tgtEl>
                                        <p:attrNameLst>
                                          <p:attrName>style.visibility</p:attrName>
                                        </p:attrNameLst>
                                      </p:cBhvr>
                                      <p:to>
                                        <p:strVal val="visible"/>
                                      </p:to>
                                    </p:set>
                                    <p:animEffect transition="in" filter="fade">
                                      <p:cBhvr>
                                        <p:cTn id="145" dur="500"/>
                                        <p:tgtEl>
                                          <p:spTgt spid="46"/>
                                        </p:tgtEl>
                                      </p:cBhvr>
                                    </p:animEffect>
                                  </p:childTnLst>
                                </p:cTn>
                              </p:par>
                            </p:childTnLst>
                          </p:cTn>
                        </p:par>
                      </p:childTnLst>
                    </p:cTn>
                  </p:par>
                  <p:par>
                    <p:cTn id="146" fill="hold">
                      <p:stCondLst>
                        <p:cond delay="indefinite"/>
                      </p:stCondLst>
                      <p:childTnLst>
                        <p:par>
                          <p:cTn id="147" fill="hold">
                            <p:stCondLst>
                              <p:cond delay="0"/>
                            </p:stCondLst>
                            <p:childTnLst>
                              <p:par>
                                <p:cTn id="148" presetID="10" presetClass="entr" presetSubtype="0" fill="hold" nodeType="clickEffect">
                                  <p:stCondLst>
                                    <p:cond delay="0"/>
                                  </p:stCondLst>
                                  <p:childTnLst>
                                    <p:set>
                                      <p:cBhvr>
                                        <p:cTn id="149" dur="1" fill="hold">
                                          <p:stCondLst>
                                            <p:cond delay="0"/>
                                          </p:stCondLst>
                                        </p:cTn>
                                        <p:tgtEl>
                                          <p:spTgt spid="47"/>
                                        </p:tgtEl>
                                        <p:attrNameLst>
                                          <p:attrName>style.visibility</p:attrName>
                                        </p:attrNameLst>
                                      </p:cBhvr>
                                      <p:to>
                                        <p:strVal val="visible"/>
                                      </p:to>
                                    </p:set>
                                    <p:animEffect transition="in" filter="fade">
                                      <p:cBhvr>
                                        <p:cTn id="150" dur="1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Auxiliary Memory</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- 3</a:t>
            </a:r>
          </a:p>
        </p:txBody>
      </p:sp>
    </p:spTree>
    <p:extLst>
      <p:ext uri="{BB962C8B-B14F-4D97-AF65-F5344CB8AC3E}">
        <p14:creationId xmlns:p14="http://schemas.microsoft.com/office/powerpoint/2010/main" val="3741571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20AF69-9C21-40F9-A031-CFF86CD59C3C}"/>
              </a:ext>
            </a:extLst>
          </p:cNvPr>
          <p:cNvSpPr>
            <a:spLocks noGrp="1"/>
          </p:cNvSpPr>
          <p:nvPr>
            <p:ph type="title"/>
          </p:nvPr>
        </p:nvSpPr>
        <p:spPr/>
        <p:txBody>
          <a:bodyPr/>
          <a:lstStyle/>
          <a:p>
            <a:r>
              <a:rPr lang="en-US" dirty="0"/>
              <a:t>Magnetic Disks</a:t>
            </a:r>
            <a:endParaRPr lang="en-IN" dirty="0"/>
          </a:p>
        </p:txBody>
      </p:sp>
      <p:sp>
        <p:nvSpPr>
          <p:cNvPr id="8" name="Oval 7">
            <a:extLst>
              <a:ext uri="{FF2B5EF4-FFF2-40B4-BE49-F238E27FC236}">
                <a16:creationId xmlns:a16="http://schemas.microsoft.com/office/drawing/2014/main" id="{2C169F0C-15CD-4398-BBA7-BF689E975945}"/>
              </a:ext>
            </a:extLst>
          </p:cNvPr>
          <p:cNvSpPr/>
          <p:nvPr/>
        </p:nvSpPr>
        <p:spPr>
          <a:xfrm>
            <a:off x="2324985" y="2683666"/>
            <a:ext cx="1152000" cy="1152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E460593D-7062-45B0-AF16-3ACFC1FC3B92}"/>
              </a:ext>
            </a:extLst>
          </p:cNvPr>
          <p:cNvSpPr/>
          <p:nvPr/>
        </p:nvSpPr>
        <p:spPr>
          <a:xfrm>
            <a:off x="1370985" y="1729666"/>
            <a:ext cx="3060000" cy="306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C25CEA03-C0E8-4C8A-B3AC-7F25959CA494}"/>
              </a:ext>
            </a:extLst>
          </p:cNvPr>
          <p:cNvSpPr/>
          <p:nvPr/>
        </p:nvSpPr>
        <p:spPr>
          <a:xfrm>
            <a:off x="1100985" y="1459666"/>
            <a:ext cx="3600000" cy="360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98510823-520E-4E27-B126-FE98CA17D6C1}"/>
              </a:ext>
            </a:extLst>
          </p:cNvPr>
          <p:cNvSpPr/>
          <p:nvPr/>
        </p:nvSpPr>
        <p:spPr>
          <a:xfrm>
            <a:off x="830985" y="1189666"/>
            <a:ext cx="4140000" cy="414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Connector 11">
            <a:extLst>
              <a:ext uri="{FF2B5EF4-FFF2-40B4-BE49-F238E27FC236}">
                <a16:creationId xmlns:a16="http://schemas.microsoft.com/office/drawing/2014/main" id="{ED9723F2-3609-4C45-AB0B-3A7FE04ECE44}"/>
              </a:ext>
            </a:extLst>
          </p:cNvPr>
          <p:cNvCxnSpPr>
            <a:stCxn id="11" idx="0"/>
            <a:endCxn id="11" idx="4"/>
          </p:cNvCxnSpPr>
          <p:nvPr/>
        </p:nvCxnSpPr>
        <p:spPr>
          <a:xfrm>
            <a:off x="2900985" y="1189666"/>
            <a:ext cx="0" cy="4140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EBFF2F6-42C2-439F-A83B-E16B220BD7D6}"/>
              </a:ext>
            </a:extLst>
          </p:cNvPr>
          <p:cNvCxnSpPr>
            <a:cxnSpLocks/>
          </p:cNvCxnSpPr>
          <p:nvPr/>
        </p:nvCxnSpPr>
        <p:spPr>
          <a:xfrm rot="16200000">
            <a:off x="2900985" y="1189666"/>
            <a:ext cx="0" cy="4140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F41B0CB-AC99-4EDB-9E42-FC1A157DA874}"/>
              </a:ext>
            </a:extLst>
          </p:cNvPr>
          <p:cNvCxnSpPr>
            <a:cxnSpLocks/>
          </p:cNvCxnSpPr>
          <p:nvPr/>
        </p:nvCxnSpPr>
        <p:spPr>
          <a:xfrm rot="2700000">
            <a:off x="2930086" y="1185938"/>
            <a:ext cx="0" cy="4140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27DF408-764A-4743-A817-239AB53D4564}"/>
              </a:ext>
            </a:extLst>
          </p:cNvPr>
          <p:cNvCxnSpPr>
            <a:cxnSpLocks/>
          </p:cNvCxnSpPr>
          <p:nvPr/>
        </p:nvCxnSpPr>
        <p:spPr>
          <a:xfrm rot="18900000" flipH="1">
            <a:off x="2900985" y="1220947"/>
            <a:ext cx="0" cy="414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4D7D8654-1863-4366-92C0-6F7562D70181}"/>
              </a:ext>
            </a:extLst>
          </p:cNvPr>
          <p:cNvSpPr/>
          <p:nvPr/>
        </p:nvSpPr>
        <p:spPr>
          <a:xfrm>
            <a:off x="4579951" y="3145365"/>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a:extLst>
              <a:ext uri="{FF2B5EF4-FFF2-40B4-BE49-F238E27FC236}">
                <a16:creationId xmlns:a16="http://schemas.microsoft.com/office/drawing/2014/main" id="{4587CF0A-E30F-46E8-8259-845FB1C4C74F}"/>
              </a:ext>
            </a:extLst>
          </p:cNvPr>
          <p:cNvCxnSpPr/>
          <p:nvPr/>
        </p:nvCxnSpPr>
        <p:spPr>
          <a:xfrm flipH="1">
            <a:off x="4364696" y="1646866"/>
            <a:ext cx="606289" cy="6096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934B80D-3E57-4580-B43A-63DBEE1B1627}"/>
              </a:ext>
            </a:extLst>
          </p:cNvPr>
          <p:cNvCxnSpPr>
            <a:cxnSpLocks/>
          </p:cNvCxnSpPr>
          <p:nvPr/>
        </p:nvCxnSpPr>
        <p:spPr>
          <a:xfrm flipH="1">
            <a:off x="4334407" y="1681654"/>
            <a:ext cx="693433" cy="100351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24FC565-2623-4F1D-9095-6FF3017B8E2F}"/>
              </a:ext>
            </a:extLst>
          </p:cNvPr>
          <p:cNvCxnSpPr>
            <a:cxnSpLocks/>
          </p:cNvCxnSpPr>
          <p:nvPr/>
        </p:nvCxnSpPr>
        <p:spPr>
          <a:xfrm flipH="1" flipV="1">
            <a:off x="4753915" y="3384598"/>
            <a:ext cx="0" cy="226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D5158EA-BCF6-4334-A2F7-856A7D540B73}"/>
              </a:ext>
            </a:extLst>
          </p:cNvPr>
          <p:cNvCxnSpPr>
            <a:cxnSpLocks/>
          </p:cNvCxnSpPr>
          <p:nvPr/>
        </p:nvCxnSpPr>
        <p:spPr>
          <a:xfrm flipH="1" flipV="1">
            <a:off x="161256" y="3259665"/>
            <a:ext cx="563400" cy="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057D405-4E05-4D19-8F18-DFAF3FF191E0}"/>
              </a:ext>
            </a:extLst>
          </p:cNvPr>
          <p:cNvCxnSpPr>
            <a:cxnSpLocks/>
          </p:cNvCxnSpPr>
          <p:nvPr/>
        </p:nvCxnSpPr>
        <p:spPr>
          <a:xfrm rot="2700000" flipH="1" flipV="1">
            <a:off x="893443" y="1539167"/>
            <a:ext cx="563400" cy="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E09E724-5538-455A-9ABB-73C6008DB53C}"/>
              </a:ext>
            </a:extLst>
          </p:cNvPr>
          <p:cNvCxnSpPr>
            <a:cxnSpLocks/>
          </p:cNvCxnSpPr>
          <p:nvPr/>
        </p:nvCxnSpPr>
        <p:spPr>
          <a:xfrm flipH="1">
            <a:off x="376669" y="2743066"/>
            <a:ext cx="94316" cy="50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ABEFDDD-D1AA-4C7E-A320-F1B7F0FF7D27}"/>
              </a:ext>
            </a:extLst>
          </p:cNvPr>
          <p:cNvCxnSpPr>
            <a:cxnSpLocks/>
          </p:cNvCxnSpPr>
          <p:nvPr/>
        </p:nvCxnSpPr>
        <p:spPr>
          <a:xfrm flipV="1">
            <a:off x="806965" y="1478034"/>
            <a:ext cx="319100" cy="46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E82C28C-EB3A-4981-A9FB-087D6EE6FC2C}"/>
              </a:ext>
            </a:extLst>
          </p:cNvPr>
          <p:cNvSpPr txBox="1"/>
          <p:nvPr/>
        </p:nvSpPr>
        <p:spPr>
          <a:xfrm>
            <a:off x="4940124" y="1429934"/>
            <a:ext cx="813861" cy="369332"/>
          </a:xfrm>
          <a:prstGeom prst="rect">
            <a:avLst/>
          </a:prstGeom>
          <a:noFill/>
        </p:spPr>
        <p:txBody>
          <a:bodyPr wrap="square" rtlCol="0">
            <a:spAutoFit/>
          </a:bodyPr>
          <a:lstStyle/>
          <a:p>
            <a:r>
              <a:rPr lang="en-US" dirty="0"/>
              <a:t>Tracks</a:t>
            </a:r>
            <a:endParaRPr lang="en-IN" dirty="0"/>
          </a:p>
        </p:txBody>
      </p:sp>
      <p:sp>
        <p:nvSpPr>
          <p:cNvPr id="25" name="TextBox 24">
            <a:extLst>
              <a:ext uri="{FF2B5EF4-FFF2-40B4-BE49-F238E27FC236}">
                <a16:creationId xmlns:a16="http://schemas.microsoft.com/office/drawing/2014/main" id="{F8B87E2B-C8FC-4D35-AE87-E42A3C00D8B0}"/>
              </a:ext>
            </a:extLst>
          </p:cNvPr>
          <p:cNvSpPr txBox="1"/>
          <p:nvPr/>
        </p:nvSpPr>
        <p:spPr>
          <a:xfrm>
            <a:off x="4077732" y="5652598"/>
            <a:ext cx="1352365" cy="646331"/>
          </a:xfrm>
          <a:prstGeom prst="rect">
            <a:avLst/>
          </a:prstGeom>
          <a:noFill/>
        </p:spPr>
        <p:txBody>
          <a:bodyPr wrap="square" rtlCol="0">
            <a:spAutoFit/>
          </a:bodyPr>
          <a:lstStyle/>
          <a:p>
            <a:pPr algn="ctr"/>
            <a:r>
              <a:rPr lang="en-US" dirty="0"/>
              <a:t>Read/write head</a:t>
            </a:r>
            <a:endParaRPr lang="en-IN" dirty="0"/>
          </a:p>
        </p:txBody>
      </p:sp>
      <p:sp>
        <p:nvSpPr>
          <p:cNvPr id="26" name="TextBox 25">
            <a:extLst>
              <a:ext uri="{FF2B5EF4-FFF2-40B4-BE49-F238E27FC236}">
                <a16:creationId xmlns:a16="http://schemas.microsoft.com/office/drawing/2014/main" id="{0EFAB0D7-419C-4106-89AA-97A74F95C8F3}"/>
              </a:ext>
            </a:extLst>
          </p:cNvPr>
          <p:cNvSpPr txBox="1"/>
          <p:nvPr/>
        </p:nvSpPr>
        <p:spPr>
          <a:xfrm rot="17586316">
            <a:off x="225092" y="2094212"/>
            <a:ext cx="814694" cy="369332"/>
          </a:xfrm>
          <a:prstGeom prst="rect">
            <a:avLst/>
          </a:prstGeom>
          <a:noFill/>
        </p:spPr>
        <p:txBody>
          <a:bodyPr wrap="square" rtlCol="0">
            <a:spAutoFit/>
          </a:bodyPr>
          <a:lstStyle/>
          <a:p>
            <a:r>
              <a:rPr lang="en-US" dirty="0"/>
              <a:t>Sector</a:t>
            </a:r>
            <a:endParaRPr lang="en-IN" dirty="0"/>
          </a:p>
        </p:txBody>
      </p:sp>
      <p:sp>
        <p:nvSpPr>
          <p:cNvPr id="27" name="Content Placeholder 2">
            <a:extLst>
              <a:ext uri="{FF2B5EF4-FFF2-40B4-BE49-F238E27FC236}">
                <a16:creationId xmlns:a16="http://schemas.microsoft.com/office/drawing/2014/main" id="{633C1230-1D2B-4D0E-8F1C-BE9B666C24ED}"/>
              </a:ext>
            </a:extLst>
          </p:cNvPr>
          <p:cNvSpPr>
            <a:spLocks noGrp="1"/>
          </p:cNvSpPr>
          <p:nvPr>
            <p:ph idx="1"/>
          </p:nvPr>
        </p:nvSpPr>
        <p:spPr>
          <a:xfrm>
            <a:off x="5753985" y="863444"/>
            <a:ext cx="6306836" cy="5590565"/>
          </a:xfrm>
        </p:spPr>
        <p:txBody>
          <a:bodyPr/>
          <a:lstStyle/>
          <a:p>
            <a:r>
              <a:rPr lang="en-IN" dirty="0"/>
              <a:t>Circular plate of metal or plastic coated with magnetized material.</a:t>
            </a:r>
          </a:p>
          <a:p>
            <a:r>
              <a:rPr lang="en-IN" dirty="0"/>
              <a:t>Often both sides of the disk are used and several disks may be stacked on one spindle with read/write heads available on each surface.</a:t>
            </a:r>
          </a:p>
          <a:p>
            <a:r>
              <a:rPr lang="en-IN" dirty="0"/>
              <a:t>All disks rotate together at high speed and are not stopped or started for access purposes.</a:t>
            </a:r>
          </a:p>
          <a:p>
            <a:r>
              <a:rPr lang="en-IN" dirty="0"/>
              <a:t>Bits are stored in the magnetized surface in spots along concentric circles called </a:t>
            </a:r>
            <a:r>
              <a:rPr lang="en-IN" dirty="0">
                <a:solidFill>
                  <a:schemeClr val="tx2"/>
                </a:solidFill>
              </a:rPr>
              <a:t>track</a:t>
            </a:r>
            <a:r>
              <a:rPr lang="en-IN" dirty="0"/>
              <a:t>.</a:t>
            </a:r>
          </a:p>
          <a:p>
            <a:r>
              <a:rPr lang="en-IN" dirty="0"/>
              <a:t>The tracks are commonly divided into sections called </a:t>
            </a:r>
            <a:r>
              <a:rPr lang="en-IN" dirty="0">
                <a:solidFill>
                  <a:schemeClr val="tx2"/>
                </a:solidFill>
              </a:rPr>
              <a:t>sectors</a:t>
            </a:r>
            <a:r>
              <a:rPr lang="en-IN" dirty="0"/>
              <a:t>.</a:t>
            </a:r>
          </a:p>
          <a:p>
            <a:endParaRPr lang="en-IN" dirty="0"/>
          </a:p>
        </p:txBody>
      </p:sp>
    </p:spTree>
    <p:extLst>
      <p:ext uri="{BB962C8B-B14F-4D97-AF65-F5344CB8AC3E}">
        <p14:creationId xmlns:p14="http://schemas.microsoft.com/office/powerpoint/2010/main" val="4148448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10"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par>
                                <p:cTn id="64" presetID="10" presetClass="entr" presetSubtype="0" fill="hold"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500"/>
                                        <p:tgtEl>
                                          <p:spTgt spid="25"/>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7">
                                            <p:txEl>
                                              <p:pRg st="0" end="0"/>
                                            </p:txEl>
                                          </p:spTgt>
                                        </p:tgtEl>
                                        <p:attrNameLst>
                                          <p:attrName>style.visibility</p:attrName>
                                        </p:attrNameLst>
                                      </p:cBhvr>
                                      <p:to>
                                        <p:strVal val="visible"/>
                                      </p:to>
                                    </p:set>
                                    <p:animEffect transition="in" filter="fade">
                                      <p:cBhvr>
                                        <p:cTn id="74" dur="500"/>
                                        <p:tgtEl>
                                          <p:spTgt spid="27">
                                            <p:txEl>
                                              <p:pRg st="0" end="0"/>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7">
                                            <p:txEl>
                                              <p:pRg st="1" end="1"/>
                                            </p:txEl>
                                          </p:spTgt>
                                        </p:tgtEl>
                                        <p:attrNameLst>
                                          <p:attrName>style.visibility</p:attrName>
                                        </p:attrNameLst>
                                      </p:cBhvr>
                                      <p:to>
                                        <p:strVal val="visible"/>
                                      </p:to>
                                    </p:set>
                                    <p:animEffect transition="in" filter="fade">
                                      <p:cBhvr>
                                        <p:cTn id="79" dur="500"/>
                                        <p:tgtEl>
                                          <p:spTgt spid="27">
                                            <p:txEl>
                                              <p:pRg st="1" end="1"/>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27">
                                            <p:txEl>
                                              <p:pRg st="2" end="2"/>
                                            </p:txEl>
                                          </p:spTgt>
                                        </p:tgtEl>
                                        <p:attrNameLst>
                                          <p:attrName>style.visibility</p:attrName>
                                        </p:attrNameLst>
                                      </p:cBhvr>
                                      <p:to>
                                        <p:strVal val="visible"/>
                                      </p:to>
                                    </p:set>
                                    <p:animEffect transition="in" filter="fade">
                                      <p:cBhvr>
                                        <p:cTn id="84" dur="500"/>
                                        <p:tgtEl>
                                          <p:spTgt spid="27">
                                            <p:txEl>
                                              <p:pRg st="2" end="2"/>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27">
                                            <p:txEl>
                                              <p:pRg st="3" end="3"/>
                                            </p:txEl>
                                          </p:spTgt>
                                        </p:tgtEl>
                                        <p:attrNameLst>
                                          <p:attrName>style.visibility</p:attrName>
                                        </p:attrNameLst>
                                      </p:cBhvr>
                                      <p:to>
                                        <p:strVal val="visible"/>
                                      </p:to>
                                    </p:set>
                                    <p:animEffect transition="in" filter="fade">
                                      <p:cBhvr>
                                        <p:cTn id="89" dur="500"/>
                                        <p:tgtEl>
                                          <p:spTgt spid="27">
                                            <p:txEl>
                                              <p:pRg st="3" end="3"/>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27">
                                            <p:txEl>
                                              <p:pRg st="4" end="4"/>
                                            </p:txEl>
                                          </p:spTgt>
                                        </p:tgtEl>
                                        <p:attrNameLst>
                                          <p:attrName>style.visibility</p:attrName>
                                        </p:attrNameLst>
                                      </p:cBhvr>
                                      <p:to>
                                        <p:strVal val="visible"/>
                                      </p:to>
                                    </p:set>
                                    <p:animEffect transition="in" filter="fade">
                                      <p:cBhvr>
                                        <p:cTn id="94" dur="500"/>
                                        <p:tgtEl>
                                          <p:spTgt spid="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6" grpId="0" animBg="1"/>
      <p:bldP spid="24" grpId="0"/>
      <p:bldP spid="25" grpId="0"/>
      <p:bldP spid="26" grpId="0"/>
      <p:bldP spid="2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A3888-2C62-498E-A32C-478597D0965C}"/>
              </a:ext>
            </a:extLst>
          </p:cNvPr>
          <p:cNvSpPr>
            <a:spLocks noGrp="1"/>
          </p:cNvSpPr>
          <p:nvPr>
            <p:ph type="title"/>
          </p:nvPr>
        </p:nvSpPr>
        <p:spPr/>
        <p:txBody>
          <a:bodyPr/>
          <a:lstStyle/>
          <a:p>
            <a:r>
              <a:rPr lang="en-US" dirty="0"/>
              <a:t>Magnetic Tape</a:t>
            </a:r>
            <a:endParaRPr lang="en-IN" dirty="0"/>
          </a:p>
        </p:txBody>
      </p:sp>
      <p:sp>
        <p:nvSpPr>
          <p:cNvPr id="3" name="Content Placeholder 2">
            <a:extLst>
              <a:ext uri="{FF2B5EF4-FFF2-40B4-BE49-F238E27FC236}">
                <a16:creationId xmlns:a16="http://schemas.microsoft.com/office/drawing/2014/main" id="{78C9A1CC-4689-421D-819A-E7BE165B92FE}"/>
              </a:ext>
            </a:extLst>
          </p:cNvPr>
          <p:cNvSpPr>
            <a:spLocks noGrp="1"/>
          </p:cNvSpPr>
          <p:nvPr>
            <p:ph idx="1"/>
          </p:nvPr>
        </p:nvSpPr>
        <p:spPr/>
        <p:txBody>
          <a:bodyPr/>
          <a:lstStyle/>
          <a:p>
            <a:pPr algn="just"/>
            <a:r>
              <a:rPr lang="en-US" dirty="0"/>
              <a:t>Magnetic tape transport consists of the electrical, mechanical and electronic components to provide the parts and control mechanism for a magnetic-tape unit.</a:t>
            </a:r>
          </a:p>
          <a:p>
            <a:pPr algn="just"/>
            <a:r>
              <a:rPr lang="en-US" dirty="0"/>
              <a:t>The tape itself is a strip of plastic coated with a magnetic recording medium.</a:t>
            </a:r>
          </a:p>
          <a:p>
            <a:pPr algn="just"/>
            <a:r>
              <a:rPr lang="en-US" dirty="0"/>
              <a:t>Bits are recorded as magnetic spots on the tape along several tracks.</a:t>
            </a:r>
          </a:p>
          <a:p>
            <a:pPr algn="just"/>
            <a:r>
              <a:rPr lang="en-US" dirty="0"/>
              <a:t>Magnetic tape units can be stopped, started to move forward or in reverse, or can be rewound. However, they cannot be started or stopped fast enough between individual characters.</a:t>
            </a:r>
          </a:p>
          <a:p>
            <a:pPr algn="just"/>
            <a:r>
              <a:rPr lang="en-US" dirty="0"/>
              <a:t>A tape unit is addressed by specifying the record number and the number of characters in the record.</a:t>
            </a:r>
          </a:p>
          <a:p>
            <a:endParaRPr lang="en-IN" dirty="0"/>
          </a:p>
        </p:txBody>
      </p:sp>
    </p:spTree>
    <p:extLst>
      <p:ext uri="{BB962C8B-B14F-4D97-AF65-F5344CB8AC3E}">
        <p14:creationId xmlns:p14="http://schemas.microsoft.com/office/powerpoint/2010/main" val="4212641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Associative Memory</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- 4</a:t>
            </a:r>
          </a:p>
        </p:txBody>
      </p:sp>
    </p:spTree>
    <p:extLst>
      <p:ext uri="{BB962C8B-B14F-4D97-AF65-F5344CB8AC3E}">
        <p14:creationId xmlns:p14="http://schemas.microsoft.com/office/powerpoint/2010/main" val="3863525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77FBCA1-2E23-47DB-A044-C423D19091A2}"/>
              </a:ext>
            </a:extLst>
          </p:cNvPr>
          <p:cNvSpPr>
            <a:spLocks noGrp="1"/>
          </p:cNvSpPr>
          <p:nvPr>
            <p:ph type="title"/>
          </p:nvPr>
        </p:nvSpPr>
        <p:spPr/>
        <p:txBody>
          <a:bodyPr/>
          <a:lstStyle/>
          <a:p>
            <a:r>
              <a:rPr lang="en-US" dirty="0"/>
              <a:t>Associative Memory(Content Addressable Memory)</a:t>
            </a:r>
            <a:endParaRPr lang="en-IN" dirty="0"/>
          </a:p>
        </p:txBody>
      </p:sp>
      <p:sp>
        <p:nvSpPr>
          <p:cNvPr id="7" name="Content Placeholder 6">
            <a:extLst>
              <a:ext uri="{FF2B5EF4-FFF2-40B4-BE49-F238E27FC236}">
                <a16:creationId xmlns:a16="http://schemas.microsoft.com/office/drawing/2014/main" id="{3A98CEF8-4124-46EE-93D4-68DFB90C2F5D}"/>
              </a:ext>
            </a:extLst>
          </p:cNvPr>
          <p:cNvSpPr>
            <a:spLocks noGrp="1"/>
          </p:cNvSpPr>
          <p:nvPr>
            <p:ph idx="1"/>
          </p:nvPr>
        </p:nvSpPr>
        <p:spPr>
          <a:xfrm>
            <a:off x="131181" y="863444"/>
            <a:ext cx="4312376" cy="5590565"/>
          </a:xfrm>
        </p:spPr>
        <p:txBody>
          <a:bodyPr/>
          <a:lstStyle/>
          <a:p>
            <a:pPr algn="just"/>
            <a:r>
              <a:rPr lang="en-US" dirty="0"/>
              <a:t>The time required to find an item stored in memory can be reduced considerably if stored data can be identified for access by the content of the data itself rather than by an address.</a:t>
            </a:r>
          </a:p>
          <a:p>
            <a:pPr algn="just"/>
            <a:r>
              <a:rPr lang="en-US" dirty="0"/>
              <a:t>A memory unit accessed by content is called an </a:t>
            </a:r>
            <a:r>
              <a:rPr lang="en-US" dirty="0">
                <a:solidFill>
                  <a:schemeClr val="tx2"/>
                </a:solidFill>
              </a:rPr>
              <a:t>associative memory or content addressable memory (CAM).</a:t>
            </a:r>
          </a:p>
          <a:p>
            <a:pPr algn="just"/>
            <a:r>
              <a:rPr lang="en-US" dirty="0"/>
              <a:t>This type of memory is accessed simultaneously and in parallel on the basis of data content rather than by specific address or location.</a:t>
            </a:r>
          </a:p>
          <a:p>
            <a:pPr algn="just"/>
            <a:endParaRPr lang="en-US" dirty="0"/>
          </a:p>
          <a:p>
            <a:endParaRPr lang="en-IN" dirty="0"/>
          </a:p>
        </p:txBody>
      </p:sp>
      <p:sp>
        <p:nvSpPr>
          <p:cNvPr id="36" name="Rectangle 35">
            <a:extLst>
              <a:ext uri="{FF2B5EF4-FFF2-40B4-BE49-F238E27FC236}">
                <a16:creationId xmlns:a16="http://schemas.microsoft.com/office/drawing/2014/main" id="{F4F7734B-7F17-450C-8EAD-2D58CBF4E5B6}"/>
              </a:ext>
            </a:extLst>
          </p:cNvPr>
          <p:cNvSpPr/>
          <p:nvPr/>
        </p:nvSpPr>
        <p:spPr>
          <a:xfrm>
            <a:off x="7748444" y="1141637"/>
            <a:ext cx="3048000" cy="5541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Argument register (</a:t>
            </a:r>
            <a:r>
              <a:rPr lang="en-US" i="1" dirty="0"/>
              <a:t>A</a:t>
            </a:r>
            <a:r>
              <a:rPr lang="en-US" dirty="0"/>
              <a:t>)</a:t>
            </a:r>
            <a:endParaRPr lang="en-IN" dirty="0"/>
          </a:p>
        </p:txBody>
      </p:sp>
      <p:sp>
        <p:nvSpPr>
          <p:cNvPr id="37" name="Rectangle 36">
            <a:extLst>
              <a:ext uri="{FF2B5EF4-FFF2-40B4-BE49-F238E27FC236}">
                <a16:creationId xmlns:a16="http://schemas.microsoft.com/office/drawing/2014/main" id="{248D554E-4BB9-4A89-83F9-D9D54FCF56AB}"/>
              </a:ext>
            </a:extLst>
          </p:cNvPr>
          <p:cNvSpPr/>
          <p:nvPr/>
        </p:nvSpPr>
        <p:spPr>
          <a:xfrm>
            <a:off x="7747152" y="2284635"/>
            <a:ext cx="3048000" cy="5541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Key register (</a:t>
            </a:r>
            <a:r>
              <a:rPr lang="en-US" i="1" dirty="0"/>
              <a:t>K</a:t>
            </a:r>
            <a:r>
              <a:rPr lang="en-US" dirty="0"/>
              <a:t>)</a:t>
            </a:r>
            <a:endParaRPr lang="en-IN" dirty="0"/>
          </a:p>
        </p:txBody>
      </p:sp>
      <p:sp>
        <p:nvSpPr>
          <p:cNvPr id="38" name="Rectangle 37">
            <a:extLst>
              <a:ext uri="{FF2B5EF4-FFF2-40B4-BE49-F238E27FC236}">
                <a16:creationId xmlns:a16="http://schemas.microsoft.com/office/drawing/2014/main" id="{63F1A08A-87E1-4C14-9E1F-79C7150C5250}"/>
              </a:ext>
            </a:extLst>
          </p:cNvPr>
          <p:cNvSpPr/>
          <p:nvPr/>
        </p:nvSpPr>
        <p:spPr>
          <a:xfrm>
            <a:off x="7744569" y="3427637"/>
            <a:ext cx="3048000" cy="1635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Associative memory </a:t>
            </a:r>
          </a:p>
          <a:p>
            <a:pPr algn="ctr"/>
            <a:r>
              <a:rPr lang="en-US" dirty="0"/>
              <a:t>array and logic</a:t>
            </a:r>
          </a:p>
          <a:p>
            <a:pPr algn="ctr"/>
            <a:endParaRPr lang="en-US" dirty="0"/>
          </a:p>
          <a:p>
            <a:pPr algn="ctr"/>
            <a:r>
              <a:rPr lang="en-US" i="1" dirty="0"/>
              <a:t>m</a:t>
            </a:r>
            <a:r>
              <a:rPr lang="en-US" dirty="0"/>
              <a:t> words</a:t>
            </a:r>
          </a:p>
          <a:p>
            <a:pPr algn="ctr"/>
            <a:r>
              <a:rPr lang="en-US" i="1" dirty="0"/>
              <a:t>n</a:t>
            </a:r>
            <a:r>
              <a:rPr lang="en-US" dirty="0"/>
              <a:t> bits per word</a:t>
            </a:r>
            <a:endParaRPr lang="en-IN" dirty="0"/>
          </a:p>
        </p:txBody>
      </p:sp>
      <p:sp>
        <p:nvSpPr>
          <p:cNvPr id="39" name="Rectangle 38">
            <a:extLst>
              <a:ext uri="{FF2B5EF4-FFF2-40B4-BE49-F238E27FC236}">
                <a16:creationId xmlns:a16="http://schemas.microsoft.com/office/drawing/2014/main" id="{D4B6B1A7-09C7-462A-BAE7-DD1E76F20EA1}"/>
              </a:ext>
            </a:extLst>
          </p:cNvPr>
          <p:cNvSpPr/>
          <p:nvPr/>
        </p:nvSpPr>
        <p:spPr>
          <a:xfrm>
            <a:off x="11406044" y="3427637"/>
            <a:ext cx="650929" cy="1635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t>M</a:t>
            </a:r>
            <a:endParaRPr lang="en-IN" i="1" dirty="0"/>
          </a:p>
        </p:txBody>
      </p:sp>
      <p:cxnSp>
        <p:nvCxnSpPr>
          <p:cNvPr id="40" name="Straight Arrow Connector 39">
            <a:extLst>
              <a:ext uri="{FF2B5EF4-FFF2-40B4-BE49-F238E27FC236}">
                <a16:creationId xmlns:a16="http://schemas.microsoft.com/office/drawing/2014/main" id="{CA472D0E-D2B6-4A18-A48C-8F7BFFC5914C}"/>
              </a:ext>
            </a:extLst>
          </p:cNvPr>
          <p:cNvCxnSpPr>
            <a:stCxn id="36" idx="2"/>
            <a:endCxn id="37" idx="0"/>
          </p:cNvCxnSpPr>
          <p:nvPr/>
        </p:nvCxnSpPr>
        <p:spPr>
          <a:xfrm flipH="1">
            <a:off x="9271152" y="1695819"/>
            <a:ext cx="1292" cy="5888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BD965271-4B1D-42CA-9A54-F04516DA6E0E}"/>
              </a:ext>
            </a:extLst>
          </p:cNvPr>
          <p:cNvCxnSpPr/>
          <p:nvPr/>
        </p:nvCxnSpPr>
        <p:spPr>
          <a:xfrm flipH="1">
            <a:off x="9268569" y="2837641"/>
            <a:ext cx="1292" cy="5888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42EA8C9-7016-4862-8213-77142AACAA18}"/>
              </a:ext>
            </a:extLst>
          </p:cNvPr>
          <p:cNvCxnSpPr/>
          <p:nvPr/>
        </p:nvCxnSpPr>
        <p:spPr>
          <a:xfrm flipH="1">
            <a:off x="9268569" y="5082902"/>
            <a:ext cx="1292" cy="5888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18A86A68-DCEA-4761-8D85-4A9694D32008}"/>
              </a:ext>
            </a:extLst>
          </p:cNvPr>
          <p:cNvCxnSpPr>
            <a:cxnSpLocks/>
          </p:cNvCxnSpPr>
          <p:nvPr/>
        </p:nvCxnSpPr>
        <p:spPr>
          <a:xfrm rot="16200000" flipH="1">
            <a:off x="7424856" y="3437382"/>
            <a:ext cx="1292" cy="5888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11E7C61A-8A96-4697-AA6B-B526ADCFB655}"/>
              </a:ext>
            </a:extLst>
          </p:cNvPr>
          <p:cNvCxnSpPr>
            <a:cxnSpLocks/>
          </p:cNvCxnSpPr>
          <p:nvPr/>
        </p:nvCxnSpPr>
        <p:spPr>
          <a:xfrm rot="16200000" flipH="1">
            <a:off x="7424856" y="4200675"/>
            <a:ext cx="1292" cy="5888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A7B7DCFE-A4B7-450B-8A85-6D706EE667AA}"/>
              </a:ext>
            </a:extLst>
          </p:cNvPr>
          <p:cNvCxnSpPr>
            <a:cxnSpLocks/>
          </p:cNvCxnSpPr>
          <p:nvPr/>
        </p:nvCxnSpPr>
        <p:spPr>
          <a:xfrm rot="16200000" flipH="1">
            <a:off x="7424856" y="4505475"/>
            <a:ext cx="1292" cy="5888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120186C8-6B89-417A-82ED-B6227D52AB43}"/>
              </a:ext>
            </a:extLst>
          </p:cNvPr>
          <p:cNvCxnSpPr>
            <a:cxnSpLocks/>
          </p:cNvCxnSpPr>
          <p:nvPr/>
        </p:nvCxnSpPr>
        <p:spPr>
          <a:xfrm rot="16200000" flipH="1">
            <a:off x="11086331" y="3951821"/>
            <a:ext cx="1292" cy="5888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FC4B13DA-43F0-4EE7-909A-C0709D907B7F}"/>
              </a:ext>
            </a:extLst>
          </p:cNvPr>
          <p:cNvSpPr txBox="1"/>
          <p:nvPr/>
        </p:nvSpPr>
        <p:spPr>
          <a:xfrm>
            <a:off x="11271016" y="2754895"/>
            <a:ext cx="920984" cy="646331"/>
          </a:xfrm>
          <a:prstGeom prst="rect">
            <a:avLst/>
          </a:prstGeom>
          <a:noFill/>
        </p:spPr>
        <p:txBody>
          <a:bodyPr wrap="square" rtlCol="0">
            <a:spAutoFit/>
          </a:bodyPr>
          <a:lstStyle/>
          <a:p>
            <a:pPr algn="ctr"/>
            <a:r>
              <a:rPr lang="en-US" dirty="0"/>
              <a:t>Match</a:t>
            </a:r>
          </a:p>
          <a:p>
            <a:pPr algn="ctr"/>
            <a:r>
              <a:rPr lang="en-US" dirty="0"/>
              <a:t>register</a:t>
            </a:r>
            <a:endParaRPr lang="en-IN" dirty="0"/>
          </a:p>
        </p:txBody>
      </p:sp>
      <p:sp>
        <p:nvSpPr>
          <p:cNvPr id="48" name="TextBox 47">
            <a:extLst>
              <a:ext uri="{FF2B5EF4-FFF2-40B4-BE49-F238E27FC236}">
                <a16:creationId xmlns:a16="http://schemas.microsoft.com/office/drawing/2014/main" id="{EAEEAF38-DEF9-43E2-8D2A-15AF28AE6AFE}"/>
              </a:ext>
            </a:extLst>
          </p:cNvPr>
          <p:cNvSpPr txBox="1"/>
          <p:nvPr/>
        </p:nvSpPr>
        <p:spPr>
          <a:xfrm>
            <a:off x="8830810" y="5625224"/>
            <a:ext cx="894959" cy="369332"/>
          </a:xfrm>
          <a:prstGeom prst="rect">
            <a:avLst/>
          </a:prstGeom>
          <a:noFill/>
        </p:spPr>
        <p:txBody>
          <a:bodyPr wrap="square" rtlCol="0">
            <a:spAutoFit/>
          </a:bodyPr>
          <a:lstStyle/>
          <a:p>
            <a:r>
              <a:rPr lang="en-US" dirty="0"/>
              <a:t>Output</a:t>
            </a:r>
            <a:endParaRPr lang="en-IN" dirty="0"/>
          </a:p>
        </p:txBody>
      </p:sp>
      <p:sp>
        <p:nvSpPr>
          <p:cNvPr id="49" name="TextBox 48">
            <a:extLst>
              <a:ext uri="{FF2B5EF4-FFF2-40B4-BE49-F238E27FC236}">
                <a16:creationId xmlns:a16="http://schemas.microsoft.com/office/drawing/2014/main" id="{8B6E9955-877F-4B9F-9B1D-D874BC446ED1}"/>
              </a:ext>
            </a:extLst>
          </p:cNvPr>
          <p:cNvSpPr txBox="1"/>
          <p:nvPr/>
        </p:nvSpPr>
        <p:spPr>
          <a:xfrm>
            <a:off x="6456036" y="3530980"/>
            <a:ext cx="739635" cy="369332"/>
          </a:xfrm>
          <a:prstGeom prst="rect">
            <a:avLst/>
          </a:prstGeom>
          <a:noFill/>
        </p:spPr>
        <p:txBody>
          <a:bodyPr wrap="square" rtlCol="0">
            <a:spAutoFit/>
          </a:bodyPr>
          <a:lstStyle/>
          <a:p>
            <a:r>
              <a:rPr lang="en-US" dirty="0"/>
              <a:t>Input</a:t>
            </a:r>
            <a:endParaRPr lang="en-IN" dirty="0"/>
          </a:p>
        </p:txBody>
      </p:sp>
      <p:sp>
        <p:nvSpPr>
          <p:cNvPr id="50" name="TextBox 49">
            <a:extLst>
              <a:ext uri="{FF2B5EF4-FFF2-40B4-BE49-F238E27FC236}">
                <a16:creationId xmlns:a16="http://schemas.microsoft.com/office/drawing/2014/main" id="{FF525F86-2844-4BB2-95D9-5CBDA9A51372}"/>
              </a:ext>
            </a:extLst>
          </p:cNvPr>
          <p:cNvSpPr txBox="1"/>
          <p:nvPr/>
        </p:nvSpPr>
        <p:spPr>
          <a:xfrm>
            <a:off x="6494373" y="4294273"/>
            <a:ext cx="672395" cy="369332"/>
          </a:xfrm>
          <a:prstGeom prst="rect">
            <a:avLst/>
          </a:prstGeom>
          <a:noFill/>
        </p:spPr>
        <p:txBody>
          <a:bodyPr wrap="square" rtlCol="0">
            <a:spAutoFit/>
          </a:bodyPr>
          <a:lstStyle/>
          <a:p>
            <a:r>
              <a:rPr lang="en-US" dirty="0"/>
              <a:t>Read</a:t>
            </a:r>
            <a:endParaRPr lang="en-IN" dirty="0"/>
          </a:p>
        </p:txBody>
      </p:sp>
      <p:sp>
        <p:nvSpPr>
          <p:cNvPr id="51" name="TextBox 50">
            <a:extLst>
              <a:ext uri="{FF2B5EF4-FFF2-40B4-BE49-F238E27FC236}">
                <a16:creationId xmlns:a16="http://schemas.microsoft.com/office/drawing/2014/main" id="{636BD880-454F-43C9-A29D-1C2531805768}"/>
              </a:ext>
            </a:extLst>
          </p:cNvPr>
          <p:cNvSpPr txBox="1"/>
          <p:nvPr/>
        </p:nvSpPr>
        <p:spPr>
          <a:xfrm>
            <a:off x="6456036" y="4611018"/>
            <a:ext cx="739635" cy="401321"/>
          </a:xfrm>
          <a:prstGeom prst="rect">
            <a:avLst/>
          </a:prstGeom>
          <a:noFill/>
        </p:spPr>
        <p:txBody>
          <a:bodyPr wrap="square" rtlCol="0">
            <a:spAutoFit/>
          </a:bodyPr>
          <a:lstStyle/>
          <a:p>
            <a:r>
              <a:rPr lang="en-US" dirty="0"/>
              <a:t>Write</a:t>
            </a:r>
            <a:endParaRPr lang="en-IN" dirty="0"/>
          </a:p>
        </p:txBody>
      </p:sp>
      <p:sp>
        <p:nvSpPr>
          <p:cNvPr id="52" name="TextBox 51">
            <a:extLst>
              <a:ext uri="{FF2B5EF4-FFF2-40B4-BE49-F238E27FC236}">
                <a16:creationId xmlns:a16="http://schemas.microsoft.com/office/drawing/2014/main" id="{5BBDCF1A-B752-4B39-AFC4-1ACB14EEA93A}"/>
              </a:ext>
            </a:extLst>
          </p:cNvPr>
          <p:cNvSpPr txBox="1"/>
          <p:nvPr/>
        </p:nvSpPr>
        <p:spPr>
          <a:xfrm>
            <a:off x="5025358" y="1247998"/>
            <a:ext cx="1457277" cy="369332"/>
          </a:xfrm>
          <a:prstGeom prst="rect">
            <a:avLst/>
          </a:prstGeom>
          <a:noFill/>
        </p:spPr>
        <p:txBody>
          <a:bodyPr wrap="square" rtlCol="0">
            <a:spAutoFit/>
          </a:bodyPr>
          <a:lstStyle/>
          <a:p>
            <a:r>
              <a:rPr lang="en-US" dirty="0">
                <a:solidFill>
                  <a:sysClr val="windowText" lastClr="000000"/>
                </a:solidFill>
              </a:rPr>
              <a:t>101  111100</a:t>
            </a:r>
            <a:endParaRPr lang="en-IN" dirty="0">
              <a:solidFill>
                <a:sysClr val="windowText" lastClr="000000"/>
              </a:solidFill>
            </a:endParaRPr>
          </a:p>
        </p:txBody>
      </p:sp>
      <p:sp>
        <p:nvSpPr>
          <p:cNvPr id="53" name="TextBox 52">
            <a:extLst>
              <a:ext uri="{FF2B5EF4-FFF2-40B4-BE49-F238E27FC236}">
                <a16:creationId xmlns:a16="http://schemas.microsoft.com/office/drawing/2014/main" id="{4C901BFB-A1E7-45E8-B94F-5BDAD5CCAE5E}"/>
              </a:ext>
            </a:extLst>
          </p:cNvPr>
          <p:cNvSpPr txBox="1"/>
          <p:nvPr/>
        </p:nvSpPr>
        <p:spPr>
          <a:xfrm>
            <a:off x="5025357" y="1697095"/>
            <a:ext cx="1457277" cy="369332"/>
          </a:xfrm>
          <a:prstGeom prst="rect">
            <a:avLst/>
          </a:prstGeom>
          <a:noFill/>
        </p:spPr>
        <p:txBody>
          <a:bodyPr wrap="square" rtlCol="0">
            <a:spAutoFit/>
          </a:bodyPr>
          <a:lstStyle/>
          <a:p>
            <a:r>
              <a:rPr lang="en-US" dirty="0">
                <a:solidFill>
                  <a:srgbClr val="0070C0"/>
                </a:solidFill>
              </a:rPr>
              <a:t>111  000000</a:t>
            </a:r>
            <a:endParaRPr lang="en-IN" dirty="0">
              <a:solidFill>
                <a:srgbClr val="0070C0"/>
              </a:solidFill>
            </a:endParaRPr>
          </a:p>
        </p:txBody>
      </p:sp>
      <p:sp>
        <p:nvSpPr>
          <p:cNvPr id="54" name="TextBox 53">
            <a:extLst>
              <a:ext uri="{FF2B5EF4-FFF2-40B4-BE49-F238E27FC236}">
                <a16:creationId xmlns:a16="http://schemas.microsoft.com/office/drawing/2014/main" id="{CA47401D-E91D-469B-85FE-ACD174321B32}"/>
              </a:ext>
            </a:extLst>
          </p:cNvPr>
          <p:cNvSpPr txBox="1"/>
          <p:nvPr/>
        </p:nvSpPr>
        <p:spPr>
          <a:xfrm>
            <a:off x="5025357" y="2118786"/>
            <a:ext cx="1457277" cy="369332"/>
          </a:xfrm>
          <a:prstGeom prst="rect">
            <a:avLst/>
          </a:prstGeom>
          <a:noFill/>
        </p:spPr>
        <p:txBody>
          <a:bodyPr wrap="square" rtlCol="0">
            <a:spAutoFit/>
          </a:bodyPr>
          <a:lstStyle/>
          <a:p>
            <a:r>
              <a:rPr lang="en-US" dirty="0">
                <a:solidFill>
                  <a:srgbClr val="FF0000"/>
                </a:solidFill>
              </a:rPr>
              <a:t>100  111100</a:t>
            </a:r>
            <a:endParaRPr lang="en-IN" dirty="0">
              <a:solidFill>
                <a:srgbClr val="FF0000"/>
              </a:solidFill>
            </a:endParaRPr>
          </a:p>
        </p:txBody>
      </p:sp>
      <p:sp>
        <p:nvSpPr>
          <p:cNvPr id="55" name="TextBox 54">
            <a:extLst>
              <a:ext uri="{FF2B5EF4-FFF2-40B4-BE49-F238E27FC236}">
                <a16:creationId xmlns:a16="http://schemas.microsoft.com/office/drawing/2014/main" id="{C4FE8D1F-BFEC-40B7-A051-766270111DD5}"/>
              </a:ext>
            </a:extLst>
          </p:cNvPr>
          <p:cNvSpPr txBox="1"/>
          <p:nvPr/>
        </p:nvSpPr>
        <p:spPr>
          <a:xfrm>
            <a:off x="5025357" y="2538459"/>
            <a:ext cx="1457277" cy="369332"/>
          </a:xfrm>
          <a:prstGeom prst="rect">
            <a:avLst/>
          </a:prstGeom>
          <a:noFill/>
        </p:spPr>
        <p:txBody>
          <a:bodyPr wrap="square" rtlCol="0">
            <a:spAutoFit/>
          </a:bodyPr>
          <a:lstStyle/>
          <a:p>
            <a:r>
              <a:rPr lang="en-US" dirty="0">
                <a:solidFill>
                  <a:srgbClr val="00B050"/>
                </a:solidFill>
              </a:rPr>
              <a:t>101  000001</a:t>
            </a:r>
            <a:endParaRPr lang="en-IN" dirty="0">
              <a:solidFill>
                <a:srgbClr val="00B050"/>
              </a:solidFill>
            </a:endParaRPr>
          </a:p>
        </p:txBody>
      </p:sp>
      <p:sp>
        <p:nvSpPr>
          <p:cNvPr id="56" name="TextBox 55">
            <a:extLst>
              <a:ext uri="{FF2B5EF4-FFF2-40B4-BE49-F238E27FC236}">
                <a16:creationId xmlns:a16="http://schemas.microsoft.com/office/drawing/2014/main" id="{EA8B62C7-6613-471B-AD35-F97B39ED69E0}"/>
              </a:ext>
            </a:extLst>
          </p:cNvPr>
          <p:cNvSpPr txBox="1"/>
          <p:nvPr/>
        </p:nvSpPr>
        <p:spPr>
          <a:xfrm>
            <a:off x="4718207" y="1247998"/>
            <a:ext cx="307150" cy="369332"/>
          </a:xfrm>
          <a:prstGeom prst="rect">
            <a:avLst/>
          </a:prstGeom>
          <a:noFill/>
        </p:spPr>
        <p:txBody>
          <a:bodyPr wrap="square" rtlCol="0">
            <a:spAutoFit/>
          </a:bodyPr>
          <a:lstStyle/>
          <a:p>
            <a:r>
              <a:rPr lang="en-US" i="1" dirty="0"/>
              <a:t>A</a:t>
            </a:r>
            <a:endParaRPr lang="en-IN" i="1" dirty="0"/>
          </a:p>
        </p:txBody>
      </p:sp>
      <p:sp>
        <p:nvSpPr>
          <p:cNvPr id="57" name="TextBox 56">
            <a:extLst>
              <a:ext uri="{FF2B5EF4-FFF2-40B4-BE49-F238E27FC236}">
                <a16:creationId xmlns:a16="http://schemas.microsoft.com/office/drawing/2014/main" id="{A535D4DE-05A8-4881-B12C-9F0941812303}"/>
              </a:ext>
            </a:extLst>
          </p:cNvPr>
          <p:cNvSpPr txBox="1"/>
          <p:nvPr/>
        </p:nvSpPr>
        <p:spPr>
          <a:xfrm>
            <a:off x="4718207" y="1697095"/>
            <a:ext cx="307150" cy="369332"/>
          </a:xfrm>
          <a:prstGeom prst="rect">
            <a:avLst/>
          </a:prstGeom>
          <a:noFill/>
        </p:spPr>
        <p:txBody>
          <a:bodyPr wrap="square" rtlCol="0">
            <a:spAutoFit/>
          </a:bodyPr>
          <a:lstStyle/>
          <a:p>
            <a:r>
              <a:rPr lang="en-US" i="1" dirty="0"/>
              <a:t>K</a:t>
            </a:r>
            <a:endParaRPr lang="en-IN" i="1" dirty="0"/>
          </a:p>
        </p:txBody>
      </p:sp>
      <p:sp>
        <p:nvSpPr>
          <p:cNvPr id="58" name="TextBox 57">
            <a:extLst>
              <a:ext uri="{FF2B5EF4-FFF2-40B4-BE49-F238E27FC236}">
                <a16:creationId xmlns:a16="http://schemas.microsoft.com/office/drawing/2014/main" id="{348FC070-BA6C-4B28-BC68-99545F258224}"/>
              </a:ext>
            </a:extLst>
          </p:cNvPr>
          <p:cNvSpPr txBox="1"/>
          <p:nvPr/>
        </p:nvSpPr>
        <p:spPr>
          <a:xfrm>
            <a:off x="4599714" y="2126013"/>
            <a:ext cx="544136" cy="401321"/>
          </a:xfrm>
          <a:prstGeom prst="rect">
            <a:avLst/>
          </a:prstGeom>
          <a:noFill/>
        </p:spPr>
        <p:txBody>
          <a:bodyPr wrap="square" rtlCol="0">
            <a:spAutoFit/>
          </a:bodyPr>
          <a:lstStyle/>
          <a:p>
            <a:r>
              <a:rPr lang="en-US" dirty="0"/>
              <a:t>W1</a:t>
            </a:r>
            <a:endParaRPr lang="en-IN" dirty="0"/>
          </a:p>
        </p:txBody>
      </p:sp>
      <p:sp>
        <p:nvSpPr>
          <p:cNvPr id="59" name="TextBox 58">
            <a:extLst>
              <a:ext uri="{FF2B5EF4-FFF2-40B4-BE49-F238E27FC236}">
                <a16:creationId xmlns:a16="http://schemas.microsoft.com/office/drawing/2014/main" id="{AA64BF8C-5666-4436-B011-F65576184B04}"/>
              </a:ext>
            </a:extLst>
          </p:cNvPr>
          <p:cNvSpPr txBox="1"/>
          <p:nvPr/>
        </p:nvSpPr>
        <p:spPr>
          <a:xfrm>
            <a:off x="4599714" y="2538459"/>
            <a:ext cx="544136" cy="369332"/>
          </a:xfrm>
          <a:prstGeom prst="rect">
            <a:avLst/>
          </a:prstGeom>
          <a:noFill/>
        </p:spPr>
        <p:txBody>
          <a:bodyPr wrap="square" rtlCol="0">
            <a:spAutoFit/>
          </a:bodyPr>
          <a:lstStyle/>
          <a:p>
            <a:r>
              <a:rPr lang="en-US" dirty="0"/>
              <a:t>W2</a:t>
            </a:r>
            <a:endParaRPr lang="en-IN" dirty="0"/>
          </a:p>
        </p:txBody>
      </p:sp>
      <p:sp>
        <p:nvSpPr>
          <p:cNvPr id="60" name="TextBox 59">
            <a:extLst>
              <a:ext uri="{FF2B5EF4-FFF2-40B4-BE49-F238E27FC236}">
                <a16:creationId xmlns:a16="http://schemas.microsoft.com/office/drawing/2014/main" id="{93DA6BB9-385F-4FD5-8486-CB1A066E6669}"/>
              </a:ext>
            </a:extLst>
          </p:cNvPr>
          <p:cNvSpPr txBox="1"/>
          <p:nvPr/>
        </p:nvSpPr>
        <p:spPr>
          <a:xfrm>
            <a:off x="6384516" y="2121655"/>
            <a:ext cx="1191191" cy="391582"/>
          </a:xfrm>
          <a:prstGeom prst="rect">
            <a:avLst/>
          </a:prstGeom>
          <a:noFill/>
        </p:spPr>
        <p:txBody>
          <a:bodyPr wrap="square" rtlCol="0">
            <a:spAutoFit/>
          </a:bodyPr>
          <a:lstStyle/>
          <a:p>
            <a:r>
              <a:rPr lang="en-US" dirty="0"/>
              <a:t>No match</a:t>
            </a:r>
            <a:endParaRPr lang="en-IN" dirty="0"/>
          </a:p>
        </p:txBody>
      </p:sp>
      <p:sp>
        <p:nvSpPr>
          <p:cNvPr id="61" name="TextBox 60">
            <a:extLst>
              <a:ext uri="{FF2B5EF4-FFF2-40B4-BE49-F238E27FC236}">
                <a16:creationId xmlns:a16="http://schemas.microsoft.com/office/drawing/2014/main" id="{E27E4CD9-C99E-4DE0-8C7B-B3B536F9F9E4}"/>
              </a:ext>
            </a:extLst>
          </p:cNvPr>
          <p:cNvSpPr txBox="1"/>
          <p:nvPr/>
        </p:nvSpPr>
        <p:spPr>
          <a:xfrm>
            <a:off x="6375434" y="2527334"/>
            <a:ext cx="1191191" cy="369332"/>
          </a:xfrm>
          <a:prstGeom prst="rect">
            <a:avLst/>
          </a:prstGeom>
          <a:noFill/>
        </p:spPr>
        <p:txBody>
          <a:bodyPr wrap="square" rtlCol="0">
            <a:spAutoFit/>
          </a:bodyPr>
          <a:lstStyle/>
          <a:p>
            <a:r>
              <a:rPr lang="en-US" dirty="0"/>
              <a:t>Match</a:t>
            </a:r>
            <a:endParaRPr lang="en-IN" dirty="0"/>
          </a:p>
        </p:txBody>
      </p:sp>
      <p:sp>
        <p:nvSpPr>
          <p:cNvPr id="62" name="TextBox 61">
            <a:extLst>
              <a:ext uri="{FF2B5EF4-FFF2-40B4-BE49-F238E27FC236}">
                <a16:creationId xmlns:a16="http://schemas.microsoft.com/office/drawing/2014/main" id="{20953745-1C02-44AC-B7D0-55796E2EE8B1}"/>
              </a:ext>
            </a:extLst>
          </p:cNvPr>
          <p:cNvSpPr txBox="1"/>
          <p:nvPr/>
        </p:nvSpPr>
        <p:spPr>
          <a:xfrm>
            <a:off x="5025356" y="2116739"/>
            <a:ext cx="1457277" cy="369332"/>
          </a:xfrm>
          <a:prstGeom prst="rect">
            <a:avLst/>
          </a:prstGeom>
          <a:noFill/>
        </p:spPr>
        <p:txBody>
          <a:bodyPr wrap="square" rtlCol="0">
            <a:spAutoFit/>
          </a:bodyPr>
          <a:lstStyle/>
          <a:p>
            <a:r>
              <a:rPr lang="en-US" dirty="0"/>
              <a:t>100  111100</a:t>
            </a:r>
            <a:endParaRPr lang="en-IN" dirty="0"/>
          </a:p>
        </p:txBody>
      </p:sp>
      <p:sp>
        <p:nvSpPr>
          <p:cNvPr id="63" name="TextBox 62">
            <a:extLst>
              <a:ext uri="{FF2B5EF4-FFF2-40B4-BE49-F238E27FC236}">
                <a16:creationId xmlns:a16="http://schemas.microsoft.com/office/drawing/2014/main" id="{023E98DA-BB97-495D-A467-0F8AE598C955}"/>
              </a:ext>
            </a:extLst>
          </p:cNvPr>
          <p:cNvSpPr txBox="1"/>
          <p:nvPr/>
        </p:nvSpPr>
        <p:spPr>
          <a:xfrm>
            <a:off x="5025355" y="2544233"/>
            <a:ext cx="1457277" cy="369332"/>
          </a:xfrm>
          <a:prstGeom prst="rect">
            <a:avLst/>
          </a:prstGeom>
          <a:noFill/>
        </p:spPr>
        <p:txBody>
          <a:bodyPr wrap="square" rtlCol="0">
            <a:spAutoFit/>
          </a:bodyPr>
          <a:lstStyle/>
          <a:p>
            <a:r>
              <a:rPr lang="en-US" dirty="0"/>
              <a:t>101  000001</a:t>
            </a:r>
            <a:endParaRPr lang="en-IN" dirty="0"/>
          </a:p>
        </p:txBody>
      </p:sp>
    </p:spTree>
    <p:extLst>
      <p:ext uri="{BB962C8B-B14F-4D97-AF65-F5344CB8AC3E}">
        <p14:creationId xmlns:p14="http://schemas.microsoft.com/office/powerpoint/2010/main" val="239579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fade">
                                      <p:cBhvr>
                                        <p:cTn id="22" dur="500"/>
                                        <p:tgtEl>
                                          <p:spTgt spid="5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2"/>
                                        </p:tgtEl>
                                        <p:attrNameLst>
                                          <p:attrName>style.visibility</p:attrName>
                                        </p:attrNameLst>
                                      </p:cBhvr>
                                      <p:to>
                                        <p:strVal val="visible"/>
                                      </p:to>
                                    </p:set>
                                    <p:animEffect transition="in" filter="fade">
                                      <p:cBhvr>
                                        <p:cTn id="25" dur="500"/>
                                        <p:tgtEl>
                                          <p:spTgt spid="5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fade">
                                      <p:cBhvr>
                                        <p:cTn id="30" dur="500"/>
                                        <p:tgtEl>
                                          <p:spTgt spid="5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fade">
                                      <p:cBhvr>
                                        <p:cTn id="33" dur="500"/>
                                        <p:tgtEl>
                                          <p:spTgt spid="5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2"/>
                                        </p:tgtEl>
                                        <p:attrNameLst>
                                          <p:attrName>style.visibility</p:attrName>
                                        </p:attrNameLst>
                                      </p:cBhvr>
                                      <p:to>
                                        <p:strVal val="visible"/>
                                      </p:to>
                                    </p:set>
                                    <p:animEffect transition="in" filter="fade">
                                      <p:cBhvr>
                                        <p:cTn id="38" dur="500"/>
                                        <p:tgtEl>
                                          <p:spTgt spid="6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8"/>
                                        </p:tgtEl>
                                        <p:attrNameLst>
                                          <p:attrName>style.visibility</p:attrName>
                                        </p:attrNameLst>
                                      </p:cBhvr>
                                      <p:to>
                                        <p:strVal val="visible"/>
                                      </p:to>
                                    </p:set>
                                    <p:animEffect transition="in" filter="fade">
                                      <p:cBhvr>
                                        <p:cTn id="41" dur="500"/>
                                        <p:tgtEl>
                                          <p:spTgt spid="5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59"/>
                                        </p:tgtEl>
                                        <p:attrNameLst>
                                          <p:attrName>style.visibility</p:attrName>
                                        </p:attrNameLst>
                                      </p:cBhvr>
                                      <p:to>
                                        <p:strVal val="visible"/>
                                      </p:to>
                                    </p:set>
                                    <p:animEffect transition="in" filter="fade">
                                      <p:cBhvr>
                                        <p:cTn id="46" dur="500"/>
                                        <p:tgtEl>
                                          <p:spTgt spid="5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fade">
                                      <p:cBhvr>
                                        <p:cTn id="49" dur="500"/>
                                        <p:tgtEl>
                                          <p:spTgt spid="63"/>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54"/>
                                        </p:tgtEl>
                                        <p:attrNameLst>
                                          <p:attrName>style.visibility</p:attrName>
                                        </p:attrNameLst>
                                      </p:cBhvr>
                                      <p:to>
                                        <p:strVal val="visible"/>
                                      </p:to>
                                    </p:set>
                                    <p:animEffect transition="in" filter="fade">
                                      <p:cBhvr>
                                        <p:cTn id="54" dur="500"/>
                                        <p:tgtEl>
                                          <p:spTgt spid="5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0"/>
                                        </p:tgtEl>
                                        <p:attrNameLst>
                                          <p:attrName>style.visibility</p:attrName>
                                        </p:attrNameLst>
                                      </p:cBhvr>
                                      <p:to>
                                        <p:strVal val="visible"/>
                                      </p:to>
                                    </p:set>
                                    <p:animEffect transition="in" filter="fade">
                                      <p:cBhvr>
                                        <p:cTn id="57" dur="500"/>
                                        <p:tgtEl>
                                          <p:spTgt spid="60"/>
                                        </p:tgtEl>
                                      </p:cBhvr>
                                    </p:animEffect>
                                  </p:childTnLst>
                                </p:cTn>
                              </p:par>
                              <p:par>
                                <p:cTn id="58" presetID="1" presetClass="exit" presetSubtype="0" fill="hold" grpId="1" nodeType="withEffect">
                                  <p:stCondLst>
                                    <p:cond delay="0"/>
                                  </p:stCondLst>
                                  <p:childTnLst>
                                    <p:set>
                                      <p:cBhvr>
                                        <p:cTn id="59" dur="1" fill="hold">
                                          <p:stCondLst>
                                            <p:cond delay="0"/>
                                          </p:stCondLst>
                                        </p:cTn>
                                        <p:tgtEl>
                                          <p:spTgt spid="62"/>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55"/>
                                        </p:tgtEl>
                                        <p:attrNameLst>
                                          <p:attrName>style.visibility</p:attrName>
                                        </p:attrNameLst>
                                      </p:cBhvr>
                                      <p:to>
                                        <p:strVal val="visible"/>
                                      </p:to>
                                    </p:set>
                                    <p:animEffect transition="in" filter="fade">
                                      <p:cBhvr>
                                        <p:cTn id="64" dur="500"/>
                                        <p:tgtEl>
                                          <p:spTgt spid="5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1"/>
                                        </p:tgtEl>
                                        <p:attrNameLst>
                                          <p:attrName>style.visibility</p:attrName>
                                        </p:attrNameLst>
                                      </p:cBhvr>
                                      <p:to>
                                        <p:strVal val="visible"/>
                                      </p:to>
                                    </p:set>
                                    <p:animEffect transition="in" filter="fade">
                                      <p:cBhvr>
                                        <p:cTn id="67" dur="500"/>
                                        <p:tgtEl>
                                          <p:spTgt spid="61"/>
                                        </p:tgtEl>
                                      </p:cBhvr>
                                    </p:animEffect>
                                  </p:childTnLst>
                                </p:cTn>
                              </p:par>
                              <p:par>
                                <p:cTn id="68" presetID="1" presetClass="exit" presetSubtype="0" fill="hold" grpId="1" nodeType="withEffect">
                                  <p:stCondLst>
                                    <p:cond delay="0"/>
                                  </p:stCondLst>
                                  <p:childTnLst>
                                    <p:set>
                                      <p:cBhvr>
                                        <p:cTn id="69" dur="1" fill="hold">
                                          <p:stCondLst>
                                            <p:cond delay="0"/>
                                          </p:stCondLst>
                                        </p:cTn>
                                        <p:tgtEl>
                                          <p:spTgt spid="6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52" grpId="0"/>
      <p:bldP spid="53" grpId="0"/>
      <p:bldP spid="54" grpId="0"/>
      <p:bldP spid="55" grpId="0"/>
      <p:bldP spid="56" grpId="0"/>
      <p:bldP spid="57" grpId="0"/>
      <p:bldP spid="58" grpId="0"/>
      <p:bldP spid="59" grpId="0"/>
      <p:bldP spid="60" grpId="0"/>
      <p:bldP spid="61" grpId="0"/>
      <p:bldP spid="62" grpId="0"/>
      <p:bldP spid="62" grpId="1"/>
      <p:bldP spid="63" grpId="0"/>
      <p:bldP spid="63"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D960C-94A1-4AF6-B16A-59AC7C7DD9A9}"/>
              </a:ext>
            </a:extLst>
          </p:cNvPr>
          <p:cNvSpPr>
            <a:spLocks noGrp="1"/>
          </p:cNvSpPr>
          <p:nvPr>
            <p:ph type="title"/>
          </p:nvPr>
        </p:nvSpPr>
        <p:spPr/>
        <p:txBody>
          <a:bodyPr/>
          <a:lstStyle/>
          <a:p>
            <a:r>
              <a:rPr lang="en-US" dirty="0"/>
              <a:t>Associative Memory</a:t>
            </a:r>
            <a:endParaRPr lang="en-IN" dirty="0"/>
          </a:p>
        </p:txBody>
      </p:sp>
      <p:sp>
        <p:nvSpPr>
          <p:cNvPr id="4" name="Rectangle 3">
            <a:extLst>
              <a:ext uri="{FF2B5EF4-FFF2-40B4-BE49-F238E27FC236}">
                <a16:creationId xmlns:a16="http://schemas.microsoft.com/office/drawing/2014/main" id="{E669F314-0073-412C-89E7-4E510ECCDDC6}"/>
              </a:ext>
            </a:extLst>
          </p:cNvPr>
          <p:cNvSpPr/>
          <p:nvPr/>
        </p:nvSpPr>
        <p:spPr>
          <a:xfrm>
            <a:off x="2700670" y="889156"/>
            <a:ext cx="60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t>A</a:t>
            </a:r>
            <a:r>
              <a:rPr lang="en-US" i="1" baseline="-25000" dirty="0"/>
              <a:t>1</a:t>
            </a:r>
            <a:endParaRPr lang="en-IN" i="1" dirty="0"/>
          </a:p>
        </p:txBody>
      </p:sp>
      <p:sp>
        <p:nvSpPr>
          <p:cNvPr id="5" name="Rectangle 4">
            <a:extLst>
              <a:ext uri="{FF2B5EF4-FFF2-40B4-BE49-F238E27FC236}">
                <a16:creationId xmlns:a16="http://schemas.microsoft.com/office/drawing/2014/main" id="{8291C491-2096-49E5-85C0-0D7E5253D22E}"/>
              </a:ext>
            </a:extLst>
          </p:cNvPr>
          <p:cNvSpPr/>
          <p:nvPr/>
        </p:nvSpPr>
        <p:spPr>
          <a:xfrm>
            <a:off x="5443870" y="889156"/>
            <a:ext cx="60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err="1"/>
              <a:t>A</a:t>
            </a:r>
            <a:r>
              <a:rPr lang="en-US" i="1" baseline="-25000" dirty="0" err="1"/>
              <a:t>j</a:t>
            </a:r>
            <a:endParaRPr lang="en-IN" i="1" dirty="0"/>
          </a:p>
        </p:txBody>
      </p:sp>
      <p:sp>
        <p:nvSpPr>
          <p:cNvPr id="6" name="Rectangle 5">
            <a:extLst>
              <a:ext uri="{FF2B5EF4-FFF2-40B4-BE49-F238E27FC236}">
                <a16:creationId xmlns:a16="http://schemas.microsoft.com/office/drawing/2014/main" id="{4067C46C-4AC9-4DF5-851C-98807213A889}"/>
              </a:ext>
            </a:extLst>
          </p:cNvPr>
          <p:cNvSpPr/>
          <p:nvPr/>
        </p:nvSpPr>
        <p:spPr>
          <a:xfrm>
            <a:off x="8187070" y="889156"/>
            <a:ext cx="60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t>A</a:t>
            </a:r>
            <a:r>
              <a:rPr lang="en-US" i="1" baseline="-25000" dirty="0"/>
              <a:t>n</a:t>
            </a:r>
            <a:endParaRPr lang="en-IN" i="1" dirty="0"/>
          </a:p>
        </p:txBody>
      </p:sp>
      <p:sp>
        <p:nvSpPr>
          <p:cNvPr id="7" name="Rectangle 6">
            <a:extLst>
              <a:ext uri="{FF2B5EF4-FFF2-40B4-BE49-F238E27FC236}">
                <a16:creationId xmlns:a16="http://schemas.microsoft.com/office/drawing/2014/main" id="{936C02B4-70C6-4B7F-8BEA-4C2BCEEB1025}"/>
              </a:ext>
            </a:extLst>
          </p:cNvPr>
          <p:cNvSpPr/>
          <p:nvPr/>
        </p:nvSpPr>
        <p:spPr>
          <a:xfrm>
            <a:off x="2700670" y="1955956"/>
            <a:ext cx="60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t>K</a:t>
            </a:r>
            <a:r>
              <a:rPr lang="en-US" i="1" baseline="-25000" dirty="0"/>
              <a:t>1</a:t>
            </a:r>
            <a:endParaRPr lang="en-IN" i="1" dirty="0"/>
          </a:p>
        </p:txBody>
      </p:sp>
      <p:sp>
        <p:nvSpPr>
          <p:cNvPr id="8" name="Rectangle 7">
            <a:extLst>
              <a:ext uri="{FF2B5EF4-FFF2-40B4-BE49-F238E27FC236}">
                <a16:creationId xmlns:a16="http://schemas.microsoft.com/office/drawing/2014/main" id="{EE80FCAD-6DD8-4131-9E73-F002FEB2D9C0}"/>
              </a:ext>
            </a:extLst>
          </p:cNvPr>
          <p:cNvSpPr/>
          <p:nvPr/>
        </p:nvSpPr>
        <p:spPr>
          <a:xfrm>
            <a:off x="5443870" y="1955956"/>
            <a:ext cx="60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err="1"/>
              <a:t>K</a:t>
            </a:r>
            <a:r>
              <a:rPr lang="en-US" i="1" baseline="-25000" dirty="0" err="1"/>
              <a:t>j</a:t>
            </a:r>
            <a:endParaRPr lang="en-IN" i="1" dirty="0"/>
          </a:p>
        </p:txBody>
      </p:sp>
      <p:sp>
        <p:nvSpPr>
          <p:cNvPr id="9" name="Rectangle 8">
            <a:extLst>
              <a:ext uri="{FF2B5EF4-FFF2-40B4-BE49-F238E27FC236}">
                <a16:creationId xmlns:a16="http://schemas.microsoft.com/office/drawing/2014/main" id="{1F41E624-9838-4B93-A8FF-06BF45B267ED}"/>
              </a:ext>
            </a:extLst>
          </p:cNvPr>
          <p:cNvSpPr/>
          <p:nvPr/>
        </p:nvSpPr>
        <p:spPr>
          <a:xfrm>
            <a:off x="8187070" y="1955956"/>
            <a:ext cx="60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err="1"/>
              <a:t>K</a:t>
            </a:r>
            <a:r>
              <a:rPr lang="en-US" i="1" baseline="-25000" dirty="0" err="1"/>
              <a:t>n</a:t>
            </a:r>
            <a:endParaRPr lang="en-IN" i="1" dirty="0"/>
          </a:p>
        </p:txBody>
      </p:sp>
      <p:sp>
        <p:nvSpPr>
          <p:cNvPr id="10" name="Rectangle 9">
            <a:extLst>
              <a:ext uri="{FF2B5EF4-FFF2-40B4-BE49-F238E27FC236}">
                <a16:creationId xmlns:a16="http://schemas.microsoft.com/office/drawing/2014/main" id="{E358F317-9DFC-4EFE-AB45-A81FB73CABE8}"/>
              </a:ext>
            </a:extLst>
          </p:cNvPr>
          <p:cNvSpPr/>
          <p:nvPr/>
        </p:nvSpPr>
        <p:spPr>
          <a:xfrm>
            <a:off x="2700670" y="3098956"/>
            <a:ext cx="60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t>C</a:t>
            </a:r>
            <a:r>
              <a:rPr lang="en-US" i="1" baseline="-25000" dirty="0"/>
              <a:t>11</a:t>
            </a:r>
            <a:endParaRPr lang="en-IN" i="1" dirty="0"/>
          </a:p>
        </p:txBody>
      </p:sp>
      <p:sp>
        <p:nvSpPr>
          <p:cNvPr id="11" name="Rectangle 10">
            <a:extLst>
              <a:ext uri="{FF2B5EF4-FFF2-40B4-BE49-F238E27FC236}">
                <a16:creationId xmlns:a16="http://schemas.microsoft.com/office/drawing/2014/main" id="{2F40BE20-5DF3-46AA-805D-8D4402AC3928}"/>
              </a:ext>
            </a:extLst>
          </p:cNvPr>
          <p:cNvSpPr/>
          <p:nvPr/>
        </p:nvSpPr>
        <p:spPr>
          <a:xfrm>
            <a:off x="5443870" y="3098956"/>
            <a:ext cx="60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t>C</a:t>
            </a:r>
            <a:r>
              <a:rPr lang="en-US" i="1" baseline="-25000" dirty="0"/>
              <a:t>1j</a:t>
            </a:r>
            <a:endParaRPr lang="en-IN" i="1" dirty="0"/>
          </a:p>
        </p:txBody>
      </p:sp>
      <p:sp>
        <p:nvSpPr>
          <p:cNvPr id="12" name="Rectangle 11">
            <a:extLst>
              <a:ext uri="{FF2B5EF4-FFF2-40B4-BE49-F238E27FC236}">
                <a16:creationId xmlns:a16="http://schemas.microsoft.com/office/drawing/2014/main" id="{716B41E0-C274-4F4D-8124-C5290D44DC9A}"/>
              </a:ext>
            </a:extLst>
          </p:cNvPr>
          <p:cNvSpPr/>
          <p:nvPr/>
        </p:nvSpPr>
        <p:spPr>
          <a:xfrm>
            <a:off x="8187070" y="3098956"/>
            <a:ext cx="60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t>C</a:t>
            </a:r>
            <a:r>
              <a:rPr lang="en-US" i="1" baseline="-25000" dirty="0"/>
              <a:t>1n</a:t>
            </a:r>
            <a:endParaRPr lang="en-IN" i="1" dirty="0"/>
          </a:p>
        </p:txBody>
      </p:sp>
      <p:sp>
        <p:nvSpPr>
          <p:cNvPr id="13" name="Rectangle 12">
            <a:extLst>
              <a:ext uri="{FF2B5EF4-FFF2-40B4-BE49-F238E27FC236}">
                <a16:creationId xmlns:a16="http://schemas.microsoft.com/office/drawing/2014/main" id="{9DA99AB1-E99A-4FF6-8BA7-B8B5136ECA43}"/>
              </a:ext>
            </a:extLst>
          </p:cNvPr>
          <p:cNvSpPr/>
          <p:nvPr/>
        </p:nvSpPr>
        <p:spPr>
          <a:xfrm>
            <a:off x="2700670" y="4241956"/>
            <a:ext cx="60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t>C</a:t>
            </a:r>
            <a:r>
              <a:rPr lang="en-US" i="1" baseline="-25000" dirty="0"/>
              <a:t>i1</a:t>
            </a:r>
            <a:endParaRPr lang="en-IN" i="1" dirty="0"/>
          </a:p>
        </p:txBody>
      </p:sp>
      <p:sp>
        <p:nvSpPr>
          <p:cNvPr id="14" name="Rectangle 13">
            <a:extLst>
              <a:ext uri="{FF2B5EF4-FFF2-40B4-BE49-F238E27FC236}">
                <a16:creationId xmlns:a16="http://schemas.microsoft.com/office/drawing/2014/main" id="{DF67B49F-7894-4657-B431-80FAAC78912C}"/>
              </a:ext>
            </a:extLst>
          </p:cNvPr>
          <p:cNvSpPr/>
          <p:nvPr/>
        </p:nvSpPr>
        <p:spPr>
          <a:xfrm>
            <a:off x="5443870" y="4241956"/>
            <a:ext cx="60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err="1"/>
              <a:t>C</a:t>
            </a:r>
            <a:r>
              <a:rPr lang="en-US" i="1" baseline="-25000" dirty="0" err="1"/>
              <a:t>ij</a:t>
            </a:r>
            <a:endParaRPr lang="en-IN" i="1" dirty="0"/>
          </a:p>
        </p:txBody>
      </p:sp>
      <p:sp>
        <p:nvSpPr>
          <p:cNvPr id="15" name="Rectangle 14">
            <a:extLst>
              <a:ext uri="{FF2B5EF4-FFF2-40B4-BE49-F238E27FC236}">
                <a16:creationId xmlns:a16="http://schemas.microsoft.com/office/drawing/2014/main" id="{CA301AE6-35B0-4D57-A385-A9874B6761B3}"/>
              </a:ext>
            </a:extLst>
          </p:cNvPr>
          <p:cNvSpPr/>
          <p:nvPr/>
        </p:nvSpPr>
        <p:spPr>
          <a:xfrm>
            <a:off x="8187070" y="4241956"/>
            <a:ext cx="60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err="1"/>
              <a:t>C</a:t>
            </a:r>
            <a:r>
              <a:rPr lang="en-US" i="1" baseline="-25000" dirty="0" err="1"/>
              <a:t>in</a:t>
            </a:r>
            <a:endParaRPr lang="en-IN" i="1" dirty="0"/>
          </a:p>
        </p:txBody>
      </p:sp>
      <p:sp>
        <p:nvSpPr>
          <p:cNvPr id="16" name="Rectangle 15">
            <a:extLst>
              <a:ext uri="{FF2B5EF4-FFF2-40B4-BE49-F238E27FC236}">
                <a16:creationId xmlns:a16="http://schemas.microsoft.com/office/drawing/2014/main" id="{5231383E-3A85-49BD-B16B-BE325E88DB5C}"/>
              </a:ext>
            </a:extLst>
          </p:cNvPr>
          <p:cNvSpPr/>
          <p:nvPr/>
        </p:nvSpPr>
        <p:spPr>
          <a:xfrm>
            <a:off x="2700670" y="5384956"/>
            <a:ext cx="60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t>C</a:t>
            </a:r>
            <a:r>
              <a:rPr lang="en-US" i="1" baseline="-25000" dirty="0"/>
              <a:t>m1</a:t>
            </a:r>
            <a:endParaRPr lang="en-IN" i="1" dirty="0"/>
          </a:p>
        </p:txBody>
      </p:sp>
      <p:sp>
        <p:nvSpPr>
          <p:cNvPr id="17" name="Rectangle 16">
            <a:extLst>
              <a:ext uri="{FF2B5EF4-FFF2-40B4-BE49-F238E27FC236}">
                <a16:creationId xmlns:a16="http://schemas.microsoft.com/office/drawing/2014/main" id="{873CCA4E-4786-4E1B-AFAB-D599696B464D}"/>
              </a:ext>
            </a:extLst>
          </p:cNvPr>
          <p:cNvSpPr/>
          <p:nvPr/>
        </p:nvSpPr>
        <p:spPr>
          <a:xfrm>
            <a:off x="5443870" y="5384956"/>
            <a:ext cx="60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err="1"/>
              <a:t>C</a:t>
            </a:r>
            <a:r>
              <a:rPr lang="en-US" i="1" baseline="-25000" dirty="0" err="1"/>
              <a:t>mj</a:t>
            </a:r>
            <a:endParaRPr lang="en-IN" i="1" dirty="0"/>
          </a:p>
        </p:txBody>
      </p:sp>
      <p:sp>
        <p:nvSpPr>
          <p:cNvPr id="18" name="Rectangle 17">
            <a:extLst>
              <a:ext uri="{FF2B5EF4-FFF2-40B4-BE49-F238E27FC236}">
                <a16:creationId xmlns:a16="http://schemas.microsoft.com/office/drawing/2014/main" id="{6ED3C9FD-1738-44CD-A0CF-434745385665}"/>
              </a:ext>
            </a:extLst>
          </p:cNvPr>
          <p:cNvSpPr/>
          <p:nvPr/>
        </p:nvSpPr>
        <p:spPr>
          <a:xfrm>
            <a:off x="8187070" y="5384956"/>
            <a:ext cx="60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err="1"/>
              <a:t>C</a:t>
            </a:r>
            <a:r>
              <a:rPr lang="en-US" i="1" baseline="-25000" dirty="0" err="1"/>
              <a:t>mn</a:t>
            </a:r>
            <a:endParaRPr lang="en-IN" i="1" dirty="0"/>
          </a:p>
        </p:txBody>
      </p:sp>
      <p:sp>
        <p:nvSpPr>
          <p:cNvPr id="19" name="Rectangle 18">
            <a:extLst>
              <a:ext uri="{FF2B5EF4-FFF2-40B4-BE49-F238E27FC236}">
                <a16:creationId xmlns:a16="http://schemas.microsoft.com/office/drawing/2014/main" id="{0374F917-36AE-4E32-9C9F-8D2FEF030036}"/>
              </a:ext>
            </a:extLst>
          </p:cNvPr>
          <p:cNvSpPr/>
          <p:nvPr/>
        </p:nvSpPr>
        <p:spPr>
          <a:xfrm>
            <a:off x="9558670" y="3098956"/>
            <a:ext cx="60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t>M</a:t>
            </a:r>
            <a:r>
              <a:rPr lang="en-US" i="1" baseline="-25000" dirty="0"/>
              <a:t>1</a:t>
            </a:r>
            <a:endParaRPr lang="en-IN" i="1" dirty="0"/>
          </a:p>
        </p:txBody>
      </p:sp>
      <p:sp>
        <p:nvSpPr>
          <p:cNvPr id="20" name="Rectangle 19">
            <a:extLst>
              <a:ext uri="{FF2B5EF4-FFF2-40B4-BE49-F238E27FC236}">
                <a16:creationId xmlns:a16="http://schemas.microsoft.com/office/drawing/2014/main" id="{8334B165-63FC-41E6-92C0-D8F981539809}"/>
              </a:ext>
            </a:extLst>
          </p:cNvPr>
          <p:cNvSpPr/>
          <p:nvPr/>
        </p:nvSpPr>
        <p:spPr>
          <a:xfrm>
            <a:off x="9558670" y="4241956"/>
            <a:ext cx="60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t>M</a:t>
            </a:r>
            <a:r>
              <a:rPr lang="en-US" i="1" baseline="-25000" dirty="0"/>
              <a:t>i</a:t>
            </a:r>
            <a:endParaRPr lang="en-IN" i="1" dirty="0"/>
          </a:p>
        </p:txBody>
      </p:sp>
      <p:sp>
        <p:nvSpPr>
          <p:cNvPr id="21" name="Rectangle 20">
            <a:extLst>
              <a:ext uri="{FF2B5EF4-FFF2-40B4-BE49-F238E27FC236}">
                <a16:creationId xmlns:a16="http://schemas.microsoft.com/office/drawing/2014/main" id="{372200F6-EE19-4F24-84CB-8930E49459DF}"/>
              </a:ext>
            </a:extLst>
          </p:cNvPr>
          <p:cNvSpPr/>
          <p:nvPr/>
        </p:nvSpPr>
        <p:spPr>
          <a:xfrm>
            <a:off x="9558670" y="5384956"/>
            <a:ext cx="60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t>M</a:t>
            </a:r>
            <a:r>
              <a:rPr lang="en-US" i="1" baseline="-25000" dirty="0"/>
              <a:t>m</a:t>
            </a:r>
            <a:endParaRPr lang="en-IN" i="1" dirty="0"/>
          </a:p>
        </p:txBody>
      </p:sp>
      <p:sp>
        <p:nvSpPr>
          <p:cNvPr id="22" name="Rectangle 21">
            <a:extLst>
              <a:ext uri="{FF2B5EF4-FFF2-40B4-BE49-F238E27FC236}">
                <a16:creationId xmlns:a16="http://schemas.microsoft.com/office/drawing/2014/main" id="{1B0321A5-8690-4D90-9DE5-54A6D70C1372}"/>
              </a:ext>
            </a:extLst>
          </p:cNvPr>
          <p:cNvSpPr/>
          <p:nvPr/>
        </p:nvSpPr>
        <p:spPr>
          <a:xfrm>
            <a:off x="2472070" y="2946556"/>
            <a:ext cx="6477000" cy="304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E37090DC-CD3B-431F-9EEA-C851788AA94D}"/>
              </a:ext>
            </a:extLst>
          </p:cNvPr>
          <p:cNvSpPr txBox="1"/>
          <p:nvPr/>
        </p:nvSpPr>
        <p:spPr>
          <a:xfrm>
            <a:off x="1468787" y="3154835"/>
            <a:ext cx="880110" cy="401321"/>
          </a:xfrm>
          <a:prstGeom prst="rect">
            <a:avLst/>
          </a:prstGeom>
          <a:noFill/>
        </p:spPr>
        <p:txBody>
          <a:bodyPr wrap="square" rtlCol="0">
            <a:spAutoFit/>
          </a:bodyPr>
          <a:lstStyle/>
          <a:p>
            <a:r>
              <a:rPr lang="en-US" dirty="0"/>
              <a:t>Word 1</a:t>
            </a:r>
            <a:endParaRPr lang="en-IN" dirty="0"/>
          </a:p>
        </p:txBody>
      </p:sp>
      <p:sp>
        <p:nvSpPr>
          <p:cNvPr id="24" name="TextBox 23">
            <a:extLst>
              <a:ext uri="{FF2B5EF4-FFF2-40B4-BE49-F238E27FC236}">
                <a16:creationId xmlns:a16="http://schemas.microsoft.com/office/drawing/2014/main" id="{A0C706FF-7C1C-4A12-A21A-B99708FDF99A}"/>
              </a:ext>
            </a:extLst>
          </p:cNvPr>
          <p:cNvSpPr txBox="1"/>
          <p:nvPr/>
        </p:nvSpPr>
        <p:spPr>
          <a:xfrm>
            <a:off x="1477660" y="4283534"/>
            <a:ext cx="880110" cy="369332"/>
          </a:xfrm>
          <a:prstGeom prst="rect">
            <a:avLst/>
          </a:prstGeom>
          <a:noFill/>
        </p:spPr>
        <p:txBody>
          <a:bodyPr wrap="square" rtlCol="0">
            <a:spAutoFit/>
          </a:bodyPr>
          <a:lstStyle/>
          <a:p>
            <a:r>
              <a:rPr lang="en-US" dirty="0"/>
              <a:t>Word </a:t>
            </a:r>
            <a:r>
              <a:rPr lang="en-US" dirty="0" err="1"/>
              <a:t>i</a:t>
            </a:r>
            <a:endParaRPr lang="en-IN" dirty="0"/>
          </a:p>
        </p:txBody>
      </p:sp>
      <p:sp>
        <p:nvSpPr>
          <p:cNvPr id="25" name="TextBox 24">
            <a:extLst>
              <a:ext uri="{FF2B5EF4-FFF2-40B4-BE49-F238E27FC236}">
                <a16:creationId xmlns:a16="http://schemas.microsoft.com/office/drawing/2014/main" id="{005AA5BA-44F4-4F01-BE8E-E402D85049AC}"/>
              </a:ext>
            </a:extLst>
          </p:cNvPr>
          <p:cNvSpPr txBox="1"/>
          <p:nvPr/>
        </p:nvSpPr>
        <p:spPr>
          <a:xfrm>
            <a:off x="1424782" y="5412895"/>
            <a:ext cx="968121" cy="401321"/>
          </a:xfrm>
          <a:prstGeom prst="rect">
            <a:avLst/>
          </a:prstGeom>
          <a:noFill/>
        </p:spPr>
        <p:txBody>
          <a:bodyPr wrap="square" rtlCol="0">
            <a:spAutoFit/>
          </a:bodyPr>
          <a:lstStyle/>
          <a:p>
            <a:r>
              <a:rPr lang="en-US" dirty="0"/>
              <a:t>Word m</a:t>
            </a:r>
            <a:endParaRPr lang="en-IN" dirty="0"/>
          </a:p>
        </p:txBody>
      </p:sp>
      <p:sp>
        <p:nvSpPr>
          <p:cNvPr id="26" name="TextBox 25">
            <a:extLst>
              <a:ext uri="{FF2B5EF4-FFF2-40B4-BE49-F238E27FC236}">
                <a16:creationId xmlns:a16="http://schemas.microsoft.com/office/drawing/2014/main" id="{E67010FD-EB64-48F1-885E-8921CFEBC1E6}"/>
              </a:ext>
            </a:extLst>
          </p:cNvPr>
          <p:cNvSpPr txBox="1"/>
          <p:nvPr/>
        </p:nvSpPr>
        <p:spPr>
          <a:xfrm>
            <a:off x="2716168" y="5994556"/>
            <a:ext cx="609600" cy="369332"/>
          </a:xfrm>
          <a:prstGeom prst="rect">
            <a:avLst/>
          </a:prstGeom>
          <a:noFill/>
        </p:spPr>
        <p:txBody>
          <a:bodyPr wrap="square" rtlCol="0">
            <a:spAutoFit/>
          </a:bodyPr>
          <a:lstStyle/>
          <a:p>
            <a:r>
              <a:rPr lang="en-US" dirty="0"/>
              <a:t>Bit 1</a:t>
            </a:r>
            <a:endParaRPr lang="en-IN" dirty="0"/>
          </a:p>
        </p:txBody>
      </p:sp>
      <p:sp>
        <p:nvSpPr>
          <p:cNvPr id="27" name="TextBox 26">
            <a:extLst>
              <a:ext uri="{FF2B5EF4-FFF2-40B4-BE49-F238E27FC236}">
                <a16:creationId xmlns:a16="http://schemas.microsoft.com/office/drawing/2014/main" id="{3860D88D-2C01-46D9-902F-6BC7D8698562}"/>
              </a:ext>
            </a:extLst>
          </p:cNvPr>
          <p:cNvSpPr txBox="1"/>
          <p:nvPr/>
        </p:nvSpPr>
        <p:spPr>
          <a:xfrm>
            <a:off x="5443870" y="5994556"/>
            <a:ext cx="609600" cy="369332"/>
          </a:xfrm>
          <a:prstGeom prst="rect">
            <a:avLst/>
          </a:prstGeom>
          <a:noFill/>
        </p:spPr>
        <p:txBody>
          <a:bodyPr wrap="square" rtlCol="0">
            <a:spAutoFit/>
          </a:bodyPr>
          <a:lstStyle/>
          <a:p>
            <a:r>
              <a:rPr lang="en-US" dirty="0"/>
              <a:t>Bit j</a:t>
            </a:r>
            <a:endParaRPr lang="en-IN" dirty="0"/>
          </a:p>
        </p:txBody>
      </p:sp>
      <p:sp>
        <p:nvSpPr>
          <p:cNvPr id="28" name="TextBox 27">
            <a:extLst>
              <a:ext uri="{FF2B5EF4-FFF2-40B4-BE49-F238E27FC236}">
                <a16:creationId xmlns:a16="http://schemas.microsoft.com/office/drawing/2014/main" id="{D7362757-DA5E-44DB-AB18-E2E21AED469A}"/>
              </a:ext>
            </a:extLst>
          </p:cNvPr>
          <p:cNvSpPr txBox="1"/>
          <p:nvPr/>
        </p:nvSpPr>
        <p:spPr>
          <a:xfrm>
            <a:off x="8181904" y="5994556"/>
            <a:ext cx="609600" cy="369332"/>
          </a:xfrm>
          <a:prstGeom prst="rect">
            <a:avLst/>
          </a:prstGeom>
          <a:noFill/>
        </p:spPr>
        <p:txBody>
          <a:bodyPr wrap="square" rtlCol="0">
            <a:spAutoFit/>
          </a:bodyPr>
          <a:lstStyle/>
          <a:p>
            <a:r>
              <a:rPr lang="en-US" dirty="0"/>
              <a:t>Bit n</a:t>
            </a:r>
            <a:endParaRPr lang="en-IN" dirty="0"/>
          </a:p>
        </p:txBody>
      </p:sp>
      <p:cxnSp>
        <p:nvCxnSpPr>
          <p:cNvPr id="29" name="Straight Arrow Connector 28">
            <a:extLst>
              <a:ext uri="{FF2B5EF4-FFF2-40B4-BE49-F238E27FC236}">
                <a16:creationId xmlns:a16="http://schemas.microsoft.com/office/drawing/2014/main" id="{0D4C9779-939A-4DA0-80B2-763B1B98EAD8}"/>
              </a:ext>
            </a:extLst>
          </p:cNvPr>
          <p:cNvCxnSpPr>
            <a:stCxn id="4" idx="2"/>
            <a:endCxn id="7" idx="0"/>
          </p:cNvCxnSpPr>
          <p:nvPr/>
        </p:nvCxnSpPr>
        <p:spPr>
          <a:xfrm>
            <a:off x="3005470" y="1346356"/>
            <a:ext cx="0" cy="6096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CD2E1B5-6423-4CA0-B847-36FF6B7E1C52}"/>
              </a:ext>
            </a:extLst>
          </p:cNvPr>
          <p:cNvCxnSpPr/>
          <p:nvPr/>
        </p:nvCxnSpPr>
        <p:spPr>
          <a:xfrm>
            <a:off x="5748670" y="1346356"/>
            <a:ext cx="0" cy="6096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81A7CDC-9F2A-4EA5-9A58-010A082D5913}"/>
              </a:ext>
            </a:extLst>
          </p:cNvPr>
          <p:cNvCxnSpPr/>
          <p:nvPr/>
        </p:nvCxnSpPr>
        <p:spPr>
          <a:xfrm>
            <a:off x="8486704" y="1346356"/>
            <a:ext cx="0" cy="6096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65EA538-47FC-4CF4-B3DD-2C3569E6BE1F}"/>
              </a:ext>
            </a:extLst>
          </p:cNvPr>
          <p:cNvCxnSpPr/>
          <p:nvPr/>
        </p:nvCxnSpPr>
        <p:spPr>
          <a:xfrm>
            <a:off x="3020968" y="2413156"/>
            <a:ext cx="0" cy="540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11A5DB51-5B33-43CC-B2DD-FEB9FDD7AD1F}"/>
              </a:ext>
            </a:extLst>
          </p:cNvPr>
          <p:cNvCxnSpPr/>
          <p:nvPr/>
        </p:nvCxnSpPr>
        <p:spPr>
          <a:xfrm>
            <a:off x="5764168" y="2413156"/>
            <a:ext cx="0" cy="540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45939F4-25D3-428C-A40A-EAF82CC32790}"/>
              </a:ext>
            </a:extLst>
          </p:cNvPr>
          <p:cNvCxnSpPr/>
          <p:nvPr/>
        </p:nvCxnSpPr>
        <p:spPr>
          <a:xfrm>
            <a:off x="8502202" y="2413156"/>
            <a:ext cx="0" cy="540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23BAAD3-F4E9-465B-8157-AF739967AD55}"/>
              </a:ext>
            </a:extLst>
          </p:cNvPr>
          <p:cNvCxnSpPr>
            <a:cxnSpLocks/>
          </p:cNvCxnSpPr>
          <p:nvPr/>
        </p:nvCxnSpPr>
        <p:spPr>
          <a:xfrm rot="16200000">
            <a:off x="9246070" y="3030556"/>
            <a:ext cx="0" cy="59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082B375-57F2-4A42-B41C-FCEDC7AF59C0}"/>
              </a:ext>
            </a:extLst>
          </p:cNvPr>
          <p:cNvCxnSpPr>
            <a:cxnSpLocks/>
          </p:cNvCxnSpPr>
          <p:nvPr/>
        </p:nvCxnSpPr>
        <p:spPr>
          <a:xfrm rot="16200000">
            <a:off x="9246070" y="4172492"/>
            <a:ext cx="0" cy="59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E964CE1-973C-461D-8685-F7F26A8A8609}"/>
              </a:ext>
            </a:extLst>
          </p:cNvPr>
          <p:cNvCxnSpPr>
            <a:cxnSpLocks/>
          </p:cNvCxnSpPr>
          <p:nvPr/>
        </p:nvCxnSpPr>
        <p:spPr>
          <a:xfrm rot="16200000">
            <a:off x="9246070" y="5315719"/>
            <a:ext cx="0" cy="59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4614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Cache Memory</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- 5</a:t>
            </a:r>
          </a:p>
        </p:txBody>
      </p:sp>
    </p:spTree>
    <p:extLst>
      <p:ext uri="{BB962C8B-B14F-4D97-AF65-F5344CB8AC3E}">
        <p14:creationId xmlns:p14="http://schemas.microsoft.com/office/powerpoint/2010/main" val="23588922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AAB599-E707-4E5E-80E7-1CC429E85FDB}"/>
              </a:ext>
            </a:extLst>
          </p:cNvPr>
          <p:cNvSpPr>
            <a:spLocks noGrp="1"/>
          </p:cNvSpPr>
          <p:nvPr>
            <p:ph type="title"/>
          </p:nvPr>
        </p:nvSpPr>
        <p:spPr/>
        <p:txBody>
          <a:bodyPr/>
          <a:lstStyle/>
          <a:p>
            <a:r>
              <a:rPr lang="en-US" dirty="0"/>
              <a:t>Cache Memory</a:t>
            </a:r>
            <a:endParaRPr lang="en-IN" dirty="0"/>
          </a:p>
        </p:txBody>
      </p:sp>
      <p:sp>
        <p:nvSpPr>
          <p:cNvPr id="5" name="Content Placeholder 4">
            <a:extLst>
              <a:ext uri="{FF2B5EF4-FFF2-40B4-BE49-F238E27FC236}">
                <a16:creationId xmlns:a16="http://schemas.microsoft.com/office/drawing/2014/main" id="{E8CC04BD-3E10-4936-9543-0C6EDCB7EF63}"/>
              </a:ext>
            </a:extLst>
          </p:cNvPr>
          <p:cNvSpPr>
            <a:spLocks noGrp="1"/>
          </p:cNvSpPr>
          <p:nvPr>
            <p:ph idx="1"/>
          </p:nvPr>
        </p:nvSpPr>
        <p:spPr>
          <a:xfrm>
            <a:off x="131180" y="863444"/>
            <a:ext cx="5642255" cy="5590565"/>
          </a:xfrm>
        </p:spPr>
        <p:txBody>
          <a:bodyPr/>
          <a:lstStyle/>
          <a:p>
            <a:pPr algn="just"/>
            <a:r>
              <a:rPr lang="en-US" dirty="0"/>
              <a:t>Cache is a fast small capacity memory that should hold those information which are most likely to be accessed.</a:t>
            </a:r>
          </a:p>
          <a:p>
            <a:pPr algn="just"/>
            <a:r>
              <a:rPr lang="en-US" dirty="0"/>
              <a:t>The basic operation of the cache is, when the CPU needs to access memory, the cache is examined. </a:t>
            </a:r>
          </a:p>
          <a:p>
            <a:pPr algn="just"/>
            <a:r>
              <a:rPr lang="en-US" dirty="0"/>
              <a:t>If the word is found in the cache, it is read from the fast memory. If the word addressed by the CPU is not found in the cache, the main memory is accessed to read the word.</a:t>
            </a:r>
          </a:p>
          <a:p>
            <a:pPr algn="just"/>
            <a:r>
              <a:rPr lang="en-US" dirty="0"/>
              <a:t>The transformation of data from main memory to cache memory is referred to as a mapping process.</a:t>
            </a:r>
          </a:p>
          <a:p>
            <a:endParaRPr lang="en-IN" dirty="0"/>
          </a:p>
        </p:txBody>
      </p:sp>
      <p:sp>
        <p:nvSpPr>
          <p:cNvPr id="6" name="Content Placeholder 4">
            <a:extLst>
              <a:ext uri="{FF2B5EF4-FFF2-40B4-BE49-F238E27FC236}">
                <a16:creationId xmlns:a16="http://schemas.microsoft.com/office/drawing/2014/main" id="{1D8C0A2B-F8FF-4567-A179-9B33C5D86B02}"/>
              </a:ext>
            </a:extLst>
          </p:cNvPr>
          <p:cNvSpPr txBox="1">
            <a:spLocks/>
          </p:cNvSpPr>
          <p:nvPr/>
        </p:nvSpPr>
        <p:spPr>
          <a:xfrm>
            <a:off x="6418566" y="863444"/>
            <a:ext cx="5450913"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The performance of the cache memory is frequently measured in terms of a quantity called </a:t>
            </a:r>
            <a:r>
              <a:rPr lang="en-US" i="1" dirty="0"/>
              <a:t>hit ratio</a:t>
            </a:r>
            <a:r>
              <a:rPr lang="en-US" dirty="0"/>
              <a:t>.</a:t>
            </a:r>
          </a:p>
          <a:p>
            <a:pPr algn="just"/>
            <a:r>
              <a:rPr lang="en-US" dirty="0"/>
              <a:t>When the CPU refers to memory and finds the word in cache, it is said to produce a </a:t>
            </a:r>
            <a:r>
              <a:rPr lang="en-US" i="1" dirty="0"/>
              <a:t>hit</a:t>
            </a:r>
            <a:r>
              <a:rPr lang="en-US" dirty="0"/>
              <a:t>.</a:t>
            </a:r>
          </a:p>
          <a:p>
            <a:pPr algn="just"/>
            <a:r>
              <a:rPr lang="en-US" dirty="0"/>
              <a:t>If the word is not found in cache, it is in main memory and it counts as a </a:t>
            </a:r>
            <a:r>
              <a:rPr lang="en-US" i="1" dirty="0"/>
              <a:t>miss.</a:t>
            </a:r>
          </a:p>
          <a:p>
            <a:pPr algn="just"/>
            <a:r>
              <a:rPr lang="en-US" dirty="0"/>
              <a:t>The ratio of the number of hits divided by the total CPU references to memory (hits plus misses) is the </a:t>
            </a:r>
            <a:r>
              <a:rPr lang="en-US" i="1" dirty="0"/>
              <a:t>hit ratio.</a:t>
            </a:r>
          </a:p>
          <a:p>
            <a:pPr algn="just"/>
            <a:r>
              <a:rPr lang="en-US" dirty="0"/>
              <a:t>Hit ratios of 0.9 and higher have been reported. </a:t>
            </a:r>
          </a:p>
          <a:p>
            <a:pPr marL="0" indent="0">
              <a:buNone/>
            </a:pPr>
            <a:endParaRPr lang="en-IN" dirty="0"/>
          </a:p>
        </p:txBody>
      </p:sp>
    </p:spTree>
    <p:extLst>
      <p:ext uri="{BB962C8B-B14F-4D97-AF65-F5344CB8AC3E}">
        <p14:creationId xmlns:p14="http://schemas.microsoft.com/office/powerpoint/2010/main" val="637568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5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fade">
                                      <p:cBhvr>
                                        <p:cTn id="32" dur="500"/>
                                        <p:tgtEl>
                                          <p:spTgt spid="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animEffect transition="in" filter="fade">
                                      <p:cBhvr>
                                        <p:cTn id="37" dur="500"/>
                                        <p:tgtEl>
                                          <p:spTgt spid="6">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xEl>
                                              <p:pRg st="3" end="3"/>
                                            </p:txEl>
                                          </p:spTgt>
                                        </p:tgtEl>
                                        <p:attrNameLst>
                                          <p:attrName>style.visibility</p:attrName>
                                        </p:attrNameLst>
                                      </p:cBhvr>
                                      <p:to>
                                        <p:strVal val="visible"/>
                                      </p:to>
                                    </p:set>
                                    <p:animEffect transition="in" filter="fade">
                                      <p:cBhvr>
                                        <p:cTn id="42" dur="500"/>
                                        <p:tgtEl>
                                          <p:spTgt spid="6">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xEl>
                                              <p:pRg st="4" end="4"/>
                                            </p:txEl>
                                          </p:spTgt>
                                        </p:tgtEl>
                                        <p:attrNameLst>
                                          <p:attrName>style.visibility</p:attrName>
                                        </p:attrNameLst>
                                      </p:cBhvr>
                                      <p:to>
                                        <p:strVal val="visible"/>
                                      </p:to>
                                    </p:set>
                                    <p:animEffect transition="in" filter="fade">
                                      <p:cBhvr>
                                        <p:cTn id="4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E5DA4-BA7B-438D-B0BB-F6225E6AB61F}"/>
              </a:ext>
            </a:extLst>
          </p:cNvPr>
          <p:cNvSpPr>
            <a:spLocks noGrp="1"/>
          </p:cNvSpPr>
          <p:nvPr>
            <p:ph type="title"/>
          </p:nvPr>
        </p:nvSpPr>
        <p:spPr/>
        <p:txBody>
          <a:bodyPr/>
          <a:lstStyle/>
          <a:p>
            <a:r>
              <a:rPr lang="en-US" dirty="0"/>
              <a:t>Associative Mapping </a:t>
            </a:r>
            <a:endParaRPr lang="en-IN" dirty="0"/>
          </a:p>
        </p:txBody>
      </p:sp>
      <p:sp>
        <p:nvSpPr>
          <p:cNvPr id="4" name="Rectangle 3">
            <a:extLst>
              <a:ext uri="{FF2B5EF4-FFF2-40B4-BE49-F238E27FC236}">
                <a16:creationId xmlns:a16="http://schemas.microsoft.com/office/drawing/2014/main" id="{82CE56F6-C46B-46D1-A3DC-A7EAC2AC6D50}"/>
              </a:ext>
            </a:extLst>
          </p:cNvPr>
          <p:cNvSpPr/>
          <p:nvPr/>
        </p:nvSpPr>
        <p:spPr>
          <a:xfrm>
            <a:off x="3765917" y="1861522"/>
            <a:ext cx="233008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Argument register</a:t>
            </a:r>
            <a:endParaRPr lang="en-IN" dirty="0"/>
          </a:p>
        </p:txBody>
      </p:sp>
      <p:sp>
        <p:nvSpPr>
          <p:cNvPr id="5" name="Rectangle 4">
            <a:extLst>
              <a:ext uri="{FF2B5EF4-FFF2-40B4-BE49-F238E27FC236}">
                <a16:creationId xmlns:a16="http://schemas.microsoft.com/office/drawing/2014/main" id="{03DD12F7-A362-4B11-A127-D1297671A0E5}"/>
              </a:ext>
            </a:extLst>
          </p:cNvPr>
          <p:cNvSpPr/>
          <p:nvPr/>
        </p:nvSpPr>
        <p:spPr>
          <a:xfrm>
            <a:off x="3769791" y="3058227"/>
            <a:ext cx="233008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0 1 0 0 0</a:t>
            </a:r>
            <a:endParaRPr lang="en-IN" dirty="0"/>
          </a:p>
        </p:txBody>
      </p:sp>
      <p:sp>
        <p:nvSpPr>
          <p:cNvPr id="6" name="Rectangle 5">
            <a:extLst>
              <a:ext uri="{FF2B5EF4-FFF2-40B4-BE49-F238E27FC236}">
                <a16:creationId xmlns:a16="http://schemas.microsoft.com/office/drawing/2014/main" id="{E7D36005-F788-4957-B646-41B1C33C5609}"/>
              </a:ext>
            </a:extLst>
          </p:cNvPr>
          <p:cNvSpPr/>
          <p:nvPr/>
        </p:nvSpPr>
        <p:spPr>
          <a:xfrm>
            <a:off x="6052088" y="3058227"/>
            <a:ext cx="233008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3 4 5 0</a:t>
            </a:r>
            <a:endParaRPr lang="en-IN" dirty="0"/>
          </a:p>
        </p:txBody>
      </p:sp>
      <p:sp>
        <p:nvSpPr>
          <p:cNvPr id="7" name="Rectangle 6">
            <a:extLst>
              <a:ext uri="{FF2B5EF4-FFF2-40B4-BE49-F238E27FC236}">
                <a16:creationId xmlns:a16="http://schemas.microsoft.com/office/drawing/2014/main" id="{1C1C7809-07EA-49EF-88C2-8CCA698FCE87}"/>
              </a:ext>
            </a:extLst>
          </p:cNvPr>
          <p:cNvSpPr/>
          <p:nvPr/>
        </p:nvSpPr>
        <p:spPr>
          <a:xfrm>
            <a:off x="3769790" y="3591627"/>
            <a:ext cx="233008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0 2 7 7 7</a:t>
            </a:r>
            <a:endParaRPr lang="en-IN" dirty="0"/>
          </a:p>
        </p:txBody>
      </p:sp>
      <p:sp>
        <p:nvSpPr>
          <p:cNvPr id="8" name="Rectangle 7">
            <a:extLst>
              <a:ext uri="{FF2B5EF4-FFF2-40B4-BE49-F238E27FC236}">
                <a16:creationId xmlns:a16="http://schemas.microsoft.com/office/drawing/2014/main" id="{AEABAB9C-3ED6-4E5B-8B62-52092B9770D4}"/>
              </a:ext>
            </a:extLst>
          </p:cNvPr>
          <p:cNvSpPr/>
          <p:nvPr/>
        </p:nvSpPr>
        <p:spPr>
          <a:xfrm>
            <a:off x="6052087" y="3591627"/>
            <a:ext cx="233008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6 7 1 0</a:t>
            </a:r>
            <a:endParaRPr lang="en-IN" dirty="0"/>
          </a:p>
        </p:txBody>
      </p:sp>
      <p:sp>
        <p:nvSpPr>
          <p:cNvPr id="9" name="Rectangle 8">
            <a:extLst>
              <a:ext uri="{FF2B5EF4-FFF2-40B4-BE49-F238E27FC236}">
                <a16:creationId xmlns:a16="http://schemas.microsoft.com/office/drawing/2014/main" id="{0393CA86-B21F-4C1A-9ABD-75892F8387DE}"/>
              </a:ext>
            </a:extLst>
          </p:cNvPr>
          <p:cNvSpPr/>
          <p:nvPr/>
        </p:nvSpPr>
        <p:spPr>
          <a:xfrm>
            <a:off x="3765917" y="4125027"/>
            <a:ext cx="233008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2 2 3 4 5</a:t>
            </a:r>
            <a:endParaRPr lang="en-IN" dirty="0"/>
          </a:p>
        </p:txBody>
      </p:sp>
      <p:sp>
        <p:nvSpPr>
          <p:cNvPr id="10" name="Rectangle 9">
            <a:extLst>
              <a:ext uri="{FF2B5EF4-FFF2-40B4-BE49-F238E27FC236}">
                <a16:creationId xmlns:a16="http://schemas.microsoft.com/office/drawing/2014/main" id="{DC6901FD-1F06-4307-9C10-5E07417856A3}"/>
              </a:ext>
            </a:extLst>
          </p:cNvPr>
          <p:cNvSpPr/>
          <p:nvPr/>
        </p:nvSpPr>
        <p:spPr>
          <a:xfrm>
            <a:off x="6048214" y="4125027"/>
            <a:ext cx="233008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1 2 3 4</a:t>
            </a:r>
            <a:endParaRPr lang="en-IN" dirty="0"/>
          </a:p>
        </p:txBody>
      </p:sp>
      <p:sp>
        <p:nvSpPr>
          <p:cNvPr id="11" name="Rectangle 10">
            <a:extLst>
              <a:ext uri="{FF2B5EF4-FFF2-40B4-BE49-F238E27FC236}">
                <a16:creationId xmlns:a16="http://schemas.microsoft.com/office/drawing/2014/main" id="{04A722FF-CED3-4C3A-B967-82086F8444D9}"/>
              </a:ext>
            </a:extLst>
          </p:cNvPr>
          <p:cNvSpPr/>
          <p:nvPr/>
        </p:nvSpPr>
        <p:spPr>
          <a:xfrm>
            <a:off x="3765917" y="4658427"/>
            <a:ext cx="2330083" cy="151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10131806-B4A6-496A-9059-89D3AB2EBC1D}"/>
              </a:ext>
            </a:extLst>
          </p:cNvPr>
          <p:cNvSpPr/>
          <p:nvPr/>
        </p:nvSpPr>
        <p:spPr>
          <a:xfrm>
            <a:off x="6048214" y="4658427"/>
            <a:ext cx="2330083" cy="151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3" name="Straight Arrow Connector 12">
            <a:extLst>
              <a:ext uri="{FF2B5EF4-FFF2-40B4-BE49-F238E27FC236}">
                <a16:creationId xmlns:a16="http://schemas.microsoft.com/office/drawing/2014/main" id="{7D8CCAE1-AE1B-4788-A9B8-BDC9433BCF3D}"/>
              </a:ext>
            </a:extLst>
          </p:cNvPr>
          <p:cNvCxnSpPr>
            <a:cxnSpLocks/>
          </p:cNvCxnSpPr>
          <p:nvPr/>
        </p:nvCxnSpPr>
        <p:spPr>
          <a:xfrm>
            <a:off x="4930958" y="1354329"/>
            <a:ext cx="1" cy="49169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E9E7756-8667-4553-B634-A097E1AD3CA3}"/>
              </a:ext>
            </a:extLst>
          </p:cNvPr>
          <p:cNvSpPr txBox="1"/>
          <p:nvPr/>
        </p:nvSpPr>
        <p:spPr>
          <a:xfrm>
            <a:off x="3884921" y="1044706"/>
            <a:ext cx="2370496" cy="401321"/>
          </a:xfrm>
          <a:prstGeom prst="rect">
            <a:avLst/>
          </a:prstGeom>
          <a:noFill/>
        </p:spPr>
        <p:txBody>
          <a:bodyPr wrap="square" rtlCol="0">
            <a:spAutoFit/>
          </a:bodyPr>
          <a:lstStyle/>
          <a:p>
            <a:r>
              <a:rPr lang="en-US" dirty="0"/>
              <a:t>CPU address (15 bits)</a:t>
            </a:r>
            <a:endParaRPr lang="en-IN" dirty="0"/>
          </a:p>
        </p:txBody>
      </p:sp>
      <p:sp>
        <p:nvSpPr>
          <p:cNvPr id="15" name="TextBox 14">
            <a:extLst>
              <a:ext uri="{FF2B5EF4-FFF2-40B4-BE49-F238E27FC236}">
                <a16:creationId xmlns:a16="http://schemas.microsoft.com/office/drawing/2014/main" id="{1C69D994-5C29-4CBD-880F-E99AA9D5781D}"/>
              </a:ext>
            </a:extLst>
          </p:cNvPr>
          <p:cNvSpPr txBox="1"/>
          <p:nvPr/>
        </p:nvSpPr>
        <p:spPr>
          <a:xfrm>
            <a:off x="4442654" y="2622478"/>
            <a:ext cx="1007604" cy="369332"/>
          </a:xfrm>
          <a:prstGeom prst="rect">
            <a:avLst/>
          </a:prstGeom>
          <a:noFill/>
        </p:spPr>
        <p:txBody>
          <a:bodyPr wrap="square" rtlCol="0">
            <a:spAutoFit/>
          </a:bodyPr>
          <a:lstStyle/>
          <a:p>
            <a:r>
              <a:rPr lang="en-US" dirty="0"/>
              <a:t>Address</a:t>
            </a:r>
            <a:endParaRPr lang="en-IN" dirty="0"/>
          </a:p>
        </p:txBody>
      </p:sp>
      <p:sp>
        <p:nvSpPr>
          <p:cNvPr id="16" name="TextBox 15">
            <a:extLst>
              <a:ext uri="{FF2B5EF4-FFF2-40B4-BE49-F238E27FC236}">
                <a16:creationId xmlns:a16="http://schemas.microsoft.com/office/drawing/2014/main" id="{6819AF12-3ACD-4B17-865F-3EE5B915976B}"/>
              </a:ext>
            </a:extLst>
          </p:cNvPr>
          <p:cNvSpPr txBox="1"/>
          <p:nvPr/>
        </p:nvSpPr>
        <p:spPr>
          <a:xfrm>
            <a:off x="6900433" y="2624063"/>
            <a:ext cx="625643" cy="369332"/>
          </a:xfrm>
          <a:prstGeom prst="rect">
            <a:avLst/>
          </a:prstGeom>
          <a:noFill/>
        </p:spPr>
        <p:txBody>
          <a:bodyPr wrap="square" rtlCol="0">
            <a:spAutoFit/>
          </a:bodyPr>
          <a:lstStyle/>
          <a:p>
            <a:r>
              <a:rPr lang="en-US" dirty="0"/>
              <a:t>Data</a:t>
            </a:r>
            <a:endParaRPr lang="en-IN" dirty="0"/>
          </a:p>
        </p:txBody>
      </p:sp>
      <p:cxnSp>
        <p:nvCxnSpPr>
          <p:cNvPr id="17" name="Straight Arrow Connector 16">
            <a:extLst>
              <a:ext uri="{FF2B5EF4-FFF2-40B4-BE49-F238E27FC236}">
                <a16:creationId xmlns:a16="http://schemas.microsoft.com/office/drawing/2014/main" id="{002655C6-DFA8-48F9-A151-115E0EA2C24F}"/>
              </a:ext>
            </a:extLst>
          </p:cNvPr>
          <p:cNvCxnSpPr>
            <a:cxnSpLocks/>
          </p:cNvCxnSpPr>
          <p:nvPr/>
        </p:nvCxnSpPr>
        <p:spPr>
          <a:xfrm rot="16200000">
            <a:off x="7940076" y="2403626"/>
            <a:ext cx="1" cy="82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E33F97B-F226-443B-A5BF-A9EDA7E14197}"/>
              </a:ext>
            </a:extLst>
          </p:cNvPr>
          <p:cNvCxnSpPr>
            <a:cxnSpLocks/>
          </p:cNvCxnSpPr>
          <p:nvPr/>
        </p:nvCxnSpPr>
        <p:spPr>
          <a:xfrm>
            <a:off x="3772375" y="2650227"/>
            <a:ext cx="1" cy="36000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2D0455A-B888-4831-8CDA-F2808DFA950E}"/>
              </a:ext>
            </a:extLst>
          </p:cNvPr>
          <p:cNvCxnSpPr>
            <a:cxnSpLocks/>
          </p:cNvCxnSpPr>
          <p:nvPr/>
        </p:nvCxnSpPr>
        <p:spPr>
          <a:xfrm>
            <a:off x="6048214" y="2630417"/>
            <a:ext cx="1" cy="36000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6B923BC-99FE-4517-8C66-BAFD3E89A51C}"/>
              </a:ext>
            </a:extLst>
          </p:cNvPr>
          <p:cNvCxnSpPr>
            <a:cxnSpLocks/>
          </p:cNvCxnSpPr>
          <p:nvPr/>
        </p:nvCxnSpPr>
        <p:spPr>
          <a:xfrm>
            <a:off x="8378294" y="2628729"/>
            <a:ext cx="1" cy="36000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230BAEB-C600-41B4-AACE-C9CCCB912C9E}"/>
              </a:ext>
            </a:extLst>
          </p:cNvPr>
          <p:cNvCxnSpPr>
            <a:cxnSpLocks/>
          </p:cNvCxnSpPr>
          <p:nvPr/>
        </p:nvCxnSpPr>
        <p:spPr>
          <a:xfrm rot="16200000">
            <a:off x="5671311" y="2457624"/>
            <a:ext cx="1" cy="720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A375785-A274-4513-B42E-6ED939148357}"/>
              </a:ext>
            </a:extLst>
          </p:cNvPr>
          <p:cNvCxnSpPr>
            <a:cxnSpLocks/>
          </p:cNvCxnSpPr>
          <p:nvPr/>
        </p:nvCxnSpPr>
        <p:spPr>
          <a:xfrm rot="5400000" flipH="1">
            <a:off x="6509999" y="2400728"/>
            <a:ext cx="1" cy="82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64E6544-F9CE-444A-B3A2-7D0443D3C69D}"/>
              </a:ext>
            </a:extLst>
          </p:cNvPr>
          <p:cNvCxnSpPr>
            <a:cxnSpLocks/>
          </p:cNvCxnSpPr>
          <p:nvPr/>
        </p:nvCxnSpPr>
        <p:spPr>
          <a:xfrm rot="5400000" flipH="1">
            <a:off x="4132711" y="2454727"/>
            <a:ext cx="1" cy="720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82940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082EE-D9ED-4F57-B132-00B0F9999120}"/>
              </a:ext>
            </a:extLst>
          </p:cNvPr>
          <p:cNvSpPr>
            <a:spLocks noGrp="1"/>
          </p:cNvSpPr>
          <p:nvPr>
            <p:ph type="title"/>
          </p:nvPr>
        </p:nvSpPr>
        <p:spPr/>
        <p:txBody>
          <a:bodyPr/>
          <a:lstStyle/>
          <a:p>
            <a:r>
              <a:rPr lang="en-US" dirty="0"/>
              <a:t>Direct Mapping</a:t>
            </a:r>
            <a:endParaRPr lang="en-IN" dirty="0"/>
          </a:p>
        </p:txBody>
      </p:sp>
      <p:sp>
        <p:nvSpPr>
          <p:cNvPr id="4" name="Rectangle 3">
            <a:extLst>
              <a:ext uri="{FF2B5EF4-FFF2-40B4-BE49-F238E27FC236}">
                <a16:creationId xmlns:a16="http://schemas.microsoft.com/office/drawing/2014/main" id="{29E9450F-5CAF-45C5-8C1C-C2FD042F5F87}"/>
              </a:ext>
            </a:extLst>
          </p:cNvPr>
          <p:cNvSpPr/>
          <p:nvPr/>
        </p:nvSpPr>
        <p:spPr>
          <a:xfrm>
            <a:off x="4066954" y="3518846"/>
            <a:ext cx="2133600" cy="1760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32K X 12</a:t>
            </a:r>
          </a:p>
          <a:p>
            <a:pPr algn="ctr"/>
            <a:endParaRPr lang="en-US" dirty="0"/>
          </a:p>
          <a:p>
            <a:pPr algn="ctr"/>
            <a:r>
              <a:rPr lang="en-US" dirty="0"/>
              <a:t>Main memory</a:t>
            </a:r>
          </a:p>
          <a:p>
            <a:pPr algn="ctr"/>
            <a:endParaRPr lang="en-US" dirty="0"/>
          </a:p>
          <a:p>
            <a:pPr algn="ctr"/>
            <a:r>
              <a:rPr lang="en-US" dirty="0"/>
              <a:t>Address = 15 bits</a:t>
            </a:r>
          </a:p>
          <a:p>
            <a:pPr algn="ctr"/>
            <a:r>
              <a:rPr lang="en-US" dirty="0"/>
              <a:t>Data = 12 bits </a:t>
            </a:r>
            <a:endParaRPr lang="en-IN" dirty="0"/>
          </a:p>
        </p:txBody>
      </p:sp>
      <p:sp>
        <p:nvSpPr>
          <p:cNvPr id="5" name="Rectangle 4">
            <a:extLst>
              <a:ext uri="{FF2B5EF4-FFF2-40B4-BE49-F238E27FC236}">
                <a16:creationId xmlns:a16="http://schemas.microsoft.com/office/drawing/2014/main" id="{82118D84-0711-442B-91B6-32D2CE7E23C6}"/>
              </a:ext>
            </a:extLst>
          </p:cNvPr>
          <p:cNvSpPr/>
          <p:nvPr/>
        </p:nvSpPr>
        <p:spPr>
          <a:xfrm>
            <a:off x="7648354" y="3518846"/>
            <a:ext cx="2133600" cy="1760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512 X 12</a:t>
            </a:r>
          </a:p>
          <a:p>
            <a:pPr algn="ctr"/>
            <a:endParaRPr lang="en-US" dirty="0"/>
          </a:p>
          <a:p>
            <a:pPr algn="ctr"/>
            <a:r>
              <a:rPr lang="en-US" dirty="0"/>
              <a:t>Cache memory</a:t>
            </a:r>
          </a:p>
          <a:p>
            <a:pPr algn="ctr"/>
            <a:endParaRPr lang="en-US" dirty="0"/>
          </a:p>
          <a:p>
            <a:pPr algn="ctr"/>
            <a:r>
              <a:rPr lang="en-US" dirty="0"/>
              <a:t>Address = 9 bits</a:t>
            </a:r>
          </a:p>
          <a:p>
            <a:pPr algn="ctr"/>
            <a:r>
              <a:rPr lang="en-US" dirty="0"/>
              <a:t>Data = 12 bits </a:t>
            </a:r>
            <a:endParaRPr lang="en-IN" dirty="0"/>
          </a:p>
        </p:txBody>
      </p:sp>
      <p:sp>
        <p:nvSpPr>
          <p:cNvPr id="6" name="TextBox 5">
            <a:extLst>
              <a:ext uri="{FF2B5EF4-FFF2-40B4-BE49-F238E27FC236}">
                <a16:creationId xmlns:a16="http://schemas.microsoft.com/office/drawing/2014/main" id="{6F3C9DE5-371E-4A07-9262-1F7C16907FE0}"/>
              </a:ext>
            </a:extLst>
          </p:cNvPr>
          <p:cNvSpPr txBox="1"/>
          <p:nvPr/>
        </p:nvSpPr>
        <p:spPr>
          <a:xfrm>
            <a:off x="7081577" y="3518846"/>
            <a:ext cx="566777" cy="369332"/>
          </a:xfrm>
          <a:prstGeom prst="rect">
            <a:avLst/>
          </a:prstGeom>
          <a:noFill/>
        </p:spPr>
        <p:txBody>
          <a:bodyPr wrap="square" rtlCol="0">
            <a:spAutoFit/>
          </a:bodyPr>
          <a:lstStyle/>
          <a:p>
            <a:r>
              <a:rPr lang="en-US" dirty="0"/>
              <a:t>000</a:t>
            </a:r>
            <a:endParaRPr lang="en-IN" dirty="0"/>
          </a:p>
        </p:txBody>
      </p:sp>
      <p:sp>
        <p:nvSpPr>
          <p:cNvPr id="7" name="TextBox 6">
            <a:extLst>
              <a:ext uri="{FF2B5EF4-FFF2-40B4-BE49-F238E27FC236}">
                <a16:creationId xmlns:a16="http://schemas.microsoft.com/office/drawing/2014/main" id="{339CC61A-BC48-44B8-A78C-EC1E9745E32F}"/>
              </a:ext>
            </a:extLst>
          </p:cNvPr>
          <p:cNvSpPr txBox="1"/>
          <p:nvPr/>
        </p:nvSpPr>
        <p:spPr>
          <a:xfrm>
            <a:off x="7081576" y="4909734"/>
            <a:ext cx="566777" cy="369332"/>
          </a:xfrm>
          <a:prstGeom prst="rect">
            <a:avLst/>
          </a:prstGeom>
          <a:noFill/>
        </p:spPr>
        <p:txBody>
          <a:bodyPr wrap="square" rtlCol="0">
            <a:spAutoFit/>
          </a:bodyPr>
          <a:lstStyle/>
          <a:p>
            <a:r>
              <a:rPr lang="en-US" dirty="0"/>
              <a:t>777</a:t>
            </a:r>
            <a:endParaRPr lang="en-IN" dirty="0"/>
          </a:p>
        </p:txBody>
      </p:sp>
      <p:sp>
        <p:nvSpPr>
          <p:cNvPr id="8" name="TextBox 7">
            <a:extLst>
              <a:ext uri="{FF2B5EF4-FFF2-40B4-BE49-F238E27FC236}">
                <a16:creationId xmlns:a16="http://schemas.microsoft.com/office/drawing/2014/main" id="{C983F4C6-E401-45BE-A533-3DCC622D36F6}"/>
              </a:ext>
            </a:extLst>
          </p:cNvPr>
          <p:cNvSpPr txBox="1"/>
          <p:nvPr/>
        </p:nvSpPr>
        <p:spPr>
          <a:xfrm>
            <a:off x="3500178" y="3518846"/>
            <a:ext cx="566777" cy="369332"/>
          </a:xfrm>
          <a:prstGeom prst="rect">
            <a:avLst/>
          </a:prstGeom>
          <a:noFill/>
        </p:spPr>
        <p:txBody>
          <a:bodyPr wrap="square" rtlCol="0">
            <a:spAutoFit/>
          </a:bodyPr>
          <a:lstStyle/>
          <a:p>
            <a:r>
              <a:rPr lang="en-US" dirty="0"/>
              <a:t>000</a:t>
            </a:r>
            <a:endParaRPr lang="en-IN" dirty="0"/>
          </a:p>
        </p:txBody>
      </p:sp>
      <p:sp>
        <p:nvSpPr>
          <p:cNvPr id="9" name="TextBox 8">
            <a:extLst>
              <a:ext uri="{FF2B5EF4-FFF2-40B4-BE49-F238E27FC236}">
                <a16:creationId xmlns:a16="http://schemas.microsoft.com/office/drawing/2014/main" id="{E76FF062-29C3-4442-A532-1B498928FD7C}"/>
              </a:ext>
            </a:extLst>
          </p:cNvPr>
          <p:cNvSpPr txBox="1"/>
          <p:nvPr/>
        </p:nvSpPr>
        <p:spPr>
          <a:xfrm>
            <a:off x="3500177" y="4909734"/>
            <a:ext cx="566777" cy="369332"/>
          </a:xfrm>
          <a:prstGeom prst="rect">
            <a:avLst/>
          </a:prstGeom>
          <a:noFill/>
        </p:spPr>
        <p:txBody>
          <a:bodyPr wrap="square" rtlCol="0">
            <a:spAutoFit/>
          </a:bodyPr>
          <a:lstStyle/>
          <a:p>
            <a:r>
              <a:rPr lang="en-US" dirty="0"/>
              <a:t>777</a:t>
            </a:r>
            <a:endParaRPr lang="en-IN" dirty="0"/>
          </a:p>
        </p:txBody>
      </p:sp>
      <p:sp>
        <p:nvSpPr>
          <p:cNvPr id="10" name="TextBox 9">
            <a:extLst>
              <a:ext uri="{FF2B5EF4-FFF2-40B4-BE49-F238E27FC236}">
                <a16:creationId xmlns:a16="http://schemas.microsoft.com/office/drawing/2014/main" id="{688F1421-E302-4E47-A21D-653841D71B9D}"/>
              </a:ext>
            </a:extLst>
          </p:cNvPr>
          <p:cNvSpPr txBox="1"/>
          <p:nvPr/>
        </p:nvSpPr>
        <p:spPr>
          <a:xfrm>
            <a:off x="3006713" y="3518846"/>
            <a:ext cx="566777" cy="369332"/>
          </a:xfrm>
          <a:prstGeom prst="rect">
            <a:avLst/>
          </a:prstGeom>
          <a:noFill/>
        </p:spPr>
        <p:txBody>
          <a:bodyPr wrap="square" rtlCol="0">
            <a:spAutoFit/>
          </a:bodyPr>
          <a:lstStyle/>
          <a:p>
            <a:r>
              <a:rPr lang="en-US" dirty="0"/>
              <a:t>00</a:t>
            </a:r>
            <a:endParaRPr lang="en-IN" dirty="0"/>
          </a:p>
        </p:txBody>
      </p:sp>
      <p:sp>
        <p:nvSpPr>
          <p:cNvPr id="11" name="TextBox 10">
            <a:extLst>
              <a:ext uri="{FF2B5EF4-FFF2-40B4-BE49-F238E27FC236}">
                <a16:creationId xmlns:a16="http://schemas.microsoft.com/office/drawing/2014/main" id="{FAAD718A-188F-4174-8EA0-477285E9BC14}"/>
              </a:ext>
            </a:extLst>
          </p:cNvPr>
          <p:cNvSpPr txBox="1"/>
          <p:nvPr/>
        </p:nvSpPr>
        <p:spPr>
          <a:xfrm>
            <a:off x="3006712" y="4909734"/>
            <a:ext cx="566777" cy="369332"/>
          </a:xfrm>
          <a:prstGeom prst="rect">
            <a:avLst/>
          </a:prstGeom>
          <a:noFill/>
        </p:spPr>
        <p:txBody>
          <a:bodyPr wrap="square" rtlCol="0">
            <a:spAutoFit/>
          </a:bodyPr>
          <a:lstStyle/>
          <a:p>
            <a:r>
              <a:rPr lang="en-US" dirty="0"/>
              <a:t>77</a:t>
            </a:r>
            <a:endParaRPr lang="en-IN" dirty="0"/>
          </a:p>
        </p:txBody>
      </p:sp>
      <p:cxnSp>
        <p:nvCxnSpPr>
          <p:cNvPr id="12" name="Straight Arrow Connector 11">
            <a:extLst>
              <a:ext uri="{FF2B5EF4-FFF2-40B4-BE49-F238E27FC236}">
                <a16:creationId xmlns:a16="http://schemas.microsoft.com/office/drawing/2014/main" id="{016BD5D3-C27D-4BC6-879E-D6D0BCB13DF3}"/>
              </a:ext>
            </a:extLst>
          </p:cNvPr>
          <p:cNvCxnSpPr>
            <a:stCxn id="6" idx="2"/>
            <a:endCxn id="7" idx="0"/>
          </p:cNvCxnSpPr>
          <p:nvPr/>
        </p:nvCxnSpPr>
        <p:spPr>
          <a:xfrm flipH="1">
            <a:off x="7364965" y="3888178"/>
            <a:ext cx="1" cy="102155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920D197-3811-44CD-BFAB-BD14C300299B}"/>
              </a:ext>
            </a:extLst>
          </p:cNvPr>
          <p:cNvCxnSpPr/>
          <p:nvPr/>
        </p:nvCxnSpPr>
        <p:spPr>
          <a:xfrm flipH="1">
            <a:off x="3484748" y="3888178"/>
            <a:ext cx="1" cy="102155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02A5D54-C43D-4C12-99CC-876432F0598A}"/>
              </a:ext>
            </a:extLst>
          </p:cNvPr>
          <p:cNvSpPr txBox="1"/>
          <p:nvPr/>
        </p:nvSpPr>
        <p:spPr>
          <a:xfrm>
            <a:off x="6452176" y="4040512"/>
            <a:ext cx="912790" cy="646331"/>
          </a:xfrm>
          <a:prstGeom prst="rect">
            <a:avLst/>
          </a:prstGeom>
          <a:noFill/>
        </p:spPr>
        <p:txBody>
          <a:bodyPr wrap="square" rtlCol="0">
            <a:spAutoFit/>
          </a:bodyPr>
          <a:lstStyle/>
          <a:p>
            <a:pPr algn="ctr"/>
            <a:r>
              <a:rPr lang="en-US" dirty="0"/>
              <a:t>Octal</a:t>
            </a:r>
          </a:p>
          <a:p>
            <a:pPr algn="ctr"/>
            <a:r>
              <a:rPr lang="en-US" dirty="0"/>
              <a:t>address</a:t>
            </a:r>
            <a:endParaRPr lang="en-IN" dirty="0"/>
          </a:p>
        </p:txBody>
      </p:sp>
      <p:sp>
        <p:nvSpPr>
          <p:cNvPr id="15" name="TextBox 14">
            <a:extLst>
              <a:ext uri="{FF2B5EF4-FFF2-40B4-BE49-F238E27FC236}">
                <a16:creationId xmlns:a16="http://schemas.microsoft.com/office/drawing/2014/main" id="{0579F343-E8E3-4DB9-ADA0-04BAB32380EA}"/>
              </a:ext>
            </a:extLst>
          </p:cNvPr>
          <p:cNvSpPr txBox="1"/>
          <p:nvPr/>
        </p:nvSpPr>
        <p:spPr>
          <a:xfrm>
            <a:off x="2550317" y="4075770"/>
            <a:ext cx="912790" cy="646331"/>
          </a:xfrm>
          <a:prstGeom prst="rect">
            <a:avLst/>
          </a:prstGeom>
          <a:noFill/>
        </p:spPr>
        <p:txBody>
          <a:bodyPr wrap="square" rtlCol="0">
            <a:spAutoFit/>
          </a:bodyPr>
          <a:lstStyle/>
          <a:p>
            <a:pPr algn="ctr"/>
            <a:r>
              <a:rPr lang="en-US" dirty="0"/>
              <a:t>Octal</a:t>
            </a:r>
          </a:p>
          <a:p>
            <a:pPr algn="ctr"/>
            <a:r>
              <a:rPr lang="en-US" dirty="0"/>
              <a:t>address</a:t>
            </a:r>
            <a:endParaRPr lang="en-IN" dirty="0"/>
          </a:p>
        </p:txBody>
      </p:sp>
      <p:sp>
        <p:nvSpPr>
          <p:cNvPr id="16" name="Rectangle 15">
            <a:extLst>
              <a:ext uri="{FF2B5EF4-FFF2-40B4-BE49-F238E27FC236}">
                <a16:creationId xmlns:a16="http://schemas.microsoft.com/office/drawing/2014/main" id="{8C0BC42D-D873-4641-9AFF-8F9ECCA42745}"/>
              </a:ext>
            </a:extLst>
          </p:cNvPr>
          <p:cNvSpPr/>
          <p:nvPr/>
        </p:nvSpPr>
        <p:spPr>
          <a:xfrm>
            <a:off x="2390554" y="1922456"/>
            <a:ext cx="1023172"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Tag</a:t>
            </a:r>
            <a:endParaRPr lang="en-IN" dirty="0"/>
          </a:p>
        </p:txBody>
      </p:sp>
      <p:sp>
        <p:nvSpPr>
          <p:cNvPr id="17" name="Rectangle 16">
            <a:extLst>
              <a:ext uri="{FF2B5EF4-FFF2-40B4-BE49-F238E27FC236}">
                <a16:creationId xmlns:a16="http://schemas.microsoft.com/office/drawing/2014/main" id="{0D949111-F3BB-4ACE-8CCC-8FB726BFA9CD}"/>
              </a:ext>
            </a:extLst>
          </p:cNvPr>
          <p:cNvSpPr/>
          <p:nvPr/>
        </p:nvSpPr>
        <p:spPr>
          <a:xfrm>
            <a:off x="3413726" y="1922456"/>
            <a:ext cx="1023172"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Index</a:t>
            </a:r>
            <a:endParaRPr lang="en-IN" dirty="0"/>
          </a:p>
        </p:txBody>
      </p:sp>
      <p:cxnSp>
        <p:nvCxnSpPr>
          <p:cNvPr id="18" name="Straight Connector 17">
            <a:extLst>
              <a:ext uri="{FF2B5EF4-FFF2-40B4-BE49-F238E27FC236}">
                <a16:creationId xmlns:a16="http://schemas.microsoft.com/office/drawing/2014/main" id="{A5D7C217-B9E0-41DB-B63C-7E4886F0C02D}"/>
              </a:ext>
            </a:extLst>
          </p:cNvPr>
          <p:cNvCxnSpPr>
            <a:cxnSpLocks/>
          </p:cNvCxnSpPr>
          <p:nvPr/>
        </p:nvCxnSpPr>
        <p:spPr>
          <a:xfrm>
            <a:off x="2917638" y="2291788"/>
            <a:ext cx="0" cy="54506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1DF090A-D84F-4744-94F3-A42E3E3A1E6A}"/>
              </a:ext>
            </a:extLst>
          </p:cNvPr>
          <p:cNvCxnSpPr/>
          <p:nvPr/>
        </p:nvCxnSpPr>
        <p:spPr>
          <a:xfrm>
            <a:off x="3925312" y="2291788"/>
            <a:ext cx="0" cy="54506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91D65C3-71E7-48F1-AD20-CD87F85F6EB5}"/>
              </a:ext>
            </a:extLst>
          </p:cNvPr>
          <p:cNvCxnSpPr>
            <a:cxnSpLocks/>
          </p:cNvCxnSpPr>
          <p:nvPr/>
        </p:nvCxnSpPr>
        <p:spPr>
          <a:xfrm rot="16200000">
            <a:off x="3062039" y="2704457"/>
            <a:ext cx="0" cy="288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814D489-40E8-473E-B35F-3584928CE6E4}"/>
              </a:ext>
            </a:extLst>
          </p:cNvPr>
          <p:cNvCxnSpPr/>
          <p:nvPr/>
        </p:nvCxnSpPr>
        <p:spPr>
          <a:xfrm flipH="1">
            <a:off x="3211042" y="2836856"/>
            <a:ext cx="1" cy="756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E541839-54E0-4A65-9BE0-8EE72EC34D8D}"/>
              </a:ext>
            </a:extLst>
          </p:cNvPr>
          <p:cNvCxnSpPr>
            <a:cxnSpLocks/>
          </p:cNvCxnSpPr>
          <p:nvPr/>
        </p:nvCxnSpPr>
        <p:spPr>
          <a:xfrm>
            <a:off x="3746656" y="2836856"/>
            <a:ext cx="3600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A3EDC3D-0EB5-4F06-B07A-D924524787AD}"/>
              </a:ext>
            </a:extLst>
          </p:cNvPr>
          <p:cNvCxnSpPr/>
          <p:nvPr/>
        </p:nvCxnSpPr>
        <p:spPr>
          <a:xfrm flipH="1">
            <a:off x="3760402" y="2835245"/>
            <a:ext cx="1" cy="756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5B6700F-20CF-4FAE-9E33-51E2542DD9AD}"/>
              </a:ext>
            </a:extLst>
          </p:cNvPr>
          <p:cNvCxnSpPr/>
          <p:nvPr/>
        </p:nvCxnSpPr>
        <p:spPr>
          <a:xfrm flipH="1">
            <a:off x="7351904" y="2832959"/>
            <a:ext cx="1" cy="756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C406A7F-6FF3-4F25-8AF4-40EE94CC65F2}"/>
              </a:ext>
            </a:extLst>
          </p:cNvPr>
          <p:cNvSpPr txBox="1"/>
          <p:nvPr/>
        </p:nvSpPr>
        <p:spPr>
          <a:xfrm>
            <a:off x="2575118" y="1496252"/>
            <a:ext cx="698840" cy="369332"/>
          </a:xfrm>
          <a:prstGeom prst="rect">
            <a:avLst/>
          </a:prstGeom>
          <a:noFill/>
        </p:spPr>
        <p:txBody>
          <a:bodyPr wrap="square" rtlCol="0">
            <a:spAutoFit/>
          </a:bodyPr>
          <a:lstStyle/>
          <a:p>
            <a:r>
              <a:rPr lang="en-IN" dirty="0"/>
              <a:t>6 bits</a:t>
            </a:r>
          </a:p>
        </p:txBody>
      </p:sp>
      <p:sp>
        <p:nvSpPr>
          <p:cNvPr id="26" name="TextBox 25">
            <a:extLst>
              <a:ext uri="{FF2B5EF4-FFF2-40B4-BE49-F238E27FC236}">
                <a16:creationId xmlns:a16="http://schemas.microsoft.com/office/drawing/2014/main" id="{78522398-576C-4538-981F-8A424595FB90}"/>
              </a:ext>
            </a:extLst>
          </p:cNvPr>
          <p:cNvSpPr txBox="1"/>
          <p:nvPr/>
        </p:nvSpPr>
        <p:spPr>
          <a:xfrm>
            <a:off x="3610922" y="1493696"/>
            <a:ext cx="698840" cy="369332"/>
          </a:xfrm>
          <a:prstGeom prst="rect">
            <a:avLst/>
          </a:prstGeom>
          <a:noFill/>
        </p:spPr>
        <p:txBody>
          <a:bodyPr wrap="square" rtlCol="0">
            <a:spAutoFit/>
          </a:bodyPr>
          <a:lstStyle/>
          <a:p>
            <a:r>
              <a:rPr lang="en-IN" dirty="0"/>
              <a:t>9 bits</a:t>
            </a:r>
          </a:p>
        </p:txBody>
      </p:sp>
    </p:spTree>
    <p:extLst>
      <p:ext uri="{BB962C8B-B14F-4D97-AF65-F5344CB8AC3E}">
        <p14:creationId xmlns:p14="http://schemas.microsoft.com/office/powerpoint/2010/main" val="3227960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2ACDF-84DA-47CC-8E60-A880FA21D1E0}"/>
              </a:ext>
            </a:extLst>
          </p:cNvPr>
          <p:cNvSpPr>
            <a:spLocks noGrp="1"/>
          </p:cNvSpPr>
          <p:nvPr>
            <p:ph type="title"/>
          </p:nvPr>
        </p:nvSpPr>
        <p:spPr/>
        <p:txBody>
          <a:bodyPr/>
          <a:lstStyle/>
          <a:p>
            <a:r>
              <a:rPr lang="en-US" dirty="0"/>
              <a:t>Direct Mapping</a:t>
            </a:r>
            <a:endParaRPr lang="en-IN" dirty="0"/>
          </a:p>
        </p:txBody>
      </p:sp>
      <p:sp>
        <p:nvSpPr>
          <p:cNvPr id="4" name="Rectangle 3">
            <a:extLst>
              <a:ext uri="{FF2B5EF4-FFF2-40B4-BE49-F238E27FC236}">
                <a16:creationId xmlns:a16="http://schemas.microsoft.com/office/drawing/2014/main" id="{BCCCC5A6-4B22-4D86-BB1F-D5C3BD025AB0}"/>
              </a:ext>
            </a:extLst>
          </p:cNvPr>
          <p:cNvSpPr/>
          <p:nvPr/>
        </p:nvSpPr>
        <p:spPr>
          <a:xfrm>
            <a:off x="3678865" y="1576897"/>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1 2 2 0</a:t>
            </a:r>
          </a:p>
        </p:txBody>
      </p:sp>
      <p:sp>
        <p:nvSpPr>
          <p:cNvPr id="5" name="Rectangle 4">
            <a:extLst>
              <a:ext uri="{FF2B5EF4-FFF2-40B4-BE49-F238E27FC236}">
                <a16:creationId xmlns:a16="http://schemas.microsoft.com/office/drawing/2014/main" id="{9BAEDE5B-C2A3-4E04-A72E-F261A7634844}"/>
              </a:ext>
            </a:extLst>
          </p:cNvPr>
          <p:cNvSpPr/>
          <p:nvPr/>
        </p:nvSpPr>
        <p:spPr>
          <a:xfrm>
            <a:off x="3678865" y="1936897"/>
            <a:ext cx="1371600" cy="55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279FE153-9914-42B8-8D44-6692FB96F207}"/>
              </a:ext>
            </a:extLst>
          </p:cNvPr>
          <p:cNvSpPr/>
          <p:nvPr/>
        </p:nvSpPr>
        <p:spPr>
          <a:xfrm>
            <a:off x="3678865" y="2491297"/>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2 3 4 0</a:t>
            </a:r>
          </a:p>
        </p:txBody>
      </p:sp>
      <p:sp>
        <p:nvSpPr>
          <p:cNvPr id="7" name="Rectangle 6">
            <a:extLst>
              <a:ext uri="{FF2B5EF4-FFF2-40B4-BE49-F238E27FC236}">
                <a16:creationId xmlns:a16="http://schemas.microsoft.com/office/drawing/2014/main" id="{13C1AE22-9593-4B2A-88A4-7347AE18ECAC}"/>
              </a:ext>
            </a:extLst>
          </p:cNvPr>
          <p:cNvSpPr/>
          <p:nvPr/>
        </p:nvSpPr>
        <p:spPr>
          <a:xfrm>
            <a:off x="3678865" y="2851297"/>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3 4 5 0</a:t>
            </a:r>
          </a:p>
        </p:txBody>
      </p:sp>
      <p:sp>
        <p:nvSpPr>
          <p:cNvPr id="8" name="Rectangle 7">
            <a:extLst>
              <a:ext uri="{FF2B5EF4-FFF2-40B4-BE49-F238E27FC236}">
                <a16:creationId xmlns:a16="http://schemas.microsoft.com/office/drawing/2014/main" id="{252B432A-BE17-40C7-AEEE-1F509918D241}"/>
              </a:ext>
            </a:extLst>
          </p:cNvPr>
          <p:cNvSpPr/>
          <p:nvPr/>
        </p:nvSpPr>
        <p:spPr>
          <a:xfrm>
            <a:off x="3678865" y="3211297"/>
            <a:ext cx="1371600" cy="5576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Rectangle 8">
            <a:extLst>
              <a:ext uri="{FF2B5EF4-FFF2-40B4-BE49-F238E27FC236}">
                <a16:creationId xmlns:a16="http://schemas.microsoft.com/office/drawing/2014/main" id="{C093B03A-9AB8-4073-AACD-01404DC3A02B}"/>
              </a:ext>
            </a:extLst>
          </p:cNvPr>
          <p:cNvSpPr/>
          <p:nvPr/>
        </p:nvSpPr>
        <p:spPr>
          <a:xfrm>
            <a:off x="3678865" y="3710497"/>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4 5 6 0</a:t>
            </a:r>
          </a:p>
        </p:txBody>
      </p:sp>
      <p:sp>
        <p:nvSpPr>
          <p:cNvPr id="10" name="Rectangle 9">
            <a:extLst>
              <a:ext uri="{FF2B5EF4-FFF2-40B4-BE49-F238E27FC236}">
                <a16:creationId xmlns:a16="http://schemas.microsoft.com/office/drawing/2014/main" id="{0709B2AB-F5BF-47BD-8461-2474991B3587}"/>
              </a:ext>
            </a:extLst>
          </p:cNvPr>
          <p:cNvSpPr/>
          <p:nvPr/>
        </p:nvSpPr>
        <p:spPr>
          <a:xfrm>
            <a:off x="3678865" y="4070497"/>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5 6 7 0</a:t>
            </a:r>
          </a:p>
        </p:txBody>
      </p:sp>
      <p:sp>
        <p:nvSpPr>
          <p:cNvPr id="11" name="Rectangle 10">
            <a:extLst>
              <a:ext uri="{FF2B5EF4-FFF2-40B4-BE49-F238E27FC236}">
                <a16:creationId xmlns:a16="http://schemas.microsoft.com/office/drawing/2014/main" id="{B11DD62C-D147-42B0-8C7C-D6C4F23A3722}"/>
              </a:ext>
            </a:extLst>
          </p:cNvPr>
          <p:cNvSpPr/>
          <p:nvPr/>
        </p:nvSpPr>
        <p:spPr>
          <a:xfrm>
            <a:off x="3678865" y="4430497"/>
            <a:ext cx="1371600" cy="57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FFE81074-2179-4811-B031-4AFE28272553}"/>
              </a:ext>
            </a:extLst>
          </p:cNvPr>
          <p:cNvSpPr/>
          <p:nvPr/>
        </p:nvSpPr>
        <p:spPr>
          <a:xfrm>
            <a:off x="3678865" y="5005897"/>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6 7 1 0</a:t>
            </a:r>
          </a:p>
        </p:txBody>
      </p:sp>
      <p:cxnSp>
        <p:nvCxnSpPr>
          <p:cNvPr id="13" name="Straight Arrow Connector 12">
            <a:extLst>
              <a:ext uri="{FF2B5EF4-FFF2-40B4-BE49-F238E27FC236}">
                <a16:creationId xmlns:a16="http://schemas.microsoft.com/office/drawing/2014/main" id="{54547448-CB96-4F3A-B850-C78BDBCCED8F}"/>
              </a:ext>
            </a:extLst>
          </p:cNvPr>
          <p:cNvCxnSpPr/>
          <p:nvPr/>
        </p:nvCxnSpPr>
        <p:spPr>
          <a:xfrm>
            <a:off x="3678865" y="5365897"/>
            <a:ext cx="0" cy="6858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18FD321-29FA-4C28-9DE9-CF40923D678F}"/>
              </a:ext>
            </a:extLst>
          </p:cNvPr>
          <p:cNvCxnSpPr/>
          <p:nvPr/>
        </p:nvCxnSpPr>
        <p:spPr>
          <a:xfrm>
            <a:off x="5051730" y="5365897"/>
            <a:ext cx="0" cy="6858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4537591-E76E-4D06-80AC-5F31BCA75A26}"/>
              </a:ext>
            </a:extLst>
          </p:cNvPr>
          <p:cNvSpPr txBox="1"/>
          <p:nvPr/>
        </p:nvSpPr>
        <p:spPr>
          <a:xfrm>
            <a:off x="2877362" y="1543029"/>
            <a:ext cx="801503" cy="369332"/>
          </a:xfrm>
          <a:prstGeom prst="rect">
            <a:avLst/>
          </a:prstGeom>
          <a:noFill/>
        </p:spPr>
        <p:txBody>
          <a:bodyPr wrap="square" rtlCol="0">
            <a:spAutoFit/>
          </a:bodyPr>
          <a:lstStyle/>
          <a:p>
            <a:r>
              <a:rPr lang="en-IN" dirty="0"/>
              <a:t>00000</a:t>
            </a:r>
          </a:p>
        </p:txBody>
      </p:sp>
      <p:sp>
        <p:nvSpPr>
          <p:cNvPr id="16" name="TextBox 15">
            <a:extLst>
              <a:ext uri="{FF2B5EF4-FFF2-40B4-BE49-F238E27FC236}">
                <a16:creationId xmlns:a16="http://schemas.microsoft.com/office/drawing/2014/main" id="{6325DD61-6832-4F59-A84C-88E4CBEE10E8}"/>
              </a:ext>
            </a:extLst>
          </p:cNvPr>
          <p:cNvSpPr txBox="1"/>
          <p:nvPr/>
        </p:nvSpPr>
        <p:spPr>
          <a:xfrm>
            <a:off x="2877362" y="2486631"/>
            <a:ext cx="801503" cy="369332"/>
          </a:xfrm>
          <a:prstGeom prst="rect">
            <a:avLst/>
          </a:prstGeom>
          <a:noFill/>
        </p:spPr>
        <p:txBody>
          <a:bodyPr wrap="square" rtlCol="0">
            <a:spAutoFit/>
          </a:bodyPr>
          <a:lstStyle/>
          <a:p>
            <a:r>
              <a:rPr lang="en-IN" dirty="0"/>
              <a:t>00777</a:t>
            </a:r>
          </a:p>
        </p:txBody>
      </p:sp>
      <p:sp>
        <p:nvSpPr>
          <p:cNvPr id="17" name="TextBox 16">
            <a:extLst>
              <a:ext uri="{FF2B5EF4-FFF2-40B4-BE49-F238E27FC236}">
                <a16:creationId xmlns:a16="http://schemas.microsoft.com/office/drawing/2014/main" id="{7C94FB41-0837-410B-AA23-6112DCA87C6C}"/>
              </a:ext>
            </a:extLst>
          </p:cNvPr>
          <p:cNvSpPr txBox="1"/>
          <p:nvPr/>
        </p:nvSpPr>
        <p:spPr>
          <a:xfrm>
            <a:off x="2877362" y="2855963"/>
            <a:ext cx="801503" cy="369332"/>
          </a:xfrm>
          <a:prstGeom prst="rect">
            <a:avLst/>
          </a:prstGeom>
          <a:noFill/>
        </p:spPr>
        <p:txBody>
          <a:bodyPr wrap="square" rtlCol="0">
            <a:spAutoFit/>
          </a:bodyPr>
          <a:lstStyle/>
          <a:p>
            <a:r>
              <a:rPr lang="en-IN" dirty="0"/>
              <a:t>01000</a:t>
            </a:r>
          </a:p>
        </p:txBody>
      </p:sp>
      <p:sp>
        <p:nvSpPr>
          <p:cNvPr id="18" name="TextBox 17">
            <a:extLst>
              <a:ext uri="{FF2B5EF4-FFF2-40B4-BE49-F238E27FC236}">
                <a16:creationId xmlns:a16="http://schemas.microsoft.com/office/drawing/2014/main" id="{8312BC2E-EF8C-4FFB-9F94-472CD80D8498}"/>
              </a:ext>
            </a:extLst>
          </p:cNvPr>
          <p:cNvSpPr txBox="1"/>
          <p:nvPr/>
        </p:nvSpPr>
        <p:spPr>
          <a:xfrm>
            <a:off x="2877362" y="3691833"/>
            <a:ext cx="801503" cy="369332"/>
          </a:xfrm>
          <a:prstGeom prst="rect">
            <a:avLst/>
          </a:prstGeom>
          <a:noFill/>
        </p:spPr>
        <p:txBody>
          <a:bodyPr wrap="square" rtlCol="0">
            <a:spAutoFit/>
          </a:bodyPr>
          <a:lstStyle/>
          <a:p>
            <a:r>
              <a:rPr lang="en-IN" dirty="0"/>
              <a:t>01777</a:t>
            </a:r>
          </a:p>
        </p:txBody>
      </p:sp>
      <p:sp>
        <p:nvSpPr>
          <p:cNvPr id="19" name="TextBox 18">
            <a:extLst>
              <a:ext uri="{FF2B5EF4-FFF2-40B4-BE49-F238E27FC236}">
                <a16:creationId xmlns:a16="http://schemas.microsoft.com/office/drawing/2014/main" id="{0C0B211A-FB06-4DB7-816D-8D87F8B06F8D}"/>
              </a:ext>
            </a:extLst>
          </p:cNvPr>
          <p:cNvSpPr txBox="1"/>
          <p:nvPr/>
        </p:nvSpPr>
        <p:spPr>
          <a:xfrm>
            <a:off x="2877362" y="4061165"/>
            <a:ext cx="801503" cy="369332"/>
          </a:xfrm>
          <a:prstGeom prst="rect">
            <a:avLst/>
          </a:prstGeom>
          <a:noFill/>
        </p:spPr>
        <p:txBody>
          <a:bodyPr wrap="square" rtlCol="0">
            <a:spAutoFit/>
          </a:bodyPr>
          <a:lstStyle/>
          <a:p>
            <a:r>
              <a:rPr lang="en-IN" dirty="0"/>
              <a:t>02000</a:t>
            </a:r>
          </a:p>
        </p:txBody>
      </p:sp>
      <p:sp>
        <p:nvSpPr>
          <p:cNvPr id="20" name="TextBox 19">
            <a:extLst>
              <a:ext uri="{FF2B5EF4-FFF2-40B4-BE49-F238E27FC236}">
                <a16:creationId xmlns:a16="http://schemas.microsoft.com/office/drawing/2014/main" id="{C91EB663-183C-4C11-A9D7-A9B0A0FAA893}"/>
              </a:ext>
            </a:extLst>
          </p:cNvPr>
          <p:cNvSpPr txBox="1"/>
          <p:nvPr/>
        </p:nvSpPr>
        <p:spPr>
          <a:xfrm>
            <a:off x="2877361" y="5009433"/>
            <a:ext cx="801503" cy="369332"/>
          </a:xfrm>
          <a:prstGeom prst="rect">
            <a:avLst/>
          </a:prstGeom>
          <a:noFill/>
        </p:spPr>
        <p:txBody>
          <a:bodyPr wrap="square" rtlCol="0">
            <a:spAutoFit/>
          </a:bodyPr>
          <a:lstStyle/>
          <a:p>
            <a:r>
              <a:rPr lang="en-IN" dirty="0"/>
              <a:t>02777</a:t>
            </a:r>
          </a:p>
        </p:txBody>
      </p:sp>
      <p:sp>
        <p:nvSpPr>
          <p:cNvPr id="21" name="TextBox 20">
            <a:extLst>
              <a:ext uri="{FF2B5EF4-FFF2-40B4-BE49-F238E27FC236}">
                <a16:creationId xmlns:a16="http://schemas.microsoft.com/office/drawing/2014/main" id="{C97068FD-AEF4-4D59-ADCC-FEFD903D4DA1}"/>
              </a:ext>
            </a:extLst>
          </p:cNvPr>
          <p:cNvSpPr txBox="1"/>
          <p:nvPr/>
        </p:nvSpPr>
        <p:spPr>
          <a:xfrm>
            <a:off x="3642487" y="1157703"/>
            <a:ext cx="1521848" cy="401321"/>
          </a:xfrm>
          <a:prstGeom prst="rect">
            <a:avLst/>
          </a:prstGeom>
          <a:noFill/>
        </p:spPr>
        <p:txBody>
          <a:bodyPr wrap="square" rtlCol="0">
            <a:spAutoFit/>
          </a:bodyPr>
          <a:lstStyle/>
          <a:p>
            <a:r>
              <a:rPr lang="en-IN" dirty="0"/>
              <a:t>Memory data</a:t>
            </a:r>
          </a:p>
        </p:txBody>
      </p:sp>
      <p:sp>
        <p:nvSpPr>
          <p:cNvPr id="22" name="TextBox 21">
            <a:extLst>
              <a:ext uri="{FF2B5EF4-FFF2-40B4-BE49-F238E27FC236}">
                <a16:creationId xmlns:a16="http://schemas.microsoft.com/office/drawing/2014/main" id="{ECABA191-8FDF-4A84-AC22-FBA931A52467}"/>
              </a:ext>
            </a:extLst>
          </p:cNvPr>
          <p:cNvSpPr txBox="1"/>
          <p:nvPr/>
        </p:nvSpPr>
        <p:spPr>
          <a:xfrm>
            <a:off x="2731441" y="955133"/>
            <a:ext cx="1039442" cy="646331"/>
          </a:xfrm>
          <a:prstGeom prst="rect">
            <a:avLst/>
          </a:prstGeom>
          <a:noFill/>
        </p:spPr>
        <p:txBody>
          <a:bodyPr wrap="square" rtlCol="0">
            <a:spAutoFit/>
          </a:bodyPr>
          <a:lstStyle/>
          <a:p>
            <a:pPr algn="ctr"/>
            <a:r>
              <a:rPr lang="en-IN" dirty="0"/>
              <a:t>Memory address</a:t>
            </a:r>
          </a:p>
        </p:txBody>
      </p:sp>
      <p:sp>
        <p:nvSpPr>
          <p:cNvPr id="23" name="TextBox 22">
            <a:extLst>
              <a:ext uri="{FF2B5EF4-FFF2-40B4-BE49-F238E27FC236}">
                <a16:creationId xmlns:a16="http://schemas.microsoft.com/office/drawing/2014/main" id="{33227F44-8DCC-4A80-BE98-F5E7C402781B}"/>
              </a:ext>
            </a:extLst>
          </p:cNvPr>
          <p:cNvSpPr txBox="1"/>
          <p:nvPr/>
        </p:nvSpPr>
        <p:spPr>
          <a:xfrm>
            <a:off x="3679552" y="6051697"/>
            <a:ext cx="1617845" cy="369332"/>
          </a:xfrm>
          <a:prstGeom prst="rect">
            <a:avLst/>
          </a:prstGeom>
          <a:noFill/>
        </p:spPr>
        <p:txBody>
          <a:bodyPr wrap="square" rtlCol="0">
            <a:spAutoFit/>
          </a:bodyPr>
          <a:lstStyle/>
          <a:p>
            <a:r>
              <a:rPr lang="en-IN" dirty="0"/>
              <a:t>Main Memory</a:t>
            </a:r>
          </a:p>
        </p:txBody>
      </p:sp>
      <p:sp>
        <p:nvSpPr>
          <p:cNvPr id="24" name="Rectangle 23">
            <a:extLst>
              <a:ext uri="{FF2B5EF4-FFF2-40B4-BE49-F238E27FC236}">
                <a16:creationId xmlns:a16="http://schemas.microsoft.com/office/drawing/2014/main" id="{D3126950-4FC5-4DB2-8A8F-EC9FF9B8F0D4}"/>
              </a:ext>
            </a:extLst>
          </p:cNvPr>
          <p:cNvSpPr/>
          <p:nvPr/>
        </p:nvSpPr>
        <p:spPr>
          <a:xfrm>
            <a:off x="7830043" y="1543029"/>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1 2 2 0</a:t>
            </a:r>
          </a:p>
        </p:txBody>
      </p:sp>
      <p:sp>
        <p:nvSpPr>
          <p:cNvPr id="25" name="Rectangle 24">
            <a:extLst>
              <a:ext uri="{FF2B5EF4-FFF2-40B4-BE49-F238E27FC236}">
                <a16:creationId xmlns:a16="http://schemas.microsoft.com/office/drawing/2014/main" id="{94B4911B-8B77-4DF8-8DDF-F1B3804D44A8}"/>
              </a:ext>
            </a:extLst>
          </p:cNvPr>
          <p:cNvSpPr/>
          <p:nvPr/>
        </p:nvSpPr>
        <p:spPr>
          <a:xfrm>
            <a:off x="7830043" y="3681200"/>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6 7 1 0</a:t>
            </a:r>
          </a:p>
        </p:txBody>
      </p:sp>
      <p:sp>
        <p:nvSpPr>
          <p:cNvPr id="26" name="Rectangle 25">
            <a:extLst>
              <a:ext uri="{FF2B5EF4-FFF2-40B4-BE49-F238E27FC236}">
                <a16:creationId xmlns:a16="http://schemas.microsoft.com/office/drawing/2014/main" id="{50840895-B262-42FD-B659-EFED8A5E3D1D}"/>
              </a:ext>
            </a:extLst>
          </p:cNvPr>
          <p:cNvSpPr/>
          <p:nvPr/>
        </p:nvSpPr>
        <p:spPr>
          <a:xfrm>
            <a:off x="7103232" y="1537565"/>
            <a:ext cx="756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0 0</a:t>
            </a:r>
          </a:p>
        </p:txBody>
      </p:sp>
      <p:sp>
        <p:nvSpPr>
          <p:cNvPr id="27" name="Rectangle 26">
            <a:extLst>
              <a:ext uri="{FF2B5EF4-FFF2-40B4-BE49-F238E27FC236}">
                <a16:creationId xmlns:a16="http://schemas.microsoft.com/office/drawing/2014/main" id="{E9F28796-AE81-4565-810A-DB94A039E488}"/>
              </a:ext>
            </a:extLst>
          </p:cNvPr>
          <p:cNvSpPr/>
          <p:nvPr/>
        </p:nvSpPr>
        <p:spPr>
          <a:xfrm>
            <a:off x="7113865" y="3682494"/>
            <a:ext cx="756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0 2</a:t>
            </a:r>
          </a:p>
        </p:txBody>
      </p:sp>
      <p:cxnSp>
        <p:nvCxnSpPr>
          <p:cNvPr id="28" name="Straight Arrow Connector 27">
            <a:extLst>
              <a:ext uri="{FF2B5EF4-FFF2-40B4-BE49-F238E27FC236}">
                <a16:creationId xmlns:a16="http://schemas.microsoft.com/office/drawing/2014/main" id="{4C8B7A54-08D6-4976-91BD-B4EA63A3A04F}"/>
              </a:ext>
            </a:extLst>
          </p:cNvPr>
          <p:cNvCxnSpPr/>
          <p:nvPr/>
        </p:nvCxnSpPr>
        <p:spPr>
          <a:xfrm>
            <a:off x="7124498" y="1903029"/>
            <a:ext cx="0" cy="17640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52EF7B7-B326-4B24-A064-69C49457B6ED}"/>
              </a:ext>
            </a:extLst>
          </p:cNvPr>
          <p:cNvCxnSpPr/>
          <p:nvPr/>
        </p:nvCxnSpPr>
        <p:spPr>
          <a:xfrm>
            <a:off x="7869865" y="1901728"/>
            <a:ext cx="0" cy="17640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47973F4-AE95-4492-B1AE-AC7D7A7B5E1A}"/>
              </a:ext>
            </a:extLst>
          </p:cNvPr>
          <p:cNvCxnSpPr/>
          <p:nvPr/>
        </p:nvCxnSpPr>
        <p:spPr>
          <a:xfrm>
            <a:off x="9191010" y="1917200"/>
            <a:ext cx="0" cy="17640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1445E1D8-343A-4A4F-A116-E82F1D2EF820}"/>
              </a:ext>
            </a:extLst>
          </p:cNvPr>
          <p:cNvSpPr txBox="1"/>
          <p:nvPr/>
        </p:nvSpPr>
        <p:spPr>
          <a:xfrm>
            <a:off x="6560428" y="1540556"/>
            <a:ext cx="547437" cy="369332"/>
          </a:xfrm>
          <a:prstGeom prst="rect">
            <a:avLst/>
          </a:prstGeom>
          <a:noFill/>
        </p:spPr>
        <p:txBody>
          <a:bodyPr wrap="square" rtlCol="0">
            <a:spAutoFit/>
          </a:bodyPr>
          <a:lstStyle/>
          <a:p>
            <a:r>
              <a:rPr lang="en-IN" dirty="0"/>
              <a:t>000</a:t>
            </a:r>
          </a:p>
        </p:txBody>
      </p:sp>
      <p:sp>
        <p:nvSpPr>
          <p:cNvPr id="32" name="TextBox 31">
            <a:extLst>
              <a:ext uri="{FF2B5EF4-FFF2-40B4-BE49-F238E27FC236}">
                <a16:creationId xmlns:a16="http://schemas.microsoft.com/office/drawing/2014/main" id="{7A795378-AA58-42A7-B648-CF9C1EA1BF52}"/>
              </a:ext>
            </a:extLst>
          </p:cNvPr>
          <p:cNvSpPr txBox="1"/>
          <p:nvPr/>
        </p:nvSpPr>
        <p:spPr>
          <a:xfrm>
            <a:off x="6560427" y="3691833"/>
            <a:ext cx="547437" cy="369332"/>
          </a:xfrm>
          <a:prstGeom prst="rect">
            <a:avLst/>
          </a:prstGeom>
          <a:noFill/>
        </p:spPr>
        <p:txBody>
          <a:bodyPr wrap="square" rtlCol="0">
            <a:spAutoFit/>
          </a:bodyPr>
          <a:lstStyle/>
          <a:p>
            <a:r>
              <a:rPr lang="en-IN" dirty="0"/>
              <a:t>777</a:t>
            </a:r>
          </a:p>
        </p:txBody>
      </p:sp>
      <p:sp>
        <p:nvSpPr>
          <p:cNvPr id="33" name="TextBox 32">
            <a:extLst>
              <a:ext uri="{FF2B5EF4-FFF2-40B4-BE49-F238E27FC236}">
                <a16:creationId xmlns:a16="http://schemas.microsoft.com/office/drawing/2014/main" id="{BE5C0870-A03C-4EEB-AEA2-694F8C14C6D7}"/>
              </a:ext>
            </a:extLst>
          </p:cNvPr>
          <p:cNvSpPr txBox="1"/>
          <p:nvPr/>
        </p:nvSpPr>
        <p:spPr>
          <a:xfrm>
            <a:off x="7260265" y="4323680"/>
            <a:ext cx="1660256" cy="369332"/>
          </a:xfrm>
          <a:prstGeom prst="rect">
            <a:avLst/>
          </a:prstGeom>
          <a:noFill/>
        </p:spPr>
        <p:txBody>
          <a:bodyPr wrap="square" rtlCol="0">
            <a:spAutoFit/>
          </a:bodyPr>
          <a:lstStyle/>
          <a:p>
            <a:r>
              <a:rPr lang="en-IN" dirty="0"/>
              <a:t>Cache Memory</a:t>
            </a:r>
          </a:p>
        </p:txBody>
      </p:sp>
      <p:sp>
        <p:nvSpPr>
          <p:cNvPr id="34" name="TextBox 33">
            <a:extLst>
              <a:ext uri="{FF2B5EF4-FFF2-40B4-BE49-F238E27FC236}">
                <a16:creationId xmlns:a16="http://schemas.microsoft.com/office/drawing/2014/main" id="{429BE91C-210E-4D82-ACDD-FE8E5905614C}"/>
              </a:ext>
            </a:extLst>
          </p:cNvPr>
          <p:cNvSpPr txBox="1"/>
          <p:nvPr/>
        </p:nvSpPr>
        <p:spPr>
          <a:xfrm>
            <a:off x="7220574" y="1157703"/>
            <a:ext cx="542582" cy="369332"/>
          </a:xfrm>
          <a:prstGeom prst="rect">
            <a:avLst/>
          </a:prstGeom>
          <a:noFill/>
        </p:spPr>
        <p:txBody>
          <a:bodyPr wrap="square" rtlCol="0">
            <a:spAutoFit/>
          </a:bodyPr>
          <a:lstStyle/>
          <a:p>
            <a:r>
              <a:rPr lang="en-IN" dirty="0"/>
              <a:t>Tag</a:t>
            </a:r>
          </a:p>
        </p:txBody>
      </p:sp>
      <p:sp>
        <p:nvSpPr>
          <p:cNvPr id="35" name="TextBox 34">
            <a:extLst>
              <a:ext uri="{FF2B5EF4-FFF2-40B4-BE49-F238E27FC236}">
                <a16:creationId xmlns:a16="http://schemas.microsoft.com/office/drawing/2014/main" id="{5E8B3672-6762-4480-AA44-7BC43C2AA645}"/>
              </a:ext>
            </a:extLst>
          </p:cNvPr>
          <p:cNvSpPr txBox="1"/>
          <p:nvPr/>
        </p:nvSpPr>
        <p:spPr>
          <a:xfrm>
            <a:off x="8187581" y="1148893"/>
            <a:ext cx="656524" cy="369332"/>
          </a:xfrm>
          <a:prstGeom prst="rect">
            <a:avLst/>
          </a:prstGeom>
          <a:noFill/>
        </p:spPr>
        <p:txBody>
          <a:bodyPr wrap="square" rtlCol="0">
            <a:spAutoFit/>
          </a:bodyPr>
          <a:lstStyle/>
          <a:p>
            <a:r>
              <a:rPr lang="en-IN" dirty="0"/>
              <a:t>Data</a:t>
            </a:r>
          </a:p>
        </p:txBody>
      </p:sp>
      <p:sp>
        <p:nvSpPr>
          <p:cNvPr id="36" name="TextBox 35">
            <a:extLst>
              <a:ext uri="{FF2B5EF4-FFF2-40B4-BE49-F238E27FC236}">
                <a16:creationId xmlns:a16="http://schemas.microsoft.com/office/drawing/2014/main" id="{FD0018EF-7B5B-40A3-B0F8-6781B5C463EB}"/>
              </a:ext>
            </a:extLst>
          </p:cNvPr>
          <p:cNvSpPr txBox="1"/>
          <p:nvPr/>
        </p:nvSpPr>
        <p:spPr>
          <a:xfrm>
            <a:off x="6151690" y="953941"/>
            <a:ext cx="1039442" cy="646331"/>
          </a:xfrm>
          <a:prstGeom prst="rect">
            <a:avLst/>
          </a:prstGeom>
          <a:noFill/>
        </p:spPr>
        <p:txBody>
          <a:bodyPr wrap="square" rtlCol="0">
            <a:spAutoFit/>
          </a:bodyPr>
          <a:lstStyle/>
          <a:p>
            <a:pPr algn="ctr"/>
            <a:r>
              <a:rPr lang="en-IN" dirty="0"/>
              <a:t>Index address</a:t>
            </a:r>
          </a:p>
        </p:txBody>
      </p:sp>
    </p:spTree>
    <p:extLst>
      <p:ext uri="{BB962C8B-B14F-4D97-AF65-F5344CB8AC3E}">
        <p14:creationId xmlns:p14="http://schemas.microsoft.com/office/powerpoint/2010/main" val="3497077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75074-DABC-493A-9C89-9A1D41B81AB1}"/>
              </a:ext>
            </a:extLst>
          </p:cNvPr>
          <p:cNvSpPr>
            <a:spLocks noGrp="1"/>
          </p:cNvSpPr>
          <p:nvPr>
            <p:ph type="title"/>
          </p:nvPr>
        </p:nvSpPr>
        <p:spPr/>
        <p:txBody>
          <a:bodyPr/>
          <a:lstStyle/>
          <a:p>
            <a:r>
              <a:rPr lang="en-US" dirty="0"/>
              <a:t>Set-Associative Mapping</a:t>
            </a:r>
            <a:endParaRPr lang="en-IN" dirty="0"/>
          </a:p>
        </p:txBody>
      </p:sp>
      <p:sp>
        <p:nvSpPr>
          <p:cNvPr id="4" name="Rectangle 3">
            <a:extLst>
              <a:ext uri="{FF2B5EF4-FFF2-40B4-BE49-F238E27FC236}">
                <a16:creationId xmlns:a16="http://schemas.microsoft.com/office/drawing/2014/main" id="{292663C4-546F-4364-9D12-5074150059D9}"/>
              </a:ext>
            </a:extLst>
          </p:cNvPr>
          <p:cNvSpPr/>
          <p:nvPr/>
        </p:nvSpPr>
        <p:spPr>
          <a:xfrm>
            <a:off x="4404588" y="1871694"/>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3 4 5 0</a:t>
            </a:r>
          </a:p>
        </p:txBody>
      </p:sp>
      <p:sp>
        <p:nvSpPr>
          <p:cNvPr id="5" name="Rectangle 4">
            <a:extLst>
              <a:ext uri="{FF2B5EF4-FFF2-40B4-BE49-F238E27FC236}">
                <a16:creationId xmlns:a16="http://schemas.microsoft.com/office/drawing/2014/main" id="{6B7268CE-1233-407B-A739-7AFDF1F4CC65}"/>
              </a:ext>
            </a:extLst>
          </p:cNvPr>
          <p:cNvSpPr/>
          <p:nvPr/>
        </p:nvSpPr>
        <p:spPr>
          <a:xfrm>
            <a:off x="4415221" y="4614894"/>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6 7 1 0</a:t>
            </a:r>
          </a:p>
        </p:txBody>
      </p:sp>
      <p:sp>
        <p:nvSpPr>
          <p:cNvPr id="6" name="Rectangle 5">
            <a:extLst>
              <a:ext uri="{FF2B5EF4-FFF2-40B4-BE49-F238E27FC236}">
                <a16:creationId xmlns:a16="http://schemas.microsoft.com/office/drawing/2014/main" id="{226630B6-0FA9-4AD4-BF85-80028A04F699}"/>
              </a:ext>
            </a:extLst>
          </p:cNvPr>
          <p:cNvSpPr/>
          <p:nvPr/>
        </p:nvSpPr>
        <p:spPr>
          <a:xfrm>
            <a:off x="3677777" y="1866230"/>
            <a:ext cx="756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0 1</a:t>
            </a:r>
          </a:p>
        </p:txBody>
      </p:sp>
      <p:sp>
        <p:nvSpPr>
          <p:cNvPr id="7" name="Rectangle 6">
            <a:extLst>
              <a:ext uri="{FF2B5EF4-FFF2-40B4-BE49-F238E27FC236}">
                <a16:creationId xmlns:a16="http://schemas.microsoft.com/office/drawing/2014/main" id="{BA5BBA98-2A46-440A-8277-5A35685E4925}"/>
              </a:ext>
            </a:extLst>
          </p:cNvPr>
          <p:cNvSpPr/>
          <p:nvPr/>
        </p:nvSpPr>
        <p:spPr>
          <a:xfrm>
            <a:off x="3676132" y="4616227"/>
            <a:ext cx="756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0 2</a:t>
            </a:r>
          </a:p>
        </p:txBody>
      </p:sp>
      <p:cxnSp>
        <p:nvCxnSpPr>
          <p:cNvPr id="8" name="Straight Arrow Connector 7">
            <a:extLst>
              <a:ext uri="{FF2B5EF4-FFF2-40B4-BE49-F238E27FC236}">
                <a16:creationId xmlns:a16="http://schemas.microsoft.com/office/drawing/2014/main" id="{D8C424F2-0F48-4FF1-9728-F7E57F131371}"/>
              </a:ext>
            </a:extLst>
          </p:cNvPr>
          <p:cNvCxnSpPr/>
          <p:nvPr/>
        </p:nvCxnSpPr>
        <p:spPr>
          <a:xfrm>
            <a:off x="3688410" y="2236559"/>
            <a:ext cx="0" cy="23760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651C88A-BDDA-4183-8E1A-EE27560CB90F}"/>
              </a:ext>
            </a:extLst>
          </p:cNvPr>
          <p:cNvCxnSpPr/>
          <p:nvPr/>
        </p:nvCxnSpPr>
        <p:spPr>
          <a:xfrm>
            <a:off x="4433777" y="2230393"/>
            <a:ext cx="0" cy="23760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4267398-F5DC-403E-8B30-313E65C2069C}"/>
              </a:ext>
            </a:extLst>
          </p:cNvPr>
          <p:cNvCxnSpPr/>
          <p:nvPr/>
        </p:nvCxnSpPr>
        <p:spPr>
          <a:xfrm>
            <a:off x="5776188" y="2241000"/>
            <a:ext cx="0" cy="23760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4D68D40-AE3A-4A55-A164-20670AE56E18}"/>
              </a:ext>
            </a:extLst>
          </p:cNvPr>
          <p:cNvSpPr txBox="1"/>
          <p:nvPr/>
        </p:nvSpPr>
        <p:spPr>
          <a:xfrm>
            <a:off x="3134973" y="1869221"/>
            <a:ext cx="547437" cy="369332"/>
          </a:xfrm>
          <a:prstGeom prst="rect">
            <a:avLst/>
          </a:prstGeom>
          <a:noFill/>
        </p:spPr>
        <p:txBody>
          <a:bodyPr wrap="square" rtlCol="0">
            <a:spAutoFit/>
          </a:bodyPr>
          <a:lstStyle/>
          <a:p>
            <a:r>
              <a:rPr lang="en-IN" dirty="0"/>
              <a:t>000</a:t>
            </a:r>
          </a:p>
        </p:txBody>
      </p:sp>
      <p:sp>
        <p:nvSpPr>
          <p:cNvPr id="12" name="TextBox 11">
            <a:extLst>
              <a:ext uri="{FF2B5EF4-FFF2-40B4-BE49-F238E27FC236}">
                <a16:creationId xmlns:a16="http://schemas.microsoft.com/office/drawing/2014/main" id="{EDA1EA58-E92A-46E8-9E00-2C1E82A7843F}"/>
              </a:ext>
            </a:extLst>
          </p:cNvPr>
          <p:cNvSpPr txBox="1"/>
          <p:nvPr/>
        </p:nvSpPr>
        <p:spPr>
          <a:xfrm>
            <a:off x="3134972" y="4614894"/>
            <a:ext cx="547437" cy="369332"/>
          </a:xfrm>
          <a:prstGeom prst="rect">
            <a:avLst/>
          </a:prstGeom>
          <a:noFill/>
        </p:spPr>
        <p:txBody>
          <a:bodyPr wrap="square" rtlCol="0">
            <a:spAutoFit/>
          </a:bodyPr>
          <a:lstStyle/>
          <a:p>
            <a:r>
              <a:rPr lang="en-IN" dirty="0"/>
              <a:t>777</a:t>
            </a:r>
          </a:p>
        </p:txBody>
      </p:sp>
      <p:sp>
        <p:nvSpPr>
          <p:cNvPr id="13" name="TextBox 12">
            <a:extLst>
              <a:ext uri="{FF2B5EF4-FFF2-40B4-BE49-F238E27FC236}">
                <a16:creationId xmlns:a16="http://schemas.microsoft.com/office/drawing/2014/main" id="{CA049939-C898-42B7-8E6B-882BCF21D56E}"/>
              </a:ext>
            </a:extLst>
          </p:cNvPr>
          <p:cNvSpPr txBox="1"/>
          <p:nvPr/>
        </p:nvSpPr>
        <p:spPr>
          <a:xfrm>
            <a:off x="3795119" y="1486368"/>
            <a:ext cx="542582" cy="369332"/>
          </a:xfrm>
          <a:prstGeom prst="rect">
            <a:avLst/>
          </a:prstGeom>
          <a:noFill/>
        </p:spPr>
        <p:txBody>
          <a:bodyPr wrap="square" rtlCol="0">
            <a:spAutoFit/>
          </a:bodyPr>
          <a:lstStyle/>
          <a:p>
            <a:r>
              <a:rPr lang="en-IN" dirty="0"/>
              <a:t>Tag</a:t>
            </a:r>
          </a:p>
        </p:txBody>
      </p:sp>
      <p:sp>
        <p:nvSpPr>
          <p:cNvPr id="14" name="TextBox 13">
            <a:extLst>
              <a:ext uri="{FF2B5EF4-FFF2-40B4-BE49-F238E27FC236}">
                <a16:creationId xmlns:a16="http://schemas.microsoft.com/office/drawing/2014/main" id="{710D2A3D-8E66-476E-B9CE-6D2FDE564847}"/>
              </a:ext>
            </a:extLst>
          </p:cNvPr>
          <p:cNvSpPr txBox="1"/>
          <p:nvPr/>
        </p:nvSpPr>
        <p:spPr>
          <a:xfrm>
            <a:off x="4762126" y="1477558"/>
            <a:ext cx="656524" cy="369332"/>
          </a:xfrm>
          <a:prstGeom prst="rect">
            <a:avLst/>
          </a:prstGeom>
          <a:noFill/>
        </p:spPr>
        <p:txBody>
          <a:bodyPr wrap="square" rtlCol="0">
            <a:spAutoFit/>
          </a:bodyPr>
          <a:lstStyle/>
          <a:p>
            <a:r>
              <a:rPr lang="en-IN" dirty="0"/>
              <a:t>Data</a:t>
            </a:r>
          </a:p>
        </p:txBody>
      </p:sp>
      <p:sp>
        <p:nvSpPr>
          <p:cNvPr id="15" name="TextBox 14">
            <a:extLst>
              <a:ext uri="{FF2B5EF4-FFF2-40B4-BE49-F238E27FC236}">
                <a16:creationId xmlns:a16="http://schemas.microsoft.com/office/drawing/2014/main" id="{D29EDC97-626E-49E0-964E-F532B23DE44A}"/>
              </a:ext>
            </a:extLst>
          </p:cNvPr>
          <p:cNvSpPr txBox="1"/>
          <p:nvPr/>
        </p:nvSpPr>
        <p:spPr>
          <a:xfrm>
            <a:off x="2831064" y="1496950"/>
            <a:ext cx="1039442" cy="369332"/>
          </a:xfrm>
          <a:prstGeom prst="rect">
            <a:avLst/>
          </a:prstGeom>
          <a:noFill/>
        </p:spPr>
        <p:txBody>
          <a:bodyPr wrap="square" rtlCol="0">
            <a:spAutoFit/>
          </a:bodyPr>
          <a:lstStyle/>
          <a:p>
            <a:pPr algn="ctr"/>
            <a:r>
              <a:rPr lang="en-IN" dirty="0"/>
              <a:t>Index</a:t>
            </a:r>
          </a:p>
        </p:txBody>
      </p:sp>
      <p:sp>
        <p:nvSpPr>
          <p:cNvPr id="16" name="Rectangle 15">
            <a:extLst>
              <a:ext uri="{FF2B5EF4-FFF2-40B4-BE49-F238E27FC236}">
                <a16:creationId xmlns:a16="http://schemas.microsoft.com/office/drawing/2014/main" id="{37884248-5536-4E0D-924E-C98E4C226F8F}"/>
              </a:ext>
            </a:extLst>
          </p:cNvPr>
          <p:cNvSpPr/>
          <p:nvPr/>
        </p:nvSpPr>
        <p:spPr>
          <a:xfrm>
            <a:off x="6741043" y="1869247"/>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5 6 7 0</a:t>
            </a:r>
          </a:p>
        </p:txBody>
      </p:sp>
      <p:sp>
        <p:nvSpPr>
          <p:cNvPr id="17" name="Rectangle 16">
            <a:extLst>
              <a:ext uri="{FF2B5EF4-FFF2-40B4-BE49-F238E27FC236}">
                <a16:creationId xmlns:a16="http://schemas.microsoft.com/office/drawing/2014/main" id="{C07B8AB5-2E8D-4909-8E5C-EB8679AB1C10}"/>
              </a:ext>
            </a:extLst>
          </p:cNvPr>
          <p:cNvSpPr/>
          <p:nvPr/>
        </p:nvSpPr>
        <p:spPr>
          <a:xfrm>
            <a:off x="6741043" y="4612447"/>
            <a:ext cx="13716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2 3 4 0</a:t>
            </a:r>
          </a:p>
        </p:txBody>
      </p:sp>
      <p:sp>
        <p:nvSpPr>
          <p:cNvPr id="18" name="Rectangle 17">
            <a:extLst>
              <a:ext uri="{FF2B5EF4-FFF2-40B4-BE49-F238E27FC236}">
                <a16:creationId xmlns:a16="http://schemas.microsoft.com/office/drawing/2014/main" id="{4BAC47A3-0726-4DDD-A581-59AD8872FC33}"/>
              </a:ext>
            </a:extLst>
          </p:cNvPr>
          <p:cNvSpPr/>
          <p:nvPr/>
        </p:nvSpPr>
        <p:spPr>
          <a:xfrm>
            <a:off x="6014232" y="1874416"/>
            <a:ext cx="756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0 2</a:t>
            </a:r>
          </a:p>
        </p:txBody>
      </p:sp>
      <p:sp>
        <p:nvSpPr>
          <p:cNvPr id="19" name="Rectangle 18">
            <a:extLst>
              <a:ext uri="{FF2B5EF4-FFF2-40B4-BE49-F238E27FC236}">
                <a16:creationId xmlns:a16="http://schemas.microsoft.com/office/drawing/2014/main" id="{7CF7848B-FC8B-4F29-A6EF-1FB2B991E1B1}"/>
              </a:ext>
            </a:extLst>
          </p:cNvPr>
          <p:cNvSpPr/>
          <p:nvPr/>
        </p:nvSpPr>
        <p:spPr>
          <a:xfrm>
            <a:off x="6017452" y="4613780"/>
            <a:ext cx="756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0 0</a:t>
            </a:r>
          </a:p>
        </p:txBody>
      </p:sp>
      <p:cxnSp>
        <p:nvCxnSpPr>
          <p:cNvPr id="20" name="Straight Arrow Connector 19">
            <a:extLst>
              <a:ext uri="{FF2B5EF4-FFF2-40B4-BE49-F238E27FC236}">
                <a16:creationId xmlns:a16="http://schemas.microsoft.com/office/drawing/2014/main" id="{0B252043-B319-400E-9B94-240505A9A1DF}"/>
              </a:ext>
            </a:extLst>
          </p:cNvPr>
          <p:cNvCxnSpPr/>
          <p:nvPr/>
        </p:nvCxnSpPr>
        <p:spPr>
          <a:xfrm>
            <a:off x="6014232" y="2234112"/>
            <a:ext cx="0" cy="23760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5C07C30-0D50-47A8-9DAC-DE021DA081F0}"/>
              </a:ext>
            </a:extLst>
          </p:cNvPr>
          <p:cNvCxnSpPr/>
          <p:nvPr/>
        </p:nvCxnSpPr>
        <p:spPr>
          <a:xfrm>
            <a:off x="6770232" y="2227946"/>
            <a:ext cx="0" cy="23760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DBC6AC2-56AF-4635-9AC0-7EC0355EFC5D}"/>
              </a:ext>
            </a:extLst>
          </p:cNvPr>
          <p:cNvCxnSpPr/>
          <p:nvPr/>
        </p:nvCxnSpPr>
        <p:spPr>
          <a:xfrm>
            <a:off x="8102010" y="2227920"/>
            <a:ext cx="0" cy="23760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8E3ADE8-A27A-4AFD-B6F4-F2AAB22C9F60}"/>
              </a:ext>
            </a:extLst>
          </p:cNvPr>
          <p:cNvSpPr txBox="1"/>
          <p:nvPr/>
        </p:nvSpPr>
        <p:spPr>
          <a:xfrm>
            <a:off x="6120941" y="1483921"/>
            <a:ext cx="542582" cy="369332"/>
          </a:xfrm>
          <a:prstGeom prst="rect">
            <a:avLst/>
          </a:prstGeom>
          <a:noFill/>
        </p:spPr>
        <p:txBody>
          <a:bodyPr wrap="square" rtlCol="0">
            <a:spAutoFit/>
          </a:bodyPr>
          <a:lstStyle/>
          <a:p>
            <a:r>
              <a:rPr lang="en-IN" dirty="0"/>
              <a:t>Tag</a:t>
            </a:r>
          </a:p>
        </p:txBody>
      </p:sp>
      <p:sp>
        <p:nvSpPr>
          <p:cNvPr id="24" name="TextBox 23">
            <a:extLst>
              <a:ext uri="{FF2B5EF4-FFF2-40B4-BE49-F238E27FC236}">
                <a16:creationId xmlns:a16="http://schemas.microsoft.com/office/drawing/2014/main" id="{89AEDB56-90A3-41FD-BAE7-7BEAD9BCEE9B}"/>
              </a:ext>
            </a:extLst>
          </p:cNvPr>
          <p:cNvSpPr txBox="1"/>
          <p:nvPr/>
        </p:nvSpPr>
        <p:spPr>
          <a:xfrm>
            <a:off x="7087948" y="1475111"/>
            <a:ext cx="656524" cy="369332"/>
          </a:xfrm>
          <a:prstGeom prst="rect">
            <a:avLst/>
          </a:prstGeom>
          <a:noFill/>
        </p:spPr>
        <p:txBody>
          <a:bodyPr wrap="square" rtlCol="0">
            <a:spAutoFit/>
          </a:bodyPr>
          <a:lstStyle/>
          <a:p>
            <a:r>
              <a:rPr lang="en-IN" dirty="0"/>
              <a:t>Data</a:t>
            </a:r>
          </a:p>
        </p:txBody>
      </p:sp>
      <p:cxnSp>
        <p:nvCxnSpPr>
          <p:cNvPr id="25" name="Straight Connector 24">
            <a:extLst>
              <a:ext uri="{FF2B5EF4-FFF2-40B4-BE49-F238E27FC236}">
                <a16:creationId xmlns:a16="http://schemas.microsoft.com/office/drawing/2014/main" id="{EDD86DF7-1BE4-4B91-9055-24A461F3C783}"/>
              </a:ext>
            </a:extLst>
          </p:cNvPr>
          <p:cNvCxnSpPr/>
          <p:nvPr/>
        </p:nvCxnSpPr>
        <p:spPr>
          <a:xfrm>
            <a:off x="5776188" y="1884249"/>
            <a:ext cx="238044"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9CF3ACD-A470-4E2F-9755-C24F393E6F59}"/>
              </a:ext>
            </a:extLst>
          </p:cNvPr>
          <p:cNvCxnSpPr/>
          <p:nvPr/>
        </p:nvCxnSpPr>
        <p:spPr>
          <a:xfrm>
            <a:off x="5776574" y="2226818"/>
            <a:ext cx="238044"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175CFA3-5631-4EE7-A4F8-2A56C37393D2}"/>
              </a:ext>
            </a:extLst>
          </p:cNvPr>
          <p:cNvCxnSpPr/>
          <p:nvPr/>
        </p:nvCxnSpPr>
        <p:spPr>
          <a:xfrm>
            <a:off x="5771323" y="4618724"/>
            <a:ext cx="238044"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0BFB897-D8E3-4194-931B-CB794587D5F5}"/>
              </a:ext>
            </a:extLst>
          </p:cNvPr>
          <p:cNvCxnSpPr/>
          <p:nvPr/>
        </p:nvCxnSpPr>
        <p:spPr>
          <a:xfrm>
            <a:off x="5776574" y="4976791"/>
            <a:ext cx="238044"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292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Virtual Memory</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- 6</a:t>
            </a:r>
          </a:p>
        </p:txBody>
      </p:sp>
    </p:spTree>
    <p:extLst>
      <p:ext uri="{BB962C8B-B14F-4D97-AF65-F5344CB8AC3E}">
        <p14:creationId xmlns:p14="http://schemas.microsoft.com/office/powerpoint/2010/main" val="3818159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2C52EF-4C17-4650-BF84-C7D6C714ED58}"/>
              </a:ext>
            </a:extLst>
          </p:cNvPr>
          <p:cNvSpPr>
            <a:spLocks noGrp="1"/>
          </p:cNvSpPr>
          <p:nvPr>
            <p:ph type="title"/>
          </p:nvPr>
        </p:nvSpPr>
        <p:spPr/>
        <p:txBody>
          <a:bodyPr/>
          <a:lstStyle/>
          <a:p>
            <a:r>
              <a:rPr lang="en-US" dirty="0"/>
              <a:t>Virtual Memory</a:t>
            </a:r>
            <a:endParaRPr lang="en-IN" dirty="0"/>
          </a:p>
        </p:txBody>
      </p:sp>
      <p:sp>
        <p:nvSpPr>
          <p:cNvPr id="5" name="Content Placeholder 4">
            <a:extLst>
              <a:ext uri="{FF2B5EF4-FFF2-40B4-BE49-F238E27FC236}">
                <a16:creationId xmlns:a16="http://schemas.microsoft.com/office/drawing/2014/main" id="{48C05A0F-619F-4189-A21D-9E2FDE030CCF}"/>
              </a:ext>
            </a:extLst>
          </p:cNvPr>
          <p:cNvSpPr>
            <a:spLocks noGrp="1"/>
          </p:cNvSpPr>
          <p:nvPr>
            <p:ph idx="1"/>
          </p:nvPr>
        </p:nvSpPr>
        <p:spPr/>
        <p:txBody>
          <a:bodyPr/>
          <a:lstStyle/>
          <a:p>
            <a:pPr algn="just"/>
            <a:r>
              <a:rPr lang="en-US" dirty="0"/>
              <a:t>Virtual memory is used to give programmers the illusion that they have a very large memory at their disposal, even though the computer actually has a relatively small main memory. </a:t>
            </a:r>
          </a:p>
          <a:p>
            <a:pPr algn="just"/>
            <a:r>
              <a:rPr lang="en-US" dirty="0"/>
              <a:t>A virtual memory system provides a mechanism for translating program-generated addresses into correct main memory locations.</a:t>
            </a:r>
          </a:p>
          <a:p>
            <a:pPr algn="just"/>
            <a:r>
              <a:rPr lang="en-US" b="1" dirty="0">
                <a:solidFill>
                  <a:schemeClr val="tx2"/>
                </a:solidFill>
              </a:rPr>
              <a:t>Address space</a:t>
            </a:r>
          </a:p>
          <a:p>
            <a:pPr marL="349250" indent="0" algn="just">
              <a:buNone/>
            </a:pPr>
            <a:r>
              <a:rPr lang="en-US" dirty="0"/>
              <a:t>An address used by a programmer will be called a virtual address, and the set of such addresses is known as address space.</a:t>
            </a:r>
          </a:p>
          <a:p>
            <a:pPr algn="just"/>
            <a:r>
              <a:rPr lang="en-US" b="1" dirty="0">
                <a:solidFill>
                  <a:schemeClr val="tx2"/>
                </a:solidFill>
              </a:rPr>
              <a:t>Memory space</a:t>
            </a:r>
          </a:p>
          <a:p>
            <a:pPr marL="349250" indent="0" algn="just">
              <a:buNone/>
            </a:pPr>
            <a:r>
              <a:rPr lang="en-US" dirty="0"/>
              <a:t>An address in main memory is called a location or physical address. The set of such locations is called the memory space.</a:t>
            </a:r>
          </a:p>
          <a:p>
            <a:endParaRPr lang="en-IN" dirty="0"/>
          </a:p>
        </p:txBody>
      </p:sp>
    </p:spTree>
    <p:extLst>
      <p:ext uri="{BB962C8B-B14F-4D97-AF65-F5344CB8AC3E}">
        <p14:creationId xmlns:p14="http://schemas.microsoft.com/office/powerpoint/2010/main" val="3362463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F4B80-5FC3-42DA-8933-4DF9B025A9D5}"/>
              </a:ext>
            </a:extLst>
          </p:cNvPr>
          <p:cNvSpPr>
            <a:spLocks noGrp="1"/>
          </p:cNvSpPr>
          <p:nvPr>
            <p:ph type="title"/>
          </p:nvPr>
        </p:nvSpPr>
        <p:spPr/>
        <p:txBody>
          <a:bodyPr/>
          <a:lstStyle/>
          <a:p>
            <a:r>
              <a:rPr lang="en-US" dirty="0"/>
              <a:t>Virtual Memory</a:t>
            </a:r>
            <a:endParaRPr lang="en-IN" dirty="0"/>
          </a:p>
        </p:txBody>
      </p:sp>
      <p:sp>
        <p:nvSpPr>
          <p:cNvPr id="4" name="Content Placeholder 2">
            <a:extLst>
              <a:ext uri="{FF2B5EF4-FFF2-40B4-BE49-F238E27FC236}">
                <a16:creationId xmlns:a16="http://schemas.microsoft.com/office/drawing/2014/main" id="{6D5314FB-811F-4743-AEC0-FEECDA078012}"/>
              </a:ext>
            </a:extLst>
          </p:cNvPr>
          <p:cNvSpPr>
            <a:spLocks noGrp="1"/>
          </p:cNvSpPr>
          <p:nvPr>
            <p:ph idx="1"/>
          </p:nvPr>
        </p:nvSpPr>
        <p:spPr>
          <a:xfrm>
            <a:off x="137337" y="863010"/>
            <a:ext cx="8763000" cy="582706"/>
          </a:xfrm>
        </p:spPr>
        <p:txBody>
          <a:bodyPr/>
          <a:lstStyle/>
          <a:p>
            <a:r>
              <a:rPr lang="en-US" dirty="0"/>
              <a:t>Relation between Address space &amp; Memory space</a:t>
            </a:r>
          </a:p>
        </p:txBody>
      </p:sp>
      <p:graphicFrame>
        <p:nvGraphicFramePr>
          <p:cNvPr id="5" name="Table 4">
            <a:extLst>
              <a:ext uri="{FF2B5EF4-FFF2-40B4-BE49-F238E27FC236}">
                <a16:creationId xmlns:a16="http://schemas.microsoft.com/office/drawing/2014/main" id="{9B19FAAB-97F6-4C38-8126-3353A2443D2E}"/>
              </a:ext>
            </a:extLst>
          </p:cNvPr>
          <p:cNvGraphicFramePr>
            <a:graphicFrameLocks noGrp="1"/>
          </p:cNvGraphicFramePr>
          <p:nvPr>
            <p:extLst>
              <p:ext uri="{D42A27DB-BD31-4B8C-83A1-F6EECF244321}">
                <p14:modId xmlns:p14="http://schemas.microsoft.com/office/powerpoint/2010/main" val="164899352"/>
              </p:ext>
            </p:extLst>
          </p:nvPr>
        </p:nvGraphicFramePr>
        <p:xfrm>
          <a:off x="3202172" y="1885878"/>
          <a:ext cx="2209800" cy="3662680"/>
        </p:xfrm>
        <a:graphic>
          <a:graphicData uri="http://schemas.openxmlformats.org/drawingml/2006/table">
            <a:tbl>
              <a:tblPr>
                <a:tableStyleId>{5C22544A-7EE6-4342-B048-85BDC9FD1C3A}</a:tableStyleId>
              </a:tblPr>
              <a:tblGrid>
                <a:gridCol w="2209800">
                  <a:extLst>
                    <a:ext uri="{9D8B030D-6E8A-4147-A177-3AD203B41FA5}">
                      <a16:colId xmlns:a16="http://schemas.microsoft.com/office/drawing/2014/main" val="20000"/>
                    </a:ext>
                  </a:extLst>
                </a:gridCol>
              </a:tblGrid>
              <a:tr h="1066800">
                <a:tc>
                  <a:txBody>
                    <a:bodyPr/>
                    <a:lstStyle/>
                    <a:p>
                      <a:pPr algn="ctr"/>
                      <a:endParaRPr lang="en-US"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dirty="0"/>
                        <a:t>Program 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dirty="0"/>
                        <a:t>Data 1,1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dirty="0"/>
                        <a:t>Data 1,2</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endParaRPr lang="en-US"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pPr algn="ctr"/>
                      <a:r>
                        <a:rPr lang="en-US" dirty="0"/>
                        <a:t>Program 2</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algn="ctr"/>
                      <a:r>
                        <a:rPr lang="en-US" dirty="0"/>
                        <a:t>Data 2,1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pPr algn="ctr"/>
                      <a:endParaRPr lang="en-US"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graphicFrame>
        <p:nvGraphicFramePr>
          <p:cNvPr id="6" name="Table 5">
            <a:extLst>
              <a:ext uri="{FF2B5EF4-FFF2-40B4-BE49-F238E27FC236}">
                <a16:creationId xmlns:a16="http://schemas.microsoft.com/office/drawing/2014/main" id="{3D30CFA8-1311-4B58-A710-36A91448C871}"/>
              </a:ext>
            </a:extLst>
          </p:cNvPr>
          <p:cNvGraphicFramePr>
            <a:graphicFrameLocks noGrp="1"/>
          </p:cNvGraphicFramePr>
          <p:nvPr>
            <p:extLst>
              <p:ext uri="{D42A27DB-BD31-4B8C-83A1-F6EECF244321}">
                <p14:modId xmlns:p14="http://schemas.microsoft.com/office/powerpoint/2010/main" val="488547187"/>
              </p:ext>
            </p:extLst>
          </p:nvPr>
        </p:nvGraphicFramePr>
        <p:xfrm>
          <a:off x="6783571" y="2508178"/>
          <a:ext cx="2209800" cy="2418080"/>
        </p:xfrm>
        <a:graphic>
          <a:graphicData uri="http://schemas.openxmlformats.org/drawingml/2006/table">
            <a:tbl>
              <a:tblPr>
                <a:tableStyleId>{5C22544A-7EE6-4342-B048-85BDC9FD1C3A}</a:tableStyleId>
              </a:tblPr>
              <a:tblGrid>
                <a:gridCol w="2209800">
                  <a:extLst>
                    <a:ext uri="{9D8B030D-6E8A-4147-A177-3AD203B41FA5}">
                      <a16:colId xmlns:a16="http://schemas.microsoft.com/office/drawing/2014/main" val="20000"/>
                    </a:ext>
                  </a:extLst>
                </a:gridCol>
              </a:tblGrid>
              <a:tr h="370840">
                <a:tc>
                  <a:txBody>
                    <a:bodyPr/>
                    <a:lstStyle/>
                    <a:p>
                      <a:pPr algn="ctr"/>
                      <a:endParaRPr lang="en-US"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dirty="0"/>
                        <a:t>Program 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r h="934720">
                <a:tc>
                  <a:txBody>
                    <a:bodyPr/>
                    <a:lstStyle/>
                    <a:p>
                      <a:pPr algn="ctr"/>
                      <a:endParaRPr lang="en-US"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dirty="0"/>
                        <a:t>Data 1,1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endParaRPr lang="en-US"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cxnSp>
        <p:nvCxnSpPr>
          <p:cNvPr id="7" name="Straight Arrow Connector 6">
            <a:extLst>
              <a:ext uri="{FF2B5EF4-FFF2-40B4-BE49-F238E27FC236}">
                <a16:creationId xmlns:a16="http://schemas.microsoft.com/office/drawing/2014/main" id="{91BB2F02-DE9E-4CA9-91A2-EB467F02265E}"/>
              </a:ext>
            </a:extLst>
          </p:cNvPr>
          <p:cNvCxnSpPr/>
          <p:nvPr/>
        </p:nvCxnSpPr>
        <p:spPr>
          <a:xfrm flipV="1">
            <a:off x="5411972" y="3060254"/>
            <a:ext cx="1389528" cy="44824"/>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7A762B8-7C22-4DB8-A0FD-2D08FE79B294}"/>
              </a:ext>
            </a:extLst>
          </p:cNvPr>
          <p:cNvCxnSpPr/>
          <p:nvPr/>
        </p:nvCxnSpPr>
        <p:spPr>
          <a:xfrm>
            <a:off x="5411972" y="3521937"/>
            <a:ext cx="1371599" cy="878541"/>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057E3CB-5913-44AF-8801-539D4879E5BB}"/>
              </a:ext>
            </a:extLst>
          </p:cNvPr>
          <p:cNvSpPr txBox="1"/>
          <p:nvPr/>
        </p:nvSpPr>
        <p:spPr>
          <a:xfrm>
            <a:off x="3583171" y="5543478"/>
            <a:ext cx="1537793" cy="369332"/>
          </a:xfrm>
          <a:prstGeom prst="rect">
            <a:avLst/>
          </a:prstGeom>
          <a:noFill/>
        </p:spPr>
        <p:txBody>
          <a:bodyPr wrap="none" rtlCol="0">
            <a:spAutoFit/>
          </a:bodyPr>
          <a:lstStyle/>
          <a:p>
            <a:r>
              <a:rPr lang="en-US" dirty="0"/>
              <a:t>Address Space</a:t>
            </a:r>
          </a:p>
        </p:txBody>
      </p:sp>
      <p:sp>
        <p:nvSpPr>
          <p:cNvPr id="10" name="TextBox 9">
            <a:extLst>
              <a:ext uri="{FF2B5EF4-FFF2-40B4-BE49-F238E27FC236}">
                <a16:creationId xmlns:a16="http://schemas.microsoft.com/office/drawing/2014/main" id="{18582711-9E76-4534-AE58-B29A40E37399}"/>
              </a:ext>
            </a:extLst>
          </p:cNvPr>
          <p:cNvSpPr txBox="1"/>
          <p:nvPr/>
        </p:nvSpPr>
        <p:spPr>
          <a:xfrm>
            <a:off x="7119574" y="4958816"/>
            <a:ext cx="1593257" cy="369332"/>
          </a:xfrm>
          <a:prstGeom prst="rect">
            <a:avLst/>
          </a:prstGeom>
          <a:noFill/>
        </p:spPr>
        <p:txBody>
          <a:bodyPr wrap="none" rtlCol="0">
            <a:spAutoFit/>
          </a:bodyPr>
          <a:lstStyle/>
          <a:p>
            <a:r>
              <a:rPr lang="en-US" dirty="0"/>
              <a:t>Memory Space</a:t>
            </a:r>
          </a:p>
        </p:txBody>
      </p:sp>
      <p:sp>
        <p:nvSpPr>
          <p:cNvPr id="11" name="TextBox 10">
            <a:extLst>
              <a:ext uri="{FF2B5EF4-FFF2-40B4-BE49-F238E27FC236}">
                <a16:creationId xmlns:a16="http://schemas.microsoft.com/office/drawing/2014/main" id="{ED08D6DC-9B7E-4D58-BF00-01557E8EC538}"/>
              </a:ext>
            </a:extLst>
          </p:cNvPr>
          <p:cNvSpPr txBox="1"/>
          <p:nvPr/>
        </p:nvSpPr>
        <p:spPr>
          <a:xfrm>
            <a:off x="3583171" y="5859946"/>
            <a:ext cx="1638590" cy="369332"/>
          </a:xfrm>
          <a:prstGeom prst="rect">
            <a:avLst/>
          </a:prstGeom>
          <a:noFill/>
        </p:spPr>
        <p:txBody>
          <a:bodyPr wrap="none" rtlCol="0">
            <a:spAutoFit/>
          </a:bodyPr>
          <a:lstStyle/>
          <a:p>
            <a:r>
              <a:rPr lang="en-US" i="1" dirty="0"/>
              <a:t>N</a:t>
            </a:r>
            <a:r>
              <a:rPr lang="en-US" dirty="0"/>
              <a:t> = 1024K = 2</a:t>
            </a:r>
            <a:r>
              <a:rPr lang="en-US" baseline="30000" dirty="0"/>
              <a:t>20</a:t>
            </a:r>
          </a:p>
        </p:txBody>
      </p:sp>
      <p:sp>
        <p:nvSpPr>
          <p:cNvPr id="12" name="TextBox 11">
            <a:extLst>
              <a:ext uri="{FF2B5EF4-FFF2-40B4-BE49-F238E27FC236}">
                <a16:creationId xmlns:a16="http://schemas.microsoft.com/office/drawing/2014/main" id="{53859BCA-1D45-4FB8-A22F-F4DB8E867EB9}"/>
              </a:ext>
            </a:extLst>
          </p:cNvPr>
          <p:cNvSpPr txBox="1"/>
          <p:nvPr/>
        </p:nvSpPr>
        <p:spPr>
          <a:xfrm>
            <a:off x="7126181" y="5314878"/>
            <a:ext cx="1452642" cy="369332"/>
          </a:xfrm>
          <a:prstGeom prst="rect">
            <a:avLst/>
          </a:prstGeom>
          <a:noFill/>
        </p:spPr>
        <p:txBody>
          <a:bodyPr wrap="none" rtlCol="0">
            <a:spAutoFit/>
          </a:bodyPr>
          <a:lstStyle/>
          <a:p>
            <a:r>
              <a:rPr lang="en-US" i="1" dirty="0"/>
              <a:t>M</a:t>
            </a:r>
            <a:r>
              <a:rPr lang="en-US" dirty="0"/>
              <a:t> = 32K = 2</a:t>
            </a:r>
            <a:r>
              <a:rPr lang="en-US" baseline="30000" dirty="0"/>
              <a:t>15</a:t>
            </a:r>
          </a:p>
        </p:txBody>
      </p:sp>
      <p:sp>
        <p:nvSpPr>
          <p:cNvPr id="13" name="TextBox 12">
            <a:extLst>
              <a:ext uri="{FF2B5EF4-FFF2-40B4-BE49-F238E27FC236}">
                <a16:creationId xmlns:a16="http://schemas.microsoft.com/office/drawing/2014/main" id="{65CCC22F-CCB8-40C8-9A77-2802F9121E2A}"/>
              </a:ext>
            </a:extLst>
          </p:cNvPr>
          <p:cNvSpPr txBox="1"/>
          <p:nvPr/>
        </p:nvSpPr>
        <p:spPr>
          <a:xfrm>
            <a:off x="3430771" y="1445716"/>
            <a:ext cx="1850891" cy="369332"/>
          </a:xfrm>
          <a:prstGeom prst="rect">
            <a:avLst/>
          </a:prstGeom>
          <a:noFill/>
        </p:spPr>
        <p:txBody>
          <a:bodyPr wrap="none" rtlCol="0">
            <a:spAutoFit/>
          </a:bodyPr>
          <a:lstStyle/>
          <a:p>
            <a:r>
              <a:rPr lang="en-US" dirty="0"/>
              <a:t>Auxiliary Memory</a:t>
            </a:r>
          </a:p>
        </p:txBody>
      </p:sp>
      <p:sp>
        <p:nvSpPr>
          <p:cNvPr id="14" name="TextBox 13">
            <a:extLst>
              <a:ext uri="{FF2B5EF4-FFF2-40B4-BE49-F238E27FC236}">
                <a16:creationId xmlns:a16="http://schemas.microsoft.com/office/drawing/2014/main" id="{C90B3C76-3235-4AEA-87C4-73D7503A165D}"/>
              </a:ext>
            </a:extLst>
          </p:cNvPr>
          <p:cNvSpPr txBox="1"/>
          <p:nvPr/>
        </p:nvSpPr>
        <p:spPr>
          <a:xfrm>
            <a:off x="7115265" y="2126146"/>
            <a:ext cx="1524328" cy="369332"/>
          </a:xfrm>
          <a:prstGeom prst="rect">
            <a:avLst/>
          </a:prstGeom>
          <a:noFill/>
        </p:spPr>
        <p:txBody>
          <a:bodyPr wrap="none" rtlCol="0">
            <a:spAutoFit/>
          </a:bodyPr>
          <a:lstStyle/>
          <a:p>
            <a:r>
              <a:rPr lang="en-US" dirty="0"/>
              <a:t>Main Memory</a:t>
            </a:r>
          </a:p>
        </p:txBody>
      </p:sp>
    </p:spTree>
    <p:extLst>
      <p:ext uri="{BB962C8B-B14F-4D97-AF65-F5344CB8AC3E}">
        <p14:creationId xmlns:p14="http://schemas.microsoft.com/office/powerpoint/2010/main" val="2970096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A618C-91B8-4162-9FB0-28EDB2172AC9}"/>
              </a:ext>
            </a:extLst>
          </p:cNvPr>
          <p:cNvSpPr>
            <a:spLocks noGrp="1"/>
          </p:cNvSpPr>
          <p:nvPr>
            <p:ph type="title"/>
          </p:nvPr>
        </p:nvSpPr>
        <p:spPr/>
        <p:txBody>
          <a:bodyPr/>
          <a:lstStyle/>
          <a:p>
            <a:r>
              <a:rPr lang="en-US" dirty="0"/>
              <a:t>Virtual Memory</a:t>
            </a:r>
            <a:endParaRPr lang="en-IN" dirty="0"/>
          </a:p>
        </p:txBody>
      </p:sp>
      <p:sp>
        <p:nvSpPr>
          <p:cNvPr id="4" name="Rectangle 3">
            <a:extLst>
              <a:ext uri="{FF2B5EF4-FFF2-40B4-BE49-F238E27FC236}">
                <a16:creationId xmlns:a16="http://schemas.microsoft.com/office/drawing/2014/main" id="{E03A2B3F-486D-4581-B667-28DCEDCC8279}"/>
              </a:ext>
            </a:extLst>
          </p:cNvPr>
          <p:cNvSpPr/>
          <p:nvPr/>
        </p:nvSpPr>
        <p:spPr>
          <a:xfrm>
            <a:off x="2142278" y="2542954"/>
            <a:ext cx="1196529"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Virtual address register (20 bits)</a:t>
            </a:r>
          </a:p>
        </p:txBody>
      </p:sp>
      <p:sp>
        <p:nvSpPr>
          <p:cNvPr id="5" name="Rectangle 4">
            <a:extLst>
              <a:ext uri="{FF2B5EF4-FFF2-40B4-BE49-F238E27FC236}">
                <a16:creationId xmlns:a16="http://schemas.microsoft.com/office/drawing/2014/main" id="{8FC15A0D-E17B-4610-8E24-1B300710858A}"/>
              </a:ext>
            </a:extLst>
          </p:cNvPr>
          <p:cNvSpPr/>
          <p:nvPr/>
        </p:nvSpPr>
        <p:spPr>
          <a:xfrm>
            <a:off x="4150242" y="1964616"/>
            <a:ext cx="1196529" cy="23758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Memory mapping table</a:t>
            </a:r>
          </a:p>
        </p:txBody>
      </p:sp>
      <p:sp>
        <p:nvSpPr>
          <p:cNvPr id="6" name="Rectangle 5">
            <a:extLst>
              <a:ext uri="{FF2B5EF4-FFF2-40B4-BE49-F238E27FC236}">
                <a16:creationId xmlns:a16="http://schemas.microsoft.com/office/drawing/2014/main" id="{E746BA9D-37AF-4104-9B01-3DC1BE555B28}"/>
              </a:ext>
            </a:extLst>
          </p:cNvPr>
          <p:cNvSpPr/>
          <p:nvPr/>
        </p:nvSpPr>
        <p:spPr>
          <a:xfrm>
            <a:off x="3956156" y="4773171"/>
            <a:ext cx="1592580" cy="568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Memory table buffer register</a:t>
            </a:r>
          </a:p>
        </p:txBody>
      </p:sp>
      <p:sp>
        <p:nvSpPr>
          <p:cNvPr id="7" name="Rectangle 6">
            <a:extLst>
              <a:ext uri="{FF2B5EF4-FFF2-40B4-BE49-F238E27FC236}">
                <a16:creationId xmlns:a16="http://schemas.microsoft.com/office/drawing/2014/main" id="{E89B2F1E-45E6-4A41-B940-B0E7B90B21CD}"/>
              </a:ext>
            </a:extLst>
          </p:cNvPr>
          <p:cNvSpPr/>
          <p:nvPr/>
        </p:nvSpPr>
        <p:spPr>
          <a:xfrm>
            <a:off x="6558068" y="2414938"/>
            <a:ext cx="1196529" cy="14752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 memory address register (15 bits)</a:t>
            </a:r>
          </a:p>
        </p:txBody>
      </p:sp>
      <p:sp>
        <p:nvSpPr>
          <p:cNvPr id="8" name="Rectangle 7">
            <a:extLst>
              <a:ext uri="{FF2B5EF4-FFF2-40B4-BE49-F238E27FC236}">
                <a16:creationId xmlns:a16="http://schemas.microsoft.com/office/drawing/2014/main" id="{3A0AC5D5-CC16-434C-99CA-0E7A8BE0BB44}"/>
              </a:ext>
            </a:extLst>
          </p:cNvPr>
          <p:cNvSpPr/>
          <p:nvPr/>
        </p:nvSpPr>
        <p:spPr>
          <a:xfrm>
            <a:off x="8569842" y="1964616"/>
            <a:ext cx="1196529" cy="23758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 memory</a:t>
            </a:r>
          </a:p>
        </p:txBody>
      </p:sp>
      <p:sp>
        <p:nvSpPr>
          <p:cNvPr id="9" name="Rectangle 8">
            <a:extLst>
              <a:ext uri="{FF2B5EF4-FFF2-40B4-BE49-F238E27FC236}">
                <a16:creationId xmlns:a16="http://schemas.microsoft.com/office/drawing/2014/main" id="{CFE92CE8-BB35-4268-A2C9-EB3AF9A617EC}"/>
              </a:ext>
            </a:extLst>
          </p:cNvPr>
          <p:cNvSpPr/>
          <p:nvPr/>
        </p:nvSpPr>
        <p:spPr>
          <a:xfrm>
            <a:off x="8371816" y="4773171"/>
            <a:ext cx="1592580" cy="568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 memory buffer register</a:t>
            </a:r>
          </a:p>
        </p:txBody>
      </p:sp>
      <p:cxnSp>
        <p:nvCxnSpPr>
          <p:cNvPr id="10" name="Straight Arrow Connector 9">
            <a:extLst>
              <a:ext uri="{FF2B5EF4-FFF2-40B4-BE49-F238E27FC236}">
                <a16:creationId xmlns:a16="http://schemas.microsoft.com/office/drawing/2014/main" id="{2B97D4A7-B314-4EAB-8D72-DA80B29A12CA}"/>
              </a:ext>
            </a:extLst>
          </p:cNvPr>
          <p:cNvCxnSpPr>
            <a:stCxn id="4" idx="0"/>
          </p:cNvCxnSpPr>
          <p:nvPr/>
        </p:nvCxnSpPr>
        <p:spPr>
          <a:xfrm flipH="1" flipV="1">
            <a:off x="2740542" y="1704754"/>
            <a:ext cx="1" cy="838200"/>
          </a:xfrm>
          <a:prstGeom prst="straightConnector1">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03455FE-B367-4870-966D-06DB7884F758}"/>
              </a:ext>
            </a:extLst>
          </p:cNvPr>
          <p:cNvCxnSpPr>
            <a:stCxn id="6" idx="0"/>
            <a:endCxn id="5" idx="2"/>
          </p:cNvCxnSpPr>
          <p:nvPr/>
        </p:nvCxnSpPr>
        <p:spPr>
          <a:xfrm flipH="1" flipV="1">
            <a:off x="4748507" y="4340492"/>
            <a:ext cx="3939" cy="432679"/>
          </a:xfrm>
          <a:prstGeom prst="straightConnector1">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12" name="Elbow Connector 16">
            <a:extLst>
              <a:ext uri="{FF2B5EF4-FFF2-40B4-BE49-F238E27FC236}">
                <a16:creationId xmlns:a16="http://schemas.microsoft.com/office/drawing/2014/main" id="{1E76D575-C111-4AB1-8034-0C8036112A6C}"/>
              </a:ext>
            </a:extLst>
          </p:cNvPr>
          <p:cNvCxnSpPr>
            <a:stCxn id="6" idx="3"/>
            <a:endCxn id="7" idx="0"/>
          </p:cNvCxnSpPr>
          <p:nvPr/>
        </p:nvCxnSpPr>
        <p:spPr>
          <a:xfrm flipV="1">
            <a:off x="5548736" y="2414938"/>
            <a:ext cx="1607597" cy="2642616"/>
          </a:xfrm>
          <a:prstGeom prst="bentConnector4">
            <a:avLst>
              <a:gd name="adj1" fmla="val 31393"/>
              <a:gd name="adj2" fmla="val 109669"/>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189B89B-3AB1-44E2-A13C-A3B289808A0F}"/>
              </a:ext>
            </a:extLst>
          </p:cNvPr>
          <p:cNvCxnSpPr>
            <a:stCxn id="8" idx="1"/>
            <a:endCxn id="7" idx="3"/>
          </p:cNvCxnSpPr>
          <p:nvPr/>
        </p:nvCxnSpPr>
        <p:spPr>
          <a:xfrm flipH="1">
            <a:off x="7754597" y="3152554"/>
            <a:ext cx="815245" cy="0"/>
          </a:xfrm>
          <a:prstGeom prst="straightConnector1">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3372F4E-9F06-4E87-B11F-68A54F0997C8}"/>
              </a:ext>
            </a:extLst>
          </p:cNvPr>
          <p:cNvCxnSpPr>
            <a:stCxn id="9" idx="0"/>
            <a:endCxn id="8" idx="2"/>
          </p:cNvCxnSpPr>
          <p:nvPr/>
        </p:nvCxnSpPr>
        <p:spPr>
          <a:xfrm flipV="1">
            <a:off x="9168106" y="4340492"/>
            <a:ext cx="1" cy="432679"/>
          </a:xfrm>
          <a:prstGeom prst="straightConnector1">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225D61F-29E7-4562-B381-0746F6C43967}"/>
              </a:ext>
            </a:extLst>
          </p:cNvPr>
          <p:cNvCxnSpPr>
            <a:stCxn id="5" idx="1"/>
            <a:endCxn id="4" idx="3"/>
          </p:cNvCxnSpPr>
          <p:nvPr/>
        </p:nvCxnSpPr>
        <p:spPr>
          <a:xfrm flipH="1">
            <a:off x="3338807" y="3152554"/>
            <a:ext cx="811435" cy="0"/>
          </a:xfrm>
          <a:prstGeom prst="straightConnector1">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FC7E331-50DF-4047-8904-72A1BDE88308}"/>
              </a:ext>
            </a:extLst>
          </p:cNvPr>
          <p:cNvSpPr txBox="1"/>
          <p:nvPr/>
        </p:nvSpPr>
        <p:spPr>
          <a:xfrm>
            <a:off x="2016642" y="1323754"/>
            <a:ext cx="1613134" cy="369332"/>
          </a:xfrm>
          <a:prstGeom prst="rect">
            <a:avLst/>
          </a:prstGeom>
          <a:noFill/>
        </p:spPr>
        <p:txBody>
          <a:bodyPr wrap="none" rtlCol="0">
            <a:spAutoFit/>
          </a:bodyPr>
          <a:lstStyle/>
          <a:p>
            <a:r>
              <a:rPr lang="en-US" dirty="0"/>
              <a:t>Virtual Address</a:t>
            </a:r>
          </a:p>
        </p:txBody>
      </p:sp>
    </p:spTree>
    <p:extLst>
      <p:ext uri="{BB962C8B-B14F-4D97-AF65-F5344CB8AC3E}">
        <p14:creationId xmlns:p14="http://schemas.microsoft.com/office/powerpoint/2010/main" val="12889620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Questions asked in GTU exam</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- 7</a:t>
            </a:r>
          </a:p>
        </p:txBody>
      </p:sp>
    </p:spTree>
    <p:extLst>
      <p:ext uri="{BB962C8B-B14F-4D97-AF65-F5344CB8AC3E}">
        <p14:creationId xmlns:p14="http://schemas.microsoft.com/office/powerpoint/2010/main" val="22215332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7B99A6-2B5E-41DF-9B85-5B80AB2619E0}"/>
              </a:ext>
            </a:extLst>
          </p:cNvPr>
          <p:cNvSpPr>
            <a:spLocks noGrp="1"/>
          </p:cNvSpPr>
          <p:nvPr>
            <p:ph type="title"/>
          </p:nvPr>
        </p:nvSpPr>
        <p:spPr/>
        <p:txBody>
          <a:bodyPr/>
          <a:lstStyle/>
          <a:p>
            <a:r>
              <a:rPr lang="en-IN" dirty="0"/>
              <a:t>Questions asked in GTU exam</a:t>
            </a:r>
          </a:p>
        </p:txBody>
      </p:sp>
      <p:sp>
        <p:nvSpPr>
          <p:cNvPr id="5" name="Content Placeholder 4">
            <a:extLst>
              <a:ext uri="{FF2B5EF4-FFF2-40B4-BE49-F238E27FC236}">
                <a16:creationId xmlns:a16="http://schemas.microsoft.com/office/drawing/2014/main" id="{9D35CD77-AAEB-4DB6-9148-EF6927984AA6}"/>
              </a:ext>
            </a:extLst>
          </p:cNvPr>
          <p:cNvSpPr>
            <a:spLocks noGrp="1"/>
          </p:cNvSpPr>
          <p:nvPr>
            <p:ph idx="1"/>
          </p:nvPr>
        </p:nvSpPr>
        <p:spPr>
          <a:xfrm>
            <a:off x="131180" y="863444"/>
            <a:ext cx="11929641" cy="5686212"/>
          </a:xfrm>
        </p:spPr>
        <p:txBody>
          <a:bodyPr/>
          <a:lstStyle/>
          <a:p>
            <a:pPr marL="457200" indent="-457200" algn="just">
              <a:buFont typeface="+mj-lt"/>
              <a:buAutoNum type="arabicPeriod"/>
            </a:pPr>
            <a:r>
              <a:rPr lang="en-US" dirty="0"/>
              <a:t>For cache memories explain:</a:t>
            </a:r>
          </a:p>
          <a:p>
            <a:pPr marL="857230" lvl="1" indent="-457200">
              <a:buFont typeface="+mj-lt"/>
              <a:buAutoNum type="arabicPeriod"/>
            </a:pPr>
            <a:r>
              <a:rPr lang="en-US" dirty="0"/>
              <a:t>Direct Mapping algorithm </a:t>
            </a:r>
          </a:p>
          <a:p>
            <a:pPr marL="857230" lvl="1" indent="-457200">
              <a:buFont typeface="+mj-lt"/>
              <a:buAutoNum type="arabicPeriod"/>
            </a:pPr>
            <a:r>
              <a:rPr lang="en-US" dirty="0"/>
              <a:t>Set Associative Mapping</a:t>
            </a:r>
          </a:p>
          <a:p>
            <a:pPr marL="857230" lvl="1" indent="-457200">
              <a:buFont typeface="+mj-lt"/>
              <a:buAutoNum type="arabicPeriod"/>
            </a:pPr>
            <a:r>
              <a:rPr lang="en-US" dirty="0"/>
              <a:t>Associative Mapping</a:t>
            </a:r>
          </a:p>
          <a:p>
            <a:pPr marL="457200" indent="-457200" algn="just">
              <a:buFont typeface="+mj-lt"/>
              <a:buAutoNum type="arabicPeriod"/>
            </a:pPr>
            <a:r>
              <a:rPr lang="en-US" dirty="0"/>
              <a:t>What is virtual memory? Explain relation between address space and memory space in virtual memory system.</a:t>
            </a:r>
          </a:p>
          <a:p>
            <a:pPr marL="457200" indent="-457200" algn="just">
              <a:buFont typeface="+mj-lt"/>
              <a:buAutoNum type="arabicPeriod"/>
            </a:pPr>
            <a:r>
              <a:rPr lang="en-US" dirty="0"/>
              <a:t>How main memory is useful in computer system? Explain the memory address map of RAM and ROM.</a:t>
            </a:r>
          </a:p>
          <a:p>
            <a:pPr marL="457200" indent="-457200" algn="just">
              <a:buFont typeface="+mj-lt"/>
              <a:buAutoNum type="arabicPeriod"/>
            </a:pPr>
            <a:r>
              <a:rPr lang="en-US" dirty="0"/>
              <a:t>Write a short note on associative memory.</a:t>
            </a:r>
          </a:p>
          <a:p>
            <a:pPr marL="457200" indent="-457200" algn="just">
              <a:buFont typeface="+mj-lt"/>
              <a:buAutoNum type="arabicPeriod"/>
            </a:pPr>
            <a:r>
              <a:rPr lang="en-US" dirty="0"/>
              <a:t>Content Addressable Memory.</a:t>
            </a:r>
          </a:p>
          <a:p>
            <a:pPr marL="457200" indent="-457200" algn="just">
              <a:buFont typeface="+mj-lt"/>
              <a:buAutoNum type="arabicPeriod" startAt="6"/>
            </a:pPr>
            <a:r>
              <a:rPr lang="en-US" dirty="0"/>
              <a:t>Compare SRAM and DRAM.</a:t>
            </a:r>
          </a:p>
          <a:p>
            <a:pPr marL="457200" indent="-457200" algn="just">
              <a:buFont typeface="+mj-lt"/>
              <a:buAutoNum type="arabicPeriod" startAt="6"/>
            </a:pPr>
            <a:r>
              <a:rPr lang="en-US" dirty="0"/>
              <a:t>Explain what do you understand by Cache memories</a:t>
            </a:r>
          </a:p>
          <a:p>
            <a:pPr marL="457200" indent="-457200" algn="just">
              <a:buFont typeface="+mj-lt"/>
              <a:buAutoNum type="arabicPeriod" startAt="6"/>
            </a:pPr>
            <a:r>
              <a:rPr lang="en-US" dirty="0"/>
              <a:t>What is cache miss and cache hit?</a:t>
            </a:r>
          </a:p>
          <a:p>
            <a:pPr marL="457200" indent="-457200" algn="just">
              <a:buFont typeface="+mj-lt"/>
              <a:buAutoNum type="arabicPeriod" startAt="6"/>
            </a:pPr>
            <a:r>
              <a:rPr lang="en-US" dirty="0"/>
              <a:t>Define hit ratio.</a:t>
            </a:r>
          </a:p>
          <a:p>
            <a:pPr marL="0" indent="0">
              <a:buNone/>
            </a:pPr>
            <a:endParaRPr lang="en-IN" dirty="0"/>
          </a:p>
        </p:txBody>
      </p:sp>
    </p:spTree>
    <p:extLst>
      <p:ext uri="{BB962C8B-B14F-4D97-AF65-F5344CB8AC3E}">
        <p14:creationId xmlns:p14="http://schemas.microsoft.com/office/powerpoint/2010/main" val="3487303316"/>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5564</TotalTime>
  <Words>1711</Words>
  <Application>Microsoft Office PowerPoint</Application>
  <PresentationFormat>Widescreen</PresentationFormat>
  <Paragraphs>356</Paragraphs>
  <Slides>28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Wingdings</vt:lpstr>
      <vt:lpstr>Cambria Math</vt:lpstr>
      <vt:lpstr>Calibri</vt:lpstr>
      <vt:lpstr>Roboto Condensed Light</vt:lpstr>
      <vt:lpstr>Roboto Condensed</vt:lpstr>
      <vt:lpstr>Wingdings 3</vt:lpstr>
      <vt:lpstr>Office Theme</vt:lpstr>
      <vt:lpstr>Unit-9  Memory Organization</vt:lpstr>
      <vt:lpstr>PowerPoint Presentation</vt:lpstr>
      <vt:lpstr>Memory Hierarchy</vt:lpstr>
      <vt:lpstr>Memory Hierarchy</vt:lpstr>
      <vt:lpstr>Main Memory</vt:lpstr>
      <vt:lpstr>Random access memory (RAM)</vt:lpstr>
      <vt:lpstr>SRAM v/s DRAM</vt:lpstr>
      <vt:lpstr>Read-Only Memory (ROM)</vt:lpstr>
      <vt:lpstr>Memory Address Map</vt:lpstr>
      <vt:lpstr>Memory Address Map</vt:lpstr>
      <vt:lpstr>Auxiliary Memory</vt:lpstr>
      <vt:lpstr>Magnetic Disks</vt:lpstr>
      <vt:lpstr>Magnetic Tape</vt:lpstr>
      <vt:lpstr>Associative Memory</vt:lpstr>
      <vt:lpstr>Associative Memory(Content Addressable Memory)</vt:lpstr>
      <vt:lpstr>Associative Memory</vt:lpstr>
      <vt:lpstr>Cache Memory</vt:lpstr>
      <vt:lpstr>Cache Memory</vt:lpstr>
      <vt:lpstr>Associative Mapping </vt:lpstr>
      <vt:lpstr>Direct Mapping</vt:lpstr>
      <vt:lpstr>Direct Mapping</vt:lpstr>
      <vt:lpstr>Set-Associative Mapping</vt:lpstr>
      <vt:lpstr>Virtual Memory</vt:lpstr>
      <vt:lpstr>Virtual Memory</vt:lpstr>
      <vt:lpstr>Virtual Memory</vt:lpstr>
      <vt:lpstr>Virtual Memory</vt:lpstr>
      <vt:lpstr>Questions asked in GTU exam</vt:lpstr>
      <vt:lpstr>Questions asked in GTU exam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Naimish Vadodariya</cp:lastModifiedBy>
  <cp:revision>462</cp:revision>
  <dcterms:created xsi:type="dcterms:W3CDTF">2020-05-01T05:09:15Z</dcterms:created>
  <dcterms:modified xsi:type="dcterms:W3CDTF">2021-05-15T08:27:02Z</dcterms:modified>
</cp:coreProperties>
</file>