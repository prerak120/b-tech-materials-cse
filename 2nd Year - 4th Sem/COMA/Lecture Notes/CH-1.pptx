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902" r:id="rId2"/>
    <p:sldId id="905" r:id="rId3"/>
    <p:sldId id="906" r:id="rId4"/>
    <p:sldId id="907" r:id="rId5"/>
    <p:sldId id="913" r:id="rId6"/>
    <p:sldId id="914" r:id="rId7"/>
    <p:sldId id="915" r:id="rId8"/>
    <p:sldId id="916" r:id="rId9"/>
    <p:sldId id="917" r:id="rId10"/>
    <p:sldId id="918" r:id="rId11"/>
    <p:sldId id="919" r:id="rId12"/>
    <p:sldId id="920" r:id="rId13"/>
    <p:sldId id="921" r:id="rId14"/>
    <p:sldId id="922" r:id="rId15"/>
    <p:sldId id="923" r:id="rId16"/>
    <p:sldId id="924" r:id="rId17"/>
    <p:sldId id="925" r:id="rId18"/>
    <p:sldId id="926" r:id="rId19"/>
    <p:sldId id="927" r:id="rId20"/>
    <p:sldId id="928" r:id="rId21"/>
    <p:sldId id="929" r:id="rId22"/>
    <p:sldId id="930" r:id="rId23"/>
    <p:sldId id="931" r:id="rId24"/>
    <p:sldId id="932" r:id="rId25"/>
    <p:sldId id="933" r:id="rId26"/>
    <p:sldId id="934" r:id="rId27"/>
    <p:sldId id="935" r:id="rId28"/>
    <p:sldId id="936" r:id="rId29"/>
    <p:sldId id="937" r:id="rId30"/>
    <p:sldId id="938" r:id="rId31"/>
    <p:sldId id="939" r:id="rId32"/>
    <p:sldId id="940" r:id="rId33"/>
    <p:sldId id="941" r:id="rId34"/>
    <p:sldId id="908" r:id="rId35"/>
    <p:sldId id="909" r:id="rId36"/>
    <p:sldId id="910" r:id="rId37"/>
    <p:sldId id="911" r:id="rId38"/>
    <p:sldId id="912" r:id="rId39"/>
    <p:sldId id="901" r:id="rId40"/>
    <p:sldId id="942" r:id="rId41"/>
    <p:sldId id="904" r:id="rId42"/>
  </p:sldIdLst>
  <p:sldSz cx="9144000" cy="6858000" type="screen4x3"/>
  <p:notesSz cx="6735763" cy="986948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rgbClr val="8CC63F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rgbClr val="8CC63F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rgbClr val="8CC63F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rgbClr val="8CC63F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rgbClr val="8CC63F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8CC63F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8CC63F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8CC63F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8CC63F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26B"/>
    <a:srgbClr val="FF6600"/>
    <a:srgbClr val="990033"/>
    <a:srgbClr val="35667F"/>
    <a:srgbClr val="1D4575"/>
    <a:srgbClr val="000000"/>
    <a:srgbClr val="709E32"/>
    <a:srgbClr val="FF5050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9462" autoAdjust="0"/>
  </p:normalViewPr>
  <p:slideViewPr>
    <p:cSldViewPr snapToGrid="0">
      <p:cViewPr varScale="1">
        <p:scale>
          <a:sx n="68" d="100"/>
          <a:sy n="68" d="100"/>
        </p:scale>
        <p:origin x="138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3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t" anchorCtr="0" compatLnSpc="1">
            <a:prstTxWarp prst="textNoShape">
              <a:avLst/>
            </a:prstTxWarp>
          </a:bodyPr>
          <a:lstStyle>
            <a:lvl1pPr algn="l" defTabSz="944563" eaLnBrk="0" hangingPunct="0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7938" y="0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t" anchorCtr="0" compatLnSpc="1">
            <a:prstTxWarp prst="textNoShape">
              <a:avLst/>
            </a:prstTxWarp>
          </a:bodyPr>
          <a:lstStyle>
            <a:lvl1pPr algn="r" defTabSz="944563" eaLnBrk="0" hangingPunct="0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5775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b" anchorCtr="0" compatLnSpc="1">
            <a:prstTxWarp prst="textNoShape">
              <a:avLst/>
            </a:prstTxWarp>
          </a:bodyPr>
          <a:lstStyle>
            <a:lvl1pPr algn="l" defTabSz="944563" eaLnBrk="0" hangingPunct="0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7938" y="9375775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b" anchorCtr="0" compatLnSpc="1">
            <a:prstTxWarp prst="textNoShape">
              <a:avLst/>
            </a:prstTxWarp>
          </a:bodyPr>
          <a:lstStyle>
            <a:lvl1pPr algn="r" defTabSz="944563" eaLnBrk="0" hangingPunct="0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C636D-B05C-4912-98C2-E22CFC40E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00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t" anchorCtr="0" compatLnSpc="1">
            <a:prstTxWarp prst="textNoShape">
              <a:avLst/>
            </a:prstTxWarp>
          </a:bodyPr>
          <a:lstStyle>
            <a:lvl1pPr algn="l" defTabSz="944563" eaLnBrk="0" hangingPunct="0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938" y="0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t" anchorCtr="0" compatLnSpc="1">
            <a:prstTxWarp prst="textNoShape">
              <a:avLst/>
            </a:prstTxWarp>
          </a:bodyPr>
          <a:lstStyle>
            <a:lvl1pPr algn="r" defTabSz="944563" eaLnBrk="0" hangingPunct="0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39775"/>
            <a:ext cx="4935538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85763" y="4530725"/>
            <a:ext cx="5943600" cy="477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5775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b" anchorCtr="0" compatLnSpc="1">
            <a:prstTxWarp prst="textNoShape">
              <a:avLst/>
            </a:prstTxWarp>
          </a:bodyPr>
          <a:lstStyle>
            <a:lvl1pPr algn="l" defTabSz="944563" eaLnBrk="0" hangingPunct="0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938" y="9375775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0" tIns="47170" rIns="94340" bIns="47170" numCol="1" anchor="b" anchorCtr="0" compatLnSpc="1">
            <a:prstTxWarp prst="textNoShape">
              <a:avLst/>
            </a:prstTxWarp>
          </a:bodyPr>
          <a:lstStyle>
            <a:lvl1pPr algn="r" defTabSz="944563" eaLnBrk="0" hangingPunct="0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958B043-C736-4FF8-BD7E-D15F0F9DF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57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33363" indent="-233363" algn="l" rtl="0" eaLnBrk="0" fontAlgn="base" hangingPunct="0">
      <a:spcBef>
        <a:spcPct val="30000"/>
      </a:spcBef>
      <a:spcAft>
        <a:spcPct val="0"/>
      </a:spcAft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574675" indent="-227013" algn="l" rtl="0" eaLnBrk="0" fontAlgn="base" hangingPunct="0">
      <a:spcBef>
        <a:spcPct val="30000"/>
      </a:spcBef>
      <a:spcAft>
        <a:spcPct val="0"/>
      </a:spcAft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indent="-223838" algn="l" rtl="0" eaLnBrk="0" fontAlgn="base" hangingPunct="0">
      <a:spcBef>
        <a:spcPct val="30000"/>
      </a:spcBef>
      <a:spcAft>
        <a:spcPct val="0"/>
      </a:spcAft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254125" indent="-222250" algn="l" rtl="0" eaLnBrk="0" fontAlgn="base" hangingPunct="0">
      <a:spcBef>
        <a:spcPct val="30000"/>
      </a:spcBef>
      <a:spcAft>
        <a:spcPct val="0"/>
      </a:spcAft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604963" indent="-233363" algn="l" rtl="0" eaLnBrk="0" fontAlgn="base" hangingPunct="0">
      <a:spcBef>
        <a:spcPct val="30000"/>
      </a:spcBef>
      <a:spcAft>
        <a:spcPct val="0"/>
      </a:spcAft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09E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1004888"/>
            <a:ext cx="8255000" cy="6588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970088"/>
            <a:ext cx="4052887" cy="402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60900" y="1970088"/>
            <a:ext cx="4054475" cy="4022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180263" y="0"/>
            <a:ext cx="1804987" cy="731838"/>
          </a:xfrm>
        </p:spPr>
        <p:txBody>
          <a:bodyPr/>
          <a:lstStyle/>
          <a:p>
            <a:endParaRPr lang="en-US"/>
          </a:p>
        </p:txBody>
      </p:sp>
      <p:pic>
        <p:nvPicPr>
          <p:cNvPr id="300033" name="Picture 1" descr="C:\Documents and Settings\Administrator\My Documents\UNIVERSITY 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0372" y="0"/>
            <a:ext cx="1494846" cy="713536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1004888"/>
            <a:ext cx="8255000" cy="6588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086600" y="0"/>
            <a:ext cx="1868488" cy="779463"/>
          </a:xfrm>
        </p:spPr>
        <p:txBody>
          <a:bodyPr/>
          <a:lstStyle/>
          <a:p>
            <a:endParaRPr lang="en-US"/>
          </a:p>
        </p:txBody>
      </p:sp>
      <p:pic>
        <p:nvPicPr>
          <p:cNvPr id="386050" name="Picture 2" descr="C:\Documents and Settings\Administrator\My Documents\UNIVERSITY 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3395" y="0"/>
            <a:ext cx="1407614" cy="751886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231140" y="6612080"/>
            <a:ext cx="1512570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www.eazynotes.com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951726" y="6381167"/>
            <a:ext cx="1732279" cy="33337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 indent="210185">
              <a:lnSpc>
                <a:spcPts val="1215"/>
              </a:lnSpc>
            </a:pPr>
            <a:r>
              <a:rPr lang="en-US" b="0" spc="-5">
                <a:latin typeface="Arial"/>
                <a:cs typeface="Arial"/>
              </a:rPr>
              <a:t>Gursharan Singh Tatla professorgstatla@gmail.com</a:t>
            </a:r>
            <a:endParaRPr b="0" spc="-5" dirty="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53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-3.jpg"/>
          <p:cNvPicPr>
            <a:picLocks noChangeAspect="1"/>
          </p:cNvPicPr>
          <p:nvPr userDrawn="1"/>
        </p:nvPicPr>
        <p:blipFill>
          <a:blip r:embed="rId10"/>
          <a:srcRect b="12984"/>
          <a:stretch>
            <a:fillRect/>
          </a:stretch>
        </p:blipFill>
        <p:spPr>
          <a:xfrm>
            <a:off x="0" y="2109773"/>
            <a:ext cx="9144000" cy="4291035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1004888"/>
            <a:ext cx="8255000" cy="65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INPUT SLIDE TITLE HERE – ALL CAPS</a:t>
            </a:r>
            <a:br>
              <a:rPr lang="en-US" altLang="zh-CN"/>
            </a:br>
            <a:r>
              <a:rPr lang="en-US" altLang="zh-CN"/>
              <a:t>MAXIMUM OF 2 LINES</a:t>
            </a:r>
          </a:p>
        </p:txBody>
      </p:sp>
      <p:sp>
        <p:nvSpPr>
          <p:cNvPr id="1027" name="Rectangle 6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970088"/>
            <a:ext cx="8259762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</p:txBody>
      </p:sp>
      <p:sp>
        <p:nvSpPr>
          <p:cNvPr id="1098" name="Text Box 74"/>
          <p:cNvSpPr txBox="1">
            <a:spLocks noChangeArrowheads="1"/>
          </p:cNvSpPr>
          <p:nvPr/>
        </p:nvSpPr>
        <p:spPr bwMode="auto">
          <a:xfrm>
            <a:off x="7932738" y="6418263"/>
            <a:ext cx="742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  <a:defRPr/>
            </a:pPr>
            <a:fld id="{211B58B0-E244-4052-8E8E-09D3AB4F360C}" type="slidenum">
              <a:rPr lang="en-US" sz="1000" b="1">
                <a:solidFill>
                  <a:srgbClr val="FFFFFF"/>
                </a:solidFill>
              </a:rPr>
              <a:pPr algn="l" eaLnBrk="0" hangingPunct="0">
                <a:spcBef>
                  <a:spcPct val="50000"/>
                </a:spcBef>
                <a:defRPr/>
              </a:pPr>
              <a:t>‹#›</a:t>
            </a:fld>
            <a:endParaRPr lang="en-US" sz="1000" b="1">
              <a:solidFill>
                <a:srgbClr val="FFFFFF"/>
              </a:solidFill>
            </a:endParaRPr>
          </a:p>
        </p:txBody>
      </p:sp>
      <p:pic>
        <p:nvPicPr>
          <p:cNvPr id="302081" name="Picture 1" descr="C:\Documents and Settings\Administrator\My Documents\UNIVERSITY LOGO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50372" y="0"/>
            <a:ext cx="1447137" cy="772997"/>
          </a:xfrm>
          <a:prstGeom prst="rect">
            <a:avLst/>
          </a:prstGeom>
          <a:noFill/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1" r:id="rId2"/>
    <p:sldLayoutId id="2147483650" r:id="rId3"/>
    <p:sldLayoutId id="2147483649" r:id="rId4"/>
    <p:sldLayoutId id="2147483653" r:id="rId5"/>
    <p:sldLayoutId id="2147483654" r:id="rId6"/>
    <p:sldLayoutId id="2147483655" r:id="rId7"/>
  </p:sldLayoutIdLst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200">
          <a:solidFill>
            <a:srgbClr val="709E3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200">
          <a:solidFill>
            <a:srgbClr val="709E3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200">
          <a:solidFill>
            <a:srgbClr val="709E3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200">
          <a:solidFill>
            <a:srgbClr val="709E3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200">
          <a:solidFill>
            <a:srgbClr val="709E3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234950" indent="-234950" algn="l" rtl="0" eaLnBrk="0" fontAlgn="base" hangingPunct="0">
        <a:spcBef>
          <a:spcPct val="50000"/>
        </a:spcBef>
        <a:spcAft>
          <a:spcPct val="0"/>
        </a:spcAft>
        <a:buClr>
          <a:srgbClr val="00026B"/>
        </a:buClr>
        <a:buSzPct val="125000"/>
        <a:buChar char="•"/>
        <a:defRPr sz="2000">
          <a:solidFill>
            <a:srgbClr val="00026B"/>
          </a:solidFill>
          <a:latin typeface="+mn-lt"/>
          <a:ea typeface="+mn-ea"/>
          <a:cs typeface="+mn-cs"/>
        </a:defRPr>
      </a:lvl1pPr>
      <a:lvl2pPr marL="692150" indent="-342900" algn="l" rtl="0" eaLnBrk="0" fontAlgn="base" hangingPunct="0">
        <a:spcBef>
          <a:spcPct val="50000"/>
        </a:spcBef>
        <a:spcAft>
          <a:spcPct val="0"/>
        </a:spcAft>
        <a:buClr>
          <a:srgbClr val="44687D"/>
        </a:buClr>
        <a:buSzPct val="125000"/>
        <a:buFont typeface="Arial" charset="0"/>
        <a:buChar char="–"/>
        <a:defRPr>
          <a:solidFill>
            <a:srgbClr val="606060"/>
          </a:solidFill>
          <a:latin typeface="+mn-lt"/>
        </a:defRPr>
      </a:lvl2pPr>
      <a:lvl3pPr marL="1035050" indent="-228600" algn="l" rtl="0" eaLnBrk="0" fontAlgn="base" hangingPunct="0">
        <a:spcBef>
          <a:spcPct val="50000"/>
        </a:spcBef>
        <a:spcAft>
          <a:spcPct val="0"/>
        </a:spcAft>
        <a:buClr>
          <a:srgbClr val="44687D"/>
        </a:buClr>
        <a:buSzPct val="125000"/>
        <a:buChar char="•"/>
        <a:defRPr>
          <a:solidFill>
            <a:srgbClr val="606060"/>
          </a:solidFill>
          <a:latin typeface="+mn-lt"/>
        </a:defRPr>
      </a:lvl3pPr>
      <a:lvl4pPr marL="1490663" indent="-341313" algn="l" rtl="0" eaLnBrk="0" fontAlgn="base" hangingPunct="0">
        <a:spcBef>
          <a:spcPct val="50000"/>
        </a:spcBef>
        <a:spcAft>
          <a:spcPct val="0"/>
        </a:spcAft>
        <a:buClr>
          <a:srgbClr val="44687D"/>
        </a:buClr>
        <a:buSzPct val="125000"/>
        <a:buFont typeface="Arial" charset="0"/>
        <a:buChar char="–"/>
        <a:defRPr>
          <a:solidFill>
            <a:srgbClr val="606060"/>
          </a:solidFill>
          <a:latin typeface="+mn-lt"/>
        </a:defRPr>
      </a:lvl4pPr>
      <a:lvl5pPr marL="1833563" indent="-228600" algn="l" rtl="0" eaLnBrk="0" fontAlgn="base" hangingPunct="0">
        <a:spcBef>
          <a:spcPct val="50000"/>
        </a:spcBef>
        <a:spcAft>
          <a:spcPct val="0"/>
        </a:spcAft>
        <a:buClr>
          <a:srgbClr val="44687D"/>
        </a:buClr>
        <a:buSzPct val="125000"/>
        <a:buFont typeface="Arial" charset="0"/>
        <a:buChar char="»"/>
        <a:defRPr sz="1400">
          <a:solidFill>
            <a:srgbClr val="606060"/>
          </a:solidFill>
          <a:latin typeface="+mn-lt"/>
        </a:defRPr>
      </a:lvl5pPr>
      <a:lvl6pPr marL="2290763" indent="-228600" algn="l" rtl="0" fontAlgn="base">
        <a:spcBef>
          <a:spcPct val="50000"/>
        </a:spcBef>
        <a:spcAft>
          <a:spcPct val="0"/>
        </a:spcAft>
        <a:buClr>
          <a:schemeClr val="folHlink"/>
        </a:buClr>
        <a:buSzPct val="125000"/>
        <a:buFont typeface="Arial" charset="0"/>
        <a:buChar char="»"/>
        <a:defRPr sz="1600">
          <a:solidFill>
            <a:srgbClr val="606060"/>
          </a:solidFill>
          <a:latin typeface="+mn-lt"/>
        </a:defRPr>
      </a:lvl6pPr>
      <a:lvl7pPr marL="2747963" indent="-228600" algn="l" rtl="0" fontAlgn="base">
        <a:spcBef>
          <a:spcPct val="50000"/>
        </a:spcBef>
        <a:spcAft>
          <a:spcPct val="0"/>
        </a:spcAft>
        <a:buClr>
          <a:schemeClr val="folHlink"/>
        </a:buClr>
        <a:buSzPct val="125000"/>
        <a:buFont typeface="Arial" charset="0"/>
        <a:buChar char="»"/>
        <a:defRPr sz="1600">
          <a:solidFill>
            <a:srgbClr val="606060"/>
          </a:solidFill>
          <a:latin typeface="+mn-lt"/>
        </a:defRPr>
      </a:lvl7pPr>
      <a:lvl8pPr marL="3205163" indent="-228600" algn="l" rtl="0" fontAlgn="base">
        <a:spcBef>
          <a:spcPct val="50000"/>
        </a:spcBef>
        <a:spcAft>
          <a:spcPct val="0"/>
        </a:spcAft>
        <a:buClr>
          <a:schemeClr val="folHlink"/>
        </a:buClr>
        <a:buSzPct val="125000"/>
        <a:buFont typeface="Arial" charset="0"/>
        <a:buChar char="»"/>
        <a:defRPr sz="1600">
          <a:solidFill>
            <a:srgbClr val="606060"/>
          </a:solidFill>
          <a:latin typeface="+mn-lt"/>
        </a:defRPr>
      </a:lvl8pPr>
      <a:lvl9pPr marL="3662363" indent="-228600" algn="l" rtl="0" fontAlgn="base">
        <a:spcBef>
          <a:spcPct val="50000"/>
        </a:spcBef>
        <a:spcAft>
          <a:spcPct val="0"/>
        </a:spcAft>
        <a:buClr>
          <a:schemeClr val="folHlink"/>
        </a:buClr>
        <a:buSzPct val="125000"/>
        <a:buFont typeface="Arial" charset="0"/>
        <a:buChar char="»"/>
        <a:defRPr sz="1600">
          <a:solidFill>
            <a:srgbClr val="60606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7774" y="1032627"/>
            <a:ext cx="86846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0070C0"/>
                </a:solidFill>
              </a:rPr>
              <a:t>SUBJECT  NAME: Microprocessor</a:t>
            </a:r>
          </a:p>
          <a:p>
            <a:pPr algn="l"/>
            <a:r>
              <a:rPr lang="en-US" sz="3600" b="1" dirty="0">
                <a:solidFill>
                  <a:srgbClr val="0070C0"/>
                </a:solidFill>
              </a:rPr>
              <a:t>SUBJECT  CODE: 303105210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12736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54546" y="715635"/>
            <a:ext cx="8847786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D47206">
                <a:alpha val="39999"/>
              </a:srgbClr>
            </a:outerShdw>
          </a:effectLst>
        </p:spPr>
        <p:txBody>
          <a:bodyPr wrap="square" lIns="0" tIns="0" rIns="0" bIns="0" rtlCol="0" anchor="b">
            <a:spAutoFit/>
          </a:bodyPr>
          <a:lstStyle/>
          <a:p>
            <a:pPr marL="457200" indent="-4572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26B"/>
                </a:solidFill>
              </a:rPr>
              <a:t>A </a:t>
            </a:r>
            <a:r>
              <a:rPr lang="en-US" sz="2800" i="1" dirty="0">
                <a:solidFill>
                  <a:srgbClr val="00026B"/>
                </a:solidFill>
              </a:rPr>
              <a:t>microprocessor </a:t>
            </a:r>
            <a:r>
              <a:rPr lang="en-US" sz="2800" dirty="0">
                <a:solidFill>
                  <a:srgbClr val="00026B"/>
                </a:solidFill>
              </a:rPr>
              <a:t>is a programmable electronics chip that has computing and decision making capabilities similar to central processing unit of a computer. </a:t>
            </a:r>
          </a:p>
          <a:p>
            <a:pPr marL="457200" indent="-4572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5667F"/>
                </a:solidFill>
              </a:rPr>
              <a:t>It is clock driven IC</a:t>
            </a:r>
          </a:p>
          <a:p>
            <a:pPr marL="457200" indent="-4572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It is Si type of semiconductor chip which contain no. of transistors.</a:t>
            </a:r>
          </a:p>
          <a:p>
            <a:pPr marL="457200" indent="-4572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5667F"/>
                </a:solidFill>
              </a:rPr>
              <a:t>It is register array based device.</a:t>
            </a:r>
          </a:p>
          <a:p>
            <a:pPr marL="457200" indent="-457200" algn="l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Microprocessor is used as multipurpose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5808372" y="3026535"/>
            <a:ext cx="2331076" cy="81136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Microprocessor</a:t>
            </a:r>
          </a:p>
        </p:txBody>
      </p:sp>
      <p:cxnSp>
        <p:nvCxnSpPr>
          <p:cNvPr id="5" name="Straight Arrow Connector 4"/>
          <p:cNvCxnSpPr>
            <a:endCxn id="3" idx="1"/>
          </p:cNvCxnSpPr>
          <p:nvPr/>
        </p:nvCxnSpPr>
        <p:spPr bwMode="auto">
          <a:xfrm flipV="1">
            <a:off x="4919730" y="3432220"/>
            <a:ext cx="888642" cy="64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/>
          <p:cNvCxnSpPr>
            <a:stCxn id="3" idx="3"/>
          </p:cNvCxnSpPr>
          <p:nvPr/>
        </p:nvCxnSpPr>
        <p:spPr bwMode="auto">
          <a:xfrm>
            <a:off x="8139448" y="3432220"/>
            <a:ext cx="82424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/>
          <p:cNvSpPr txBox="1"/>
          <p:nvPr/>
        </p:nvSpPr>
        <p:spPr bwMode="auto">
          <a:xfrm>
            <a:off x="4984124" y="3050485"/>
            <a:ext cx="515155" cy="428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D47206">
                <a:alpha val="39999"/>
              </a:srgbClr>
            </a:outerShdw>
          </a:effectLst>
        </p:spPr>
        <p:txBody>
          <a:bodyPr wrap="square" lIns="0" tIns="0" rIns="0" bIns="0" rtlCol="0" anchor="b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800" dirty="0">
                <a:solidFill>
                  <a:srgbClr val="00026B"/>
                </a:solidFill>
              </a:rPr>
              <a:t>I/P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8287555" y="3478487"/>
            <a:ext cx="6568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D47206">
                <a:alpha val="39999"/>
              </a:srgbClr>
            </a:outerShdw>
          </a:effectLst>
        </p:spPr>
        <p:txBody>
          <a:bodyPr wrap="square" lIns="0" tIns="0" rIns="0" bIns="0" rtlCol="0" anchor="b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800" dirty="0">
                <a:solidFill>
                  <a:srgbClr val="00026B"/>
                </a:solidFill>
              </a:rPr>
              <a:t>O/P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606" y="207704"/>
            <a:ext cx="46939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What is Microprocessor?</a:t>
            </a:r>
            <a:endParaRPr lang="en-US" sz="3200" dirty="0"/>
          </a:p>
        </p:txBody>
      </p:sp>
      <p:sp>
        <p:nvSpPr>
          <p:cNvPr id="15" name="Rectangle 14"/>
          <p:cNvSpPr/>
          <p:nvPr/>
        </p:nvSpPr>
        <p:spPr>
          <a:xfrm>
            <a:off x="0" y="4538653"/>
            <a:ext cx="90023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Technology Used: The semiconductor manufacturing technologies used for chips are: </a:t>
            </a:r>
          </a:p>
          <a:p>
            <a:pPr algn="l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 Transistor-Transistor Logic (TTL) </a:t>
            </a:r>
          </a:p>
          <a:p>
            <a:pPr algn="l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 Emitter Coupled Logic (ECL) </a:t>
            </a:r>
          </a:p>
          <a:p>
            <a:pPr algn="l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 Complementary Metal-Oxide Semiconductor (CMOS) </a:t>
            </a:r>
          </a:p>
        </p:txBody>
      </p:sp>
    </p:spTree>
    <p:extLst>
      <p:ext uri="{BB962C8B-B14F-4D97-AF65-F5344CB8AC3E}">
        <p14:creationId xmlns:p14="http://schemas.microsoft.com/office/powerpoint/2010/main" val="2089235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7390"/>
            <a:ext cx="64027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Classification of Microprocessors: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82165"/>
            <a:ext cx="36962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26B"/>
                </a:solidFill>
                <a:latin typeface="Times New Roman" panose="02020603050405020304" pitchFamily="18" charset="0"/>
              </a:rPr>
              <a:t>Based on size of data bus: </a:t>
            </a:r>
            <a:endParaRPr lang="en-US" dirty="0">
              <a:solidFill>
                <a:srgbClr val="00026B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26B"/>
                </a:solidFill>
                <a:latin typeface="Times New Roman" panose="02020603050405020304" pitchFamily="18" charset="0"/>
              </a:rPr>
              <a:t>4-bit microprocessor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26B"/>
                </a:solidFill>
                <a:latin typeface="Times New Roman" panose="02020603050405020304" pitchFamily="18" charset="0"/>
              </a:rPr>
              <a:t> 8-bit microprocessor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26B"/>
                </a:solidFill>
                <a:latin typeface="Times New Roman" panose="02020603050405020304" pitchFamily="18" charset="0"/>
              </a:rPr>
              <a:t> 16-bit microprocessor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26B"/>
                </a:solidFill>
                <a:latin typeface="Times New Roman" panose="02020603050405020304" pitchFamily="18" charset="0"/>
              </a:rPr>
              <a:t> 32-bit microprocessor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21157"/>
            <a:ext cx="92341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i="1" dirty="0">
                <a:solidFill>
                  <a:srgbClr val="990033"/>
                </a:solidFill>
                <a:latin typeface="Times New Roman" panose="02020603050405020304" pitchFamily="18" charset="0"/>
              </a:rPr>
              <a:t>Based on application: </a:t>
            </a:r>
            <a:endParaRPr lang="en-US" dirty="0">
              <a:solidFill>
                <a:srgbClr val="990033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990033"/>
                </a:solidFill>
                <a:latin typeface="Times New Roman" panose="02020603050405020304" pitchFamily="18" charset="0"/>
              </a:rPr>
              <a:t>General-purpose microprocessor- used in general computer system and can be used by programmer for any application. Examples, 8085 to Intel Pentium.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990033"/>
                </a:solidFill>
                <a:latin typeface="Times New Roman" panose="02020603050405020304" pitchFamily="18" charset="0"/>
              </a:rPr>
              <a:t>Microcontroller- microprocessor with built-in memory and ports and can be programmed for any generic control application. Example, 8051.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990033"/>
                </a:solidFill>
                <a:latin typeface="Times New Roman" panose="02020603050405020304" pitchFamily="18" charset="0"/>
              </a:rPr>
              <a:t>Special-purpose processors- designed to handle special functions required for an application. Examples, digital signal processors and application-specific integrated circuit (ASIC) chips.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6715" y="978434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i="1" dirty="0">
                <a:solidFill>
                  <a:srgbClr val="FF6600"/>
                </a:solidFill>
                <a:latin typeface="Times New Roman" panose="02020603050405020304" pitchFamily="18" charset="0"/>
              </a:rPr>
              <a:t>Based on architecture: 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</a:rPr>
              <a:t>Reduced Instruction Set Computer (RISC) processors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</a:rPr>
              <a:t>Complex Instruction Set Computer (CISC) processors </a:t>
            </a:r>
          </a:p>
        </p:txBody>
      </p:sp>
    </p:spTree>
    <p:extLst>
      <p:ext uri="{BB962C8B-B14F-4D97-AF65-F5344CB8AC3E}">
        <p14:creationId xmlns:p14="http://schemas.microsoft.com/office/powerpoint/2010/main" val="351121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05484" y="2811802"/>
            <a:ext cx="5262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History of Microprocessors: </a:t>
            </a:r>
          </a:p>
        </p:txBody>
      </p:sp>
    </p:spTree>
    <p:extLst>
      <p:ext uri="{BB962C8B-B14F-4D97-AF65-F5344CB8AC3E}">
        <p14:creationId xmlns:p14="http://schemas.microsoft.com/office/powerpoint/2010/main" val="2099721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7845" y="2368422"/>
            <a:ext cx="4768850" cy="64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50" dirty="0">
                <a:latin typeface="PMingLiU"/>
                <a:cs typeface="PMingLiU"/>
              </a:rPr>
              <a:t>4-</a:t>
            </a:r>
            <a:r>
              <a:rPr sz="3200" spc="50" dirty="0">
                <a:latin typeface="PMingLiU"/>
                <a:cs typeface="PMingLiU"/>
              </a:rPr>
              <a:t>BIT</a:t>
            </a:r>
            <a:r>
              <a:rPr sz="3200" spc="85" dirty="0">
                <a:latin typeface="PMingLiU"/>
                <a:cs typeface="PMingLiU"/>
              </a:rPr>
              <a:t> </a:t>
            </a:r>
            <a:r>
              <a:rPr sz="4000" spc="-90" dirty="0">
                <a:latin typeface="PMingLiU"/>
                <a:cs typeface="PMingLiU"/>
              </a:rPr>
              <a:t>M</a:t>
            </a:r>
            <a:r>
              <a:rPr sz="3200" spc="-90" dirty="0">
                <a:latin typeface="PMingLiU"/>
                <a:cs typeface="PMingLiU"/>
              </a:rPr>
              <a:t>ICROPROCESSORS</a:t>
            </a:r>
            <a:endParaRPr sz="32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618" y="5883452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4317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</a:t>
            </a:r>
            <a:r>
              <a:rPr spc="15" dirty="0"/>
              <a:t> </a:t>
            </a:r>
            <a:r>
              <a:rPr sz="3000" spc="-5" dirty="0"/>
              <a:t>4004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38427"/>
            <a:ext cx="3266440" cy="270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Introduced in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1971.</a:t>
            </a:r>
            <a:endParaRPr sz="2200">
              <a:latin typeface="Arial"/>
              <a:cs typeface="Arial"/>
            </a:endParaRPr>
          </a:p>
          <a:p>
            <a:pPr marL="285115" marR="5080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It was the first  microprocessor </a:t>
            </a:r>
            <a:r>
              <a:rPr sz="2200" dirty="0">
                <a:latin typeface="Arial"/>
                <a:cs typeface="Arial"/>
              </a:rPr>
              <a:t>by </a:t>
            </a:r>
            <a:r>
              <a:rPr sz="2200" spc="-5" dirty="0">
                <a:latin typeface="Arial"/>
                <a:cs typeface="Arial"/>
              </a:rPr>
              <a:t>Intel.</a:t>
            </a:r>
            <a:endParaRPr sz="22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dirty="0">
                <a:latin typeface="Arial"/>
                <a:cs typeface="Arial"/>
              </a:rPr>
              <a:t>It </a:t>
            </a:r>
            <a:r>
              <a:rPr sz="2200" spc="-5" dirty="0">
                <a:latin typeface="Arial"/>
                <a:cs typeface="Arial"/>
              </a:rPr>
              <a:t>was a 4-bit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µP.</a:t>
            </a:r>
            <a:endParaRPr sz="2200">
              <a:latin typeface="Arial"/>
              <a:cs typeface="Arial"/>
            </a:endParaRPr>
          </a:p>
          <a:p>
            <a:pPr marL="285115" marR="552450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Its </a:t>
            </a:r>
            <a:r>
              <a:rPr sz="2200" dirty="0">
                <a:latin typeface="Arial"/>
                <a:cs typeface="Arial"/>
              </a:rPr>
              <a:t>clock </a:t>
            </a:r>
            <a:r>
              <a:rPr sz="2200" spc="-5" dirty="0">
                <a:latin typeface="Arial"/>
                <a:cs typeface="Arial"/>
              </a:rPr>
              <a:t>speed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was  740KHz.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2028" y="4565142"/>
            <a:ext cx="3219450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It had 2,300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transistors.</a:t>
            </a:r>
            <a:endParaRPr sz="2200">
              <a:latin typeface="Arial"/>
              <a:cs typeface="Arial"/>
            </a:endParaRPr>
          </a:p>
          <a:p>
            <a:pPr marL="285115" marR="22225" indent="-272415" algn="just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It could execute around  60,000 instructions per  second.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3618" y="5883452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600" y="2362200"/>
            <a:ext cx="3076575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5822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</a:t>
            </a:r>
            <a:r>
              <a:rPr spc="15" dirty="0"/>
              <a:t> </a:t>
            </a:r>
            <a:r>
              <a:rPr sz="3000" spc="-5" dirty="0"/>
              <a:t>4040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38934"/>
            <a:ext cx="2922905" cy="970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spc="-5" dirty="0">
                <a:latin typeface="Arial"/>
                <a:cs typeface="Arial"/>
              </a:rPr>
              <a:t>Introduced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1974.</a:t>
            </a:r>
            <a:endParaRPr sz="24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was also </a:t>
            </a:r>
            <a:r>
              <a:rPr sz="2400" dirty="0">
                <a:latin typeface="Arial"/>
                <a:cs typeface="Arial"/>
              </a:rPr>
              <a:t>4-bit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µP.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3618" y="5883452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2362073"/>
            <a:ext cx="3352800" cy="1944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99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7845" y="2368422"/>
            <a:ext cx="4768850" cy="64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50" dirty="0">
                <a:latin typeface="PMingLiU"/>
                <a:cs typeface="PMingLiU"/>
              </a:rPr>
              <a:t>8-</a:t>
            </a:r>
            <a:r>
              <a:rPr sz="3200" spc="50" dirty="0">
                <a:latin typeface="PMingLiU"/>
                <a:cs typeface="PMingLiU"/>
              </a:rPr>
              <a:t>BIT</a:t>
            </a:r>
            <a:r>
              <a:rPr sz="3200" spc="85" dirty="0">
                <a:latin typeface="PMingLiU"/>
                <a:cs typeface="PMingLiU"/>
              </a:rPr>
              <a:t> </a:t>
            </a:r>
            <a:r>
              <a:rPr sz="4000" spc="-90" dirty="0">
                <a:latin typeface="PMingLiU"/>
                <a:cs typeface="PMingLiU"/>
              </a:rPr>
              <a:t>M</a:t>
            </a:r>
            <a:r>
              <a:rPr sz="3200" spc="-90" dirty="0">
                <a:latin typeface="PMingLiU"/>
                <a:cs typeface="PMingLiU"/>
              </a:rPr>
              <a:t>ICROPROCESSORS</a:t>
            </a:r>
            <a:endParaRPr sz="32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618" y="5883452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475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</a:t>
            </a:r>
            <a:r>
              <a:rPr spc="15" dirty="0"/>
              <a:t> </a:t>
            </a:r>
            <a:r>
              <a:rPr sz="3000" spc="-5" dirty="0"/>
              <a:t>8008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38934"/>
            <a:ext cx="3532504" cy="289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spc="-5" dirty="0">
                <a:latin typeface="Arial"/>
                <a:cs typeface="Arial"/>
              </a:rPr>
              <a:t>Introduced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1972.</a:t>
            </a:r>
            <a:endParaRPr sz="24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was </a:t>
            </a:r>
            <a:r>
              <a:rPr sz="2400" dirty="0">
                <a:latin typeface="Arial"/>
                <a:cs typeface="Arial"/>
              </a:rPr>
              <a:t>first 8-bit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µP.</a:t>
            </a:r>
            <a:endParaRPr sz="2400">
              <a:latin typeface="Arial"/>
              <a:cs typeface="Arial"/>
            </a:endParaRPr>
          </a:p>
          <a:p>
            <a:pPr marL="285115" marR="5080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dirty="0">
                <a:latin typeface="Arial"/>
                <a:cs typeface="Arial"/>
              </a:rPr>
              <a:t>Its </a:t>
            </a:r>
            <a:r>
              <a:rPr sz="2400" spc="-5" dirty="0">
                <a:latin typeface="Arial"/>
                <a:cs typeface="Arial"/>
              </a:rPr>
              <a:t>clock speed was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500  KHz.</a:t>
            </a:r>
            <a:endParaRPr sz="2400">
              <a:latin typeface="Arial"/>
              <a:cs typeface="Arial"/>
            </a:endParaRPr>
          </a:p>
          <a:p>
            <a:pPr marL="285115" marR="20320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spc="-5" dirty="0">
                <a:latin typeface="Arial"/>
                <a:cs typeface="Arial"/>
              </a:rPr>
              <a:t>Could execute 50,000  instructions per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second.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3618" y="5883452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1904873"/>
            <a:ext cx="3267075" cy="25956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255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</a:t>
            </a:r>
            <a:r>
              <a:rPr spc="15" dirty="0"/>
              <a:t> </a:t>
            </a:r>
            <a:r>
              <a:rPr sz="3000" spc="-5" dirty="0"/>
              <a:t>8080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38934"/>
            <a:ext cx="3655060" cy="4445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spc="-5" dirty="0">
                <a:latin typeface="Arial"/>
                <a:cs typeface="Arial"/>
              </a:rPr>
              <a:t>Introduced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1974.</a:t>
            </a:r>
            <a:endParaRPr sz="24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was also </a:t>
            </a:r>
            <a:r>
              <a:rPr sz="2400" dirty="0">
                <a:latin typeface="Arial"/>
                <a:cs typeface="Arial"/>
              </a:rPr>
              <a:t>8-bit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µP.</a:t>
            </a:r>
            <a:endParaRPr sz="2400">
              <a:latin typeface="Arial"/>
              <a:cs typeface="Arial"/>
            </a:endParaRPr>
          </a:p>
          <a:p>
            <a:pPr marL="285115" marR="466090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dirty="0">
                <a:latin typeface="Arial"/>
                <a:cs typeface="Arial"/>
              </a:rPr>
              <a:t>Its </a:t>
            </a:r>
            <a:r>
              <a:rPr sz="2400" spc="-5" dirty="0">
                <a:latin typeface="Arial"/>
                <a:cs typeface="Arial"/>
              </a:rPr>
              <a:t>clock speed was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2  </a:t>
            </a:r>
            <a:r>
              <a:rPr sz="2400" dirty="0">
                <a:latin typeface="Arial"/>
                <a:cs typeface="Arial"/>
              </a:rPr>
              <a:t>MHz.</a:t>
            </a:r>
            <a:endParaRPr sz="24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had 6,000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transistors.</a:t>
            </a:r>
            <a:endParaRPr sz="24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spc="-30" dirty="0">
                <a:latin typeface="Arial"/>
                <a:cs typeface="Arial"/>
              </a:rPr>
              <a:t>Was </a:t>
            </a:r>
            <a:r>
              <a:rPr sz="2400" dirty="0">
                <a:latin typeface="Arial"/>
                <a:cs typeface="Arial"/>
              </a:rPr>
              <a:t>10 times faster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endParaRPr sz="2400">
              <a:latin typeface="Arial"/>
              <a:cs typeface="Arial"/>
            </a:endParaRPr>
          </a:p>
          <a:p>
            <a:pPr marL="285115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8008.</a:t>
            </a:r>
            <a:endParaRPr sz="2400">
              <a:latin typeface="Arial"/>
              <a:cs typeface="Arial"/>
            </a:endParaRPr>
          </a:p>
          <a:p>
            <a:pPr marL="285115" marR="142240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spc="-5" dirty="0">
                <a:latin typeface="Arial"/>
                <a:cs typeface="Arial"/>
              </a:rPr>
              <a:t>Could execute 5,00,000  instructions per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second.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3618" y="5883452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600" y="2057400"/>
            <a:ext cx="3762375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7246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</a:t>
            </a:r>
            <a:r>
              <a:rPr spc="15" dirty="0"/>
              <a:t> </a:t>
            </a:r>
            <a:r>
              <a:rPr sz="3000" spc="-5" dirty="0"/>
              <a:t>8085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145059" y="1334294"/>
            <a:ext cx="3684904" cy="4963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Introduced in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1976.</a:t>
            </a:r>
            <a:endParaRPr sz="22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535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It was also </a:t>
            </a:r>
            <a:r>
              <a:rPr sz="2200" dirty="0">
                <a:latin typeface="Arial"/>
                <a:cs typeface="Arial"/>
              </a:rPr>
              <a:t>8-bit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µP.</a:t>
            </a:r>
            <a:endParaRPr sz="22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535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Its </a:t>
            </a:r>
            <a:r>
              <a:rPr sz="2200" dirty="0">
                <a:latin typeface="Arial"/>
                <a:cs typeface="Arial"/>
              </a:rPr>
              <a:t>clock </a:t>
            </a:r>
            <a:r>
              <a:rPr sz="2200" spc="-5" dirty="0">
                <a:latin typeface="Arial"/>
                <a:cs typeface="Arial"/>
              </a:rPr>
              <a:t>speed was 3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MHz.</a:t>
            </a:r>
            <a:endParaRPr sz="2200" dirty="0">
              <a:latin typeface="Arial"/>
              <a:cs typeface="Arial"/>
            </a:endParaRPr>
          </a:p>
          <a:p>
            <a:pPr marL="287020" marR="500380" indent="-274320">
              <a:lnSpc>
                <a:spcPts val="2380"/>
              </a:lnSpc>
              <a:spcBef>
                <a:spcPts val="1835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Its data bus is </a:t>
            </a:r>
            <a:r>
              <a:rPr sz="2200" dirty="0">
                <a:latin typeface="Arial"/>
                <a:cs typeface="Arial"/>
              </a:rPr>
              <a:t>8-bit </a:t>
            </a:r>
            <a:r>
              <a:rPr sz="2200" spc="-5" dirty="0">
                <a:latin typeface="Arial"/>
                <a:cs typeface="Arial"/>
              </a:rPr>
              <a:t>and  address bus is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16-bit.</a:t>
            </a:r>
            <a:endParaRPr sz="22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5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dirty="0">
                <a:latin typeface="Arial"/>
                <a:cs typeface="Arial"/>
              </a:rPr>
              <a:t>It </a:t>
            </a:r>
            <a:r>
              <a:rPr sz="2200" spc="-5" dirty="0">
                <a:latin typeface="Arial"/>
                <a:cs typeface="Arial"/>
              </a:rPr>
              <a:t>had 6,500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transistors.</a:t>
            </a:r>
          </a:p>
          <a:p>
            <a:pPr marL="287020" marR="440055" indent="-274320">
              <a:lnSpc>
                <a:spcPts val="2380"/>
              </a:lnSpc>
              <a:spcBef>
                <a:spcPts val="183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Could execute 7,69,230  instructions per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second.</a:t>
            </a:r>
            <a:endParaRPr sz="2200" dirty="0">
              <a:latin typeface="Arial"/>
              <a:cs typeface="Arial"/>
            </a:endParaRPr>
          </a:p>
          <a:p>
            <a:pPr marL="287020" indent="-274320">
              <a:lnSpc>
                <a:spcPts val="2510"/>
              </a:lnSpc>
              <a:spcBef>
                <a:spcPts val="15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dirty="0">
                <a:latin typeface="Arial"/>
                <a:cs typeface="Arial"/>
              </a:rPr>
              <a:t>It could access </a:t>
            </a:r>
            <a:r>
              <a:rPr sz="2200" spc="-5" dirty="0">
                <a:latin typeface="Arial"/>
                <a:cs typeface="Arial"/>
              </a:rPr>
              <a:t>64 KB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of</a:t>
            </a:r>
            <a:endParaRPr sz="2200" dirty="0">
              <a:latin typeface="Arial"/>
              <a:cs typeface="Arial"/>
            </a:endParaRPr>
          </a:p>
          <a:p>
            <a:pPr marL="287020">
              <a:lnSpc>
                <a:spcPts val="2510"/>
              </a:lnSpc>
            </a:pPr>
            <a:r>
              <a:rPr sz="2200" spc="-30" dirty="0">
                <a:latin typeface="Arial"/>
                <a:cs typeface="Arial"/>
              </a:rPr>
              <a:t>memory.</a:t>
            </a:r>
            <a:endParaRPr sz="22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535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It had 246 instructions.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" y="2663698"/>
            <a:ext cx="3267075" cy="2135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869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6113" y="2368422"/>
            <a:ext cx="5046345" cy="64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95" dirty="0">
                <a:latin typeface="PMingLiU"/>
                <a:cs typeface="PMingLiU"/>
              </a:rPr>
              <a:t>16-</a:t>
            </a:r>
            <a:r>
              <a:rPr sz="3200" spc="95" dirty="0">
                <a:latin typeface="PMingLiU"/>
                <a:cs typeface="PMingLiU"/>
              </a:rPr>
              <a:t>BIT</a:t>
            </a:r>
            <a:r>
              <a:rPr sz="3200" spc="75" dirty="0">
                <a:latin typeface="PMingLiU"/>
                <a:cs typeface="PMingLiU"/>
              </a:rPr>
              <a:t> </a:t>
            </a:r>
            <a:r>
              <a:rPr sz="4000" spc="-90" dirty="0">
                <a:latin typeface="PMingLiU"/>
                <a:cs typeface="PMingLiU"/>
              </a:rPr>
              <a:t>M</a:t>
            </a:r>
            <a:r>
              <a:rPr sz="3200" spc="-90" dirty="0">
                <a:latin typeface="PMingLiU"/>
                <a:cs typeface="PMingLiU"/>
              </a:rPr>
              <a:t>ICROPROCESSORS</a:t>
            </a:r>
            <a:endParaRPr sz="32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27897" y="5883452"/>
            <a:ext cx="20574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319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04366"/>
            <a:ext cx="1852930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565F6C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565F6C"/>
                </a:solidFill>
                <a:latin typeface="Arial"/>
                <a:cs typeface="Arial"/>
              </a:rPr>
              <a:t>NTEL</a:t>
            </a:r>
            <a:r>
              <a:rPr sz="2400" spc="15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3000" spc="-5" dirty="0">
                <a:solidFill>
                  <a:srgbClr val="565F6C"/>
                </a:solidFill>
                <a:latin typeface="Arial"/>
                <a:cs typeface="Arial"/>
              </a:rPr>
              <a:t>8086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2028" y="420115"/>
            <a:ext cx="236728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solidFill>
                  <a:srgbClr val="000000"/>
                </a:solidFill>
              </a:rPr>
              <a:t>Introduced in</a:t>
            </a:r>
            <a:r>
              <a:rPr sz="1900" spc="-15" dirty="0">
                <a:solidFill>
                  <a:srgbClr val="000000"/>
                </a:solidFill>
              </a:rPr>
              <a:t> </a:t>
            </a:r>
            <a:r>
              <a:rPr sz="1900" spc="-5" dirty="0">
                <a:solidFill>
                  <a:srgbClr val="000000"/>
                </a:solidFill>
              </a:rPr>
              <a:t>1978.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4042028" y="938529"/>
            <a:ext cx="3780790" cy="4568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 </a:t>
            </a:r>
            <a:r>
              <a:rPr sz="1900" spc="-10" dirty="0">
                <a:latin typeface="Arial"/>
                <a:cs typeface="Arial"/>
              </a:rPr>
              <a:t>was </a:t>
            </a:r>
            <a:r>
              <a:rPr sz="1900" spc="-5" dirty="0">
                <a:latin typeface="Arial"/>
                <a:cs typeface="Arial"/>
              </a:rPr>
              <a:t>first 16-bit </a:t>
            </a:r>
            <a:r>
              <a:rPr sz="1900" spc="-85" dirty="0">
                <a:latin typeface="Arial"/>
                <a:cs typeface="Arial"/>
              </a:rPr>
              <a:t>µP.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Clr>
                <a:srgbClr val="FD8537"/>
              </a:buClr>
              <a:buFont typeface="Wingdings"/>
              <a:buChar char=""/>
            </a:pPr>
            <a:endParaRPr sz="1550" dirty="0">
              <a:latin typeface="Times New Roman"/>
              <a:cs typeface="Times New Roman"/>
            </a:endParaRPr>
          </a:p>
          <a:p>
            <a:pPr marL="287020" marR="1778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Its clock speed is 4.77 MHz, 8  MHz and 10 MHz, depending on  the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version.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Clr>
                <a:srgbClr val="FD8537"/>
              </a:buClr>
              <a:buFont typeface="Wingdings"/>
              <a:buChar char=""/>
            </a:pPr>
            <a:endParaRPr sz="1550" dirty="0">
              <a:latin typeface="Times New Roman"/>
              <a:cs typeface="Times New Roman"/>
            </a:endParaRPr>
          </a:p>
          <a:p>
            <a:pPr marL="287020" marR="854075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Its data bus is 16-bit and  address bus is</a:t>
            </a:r>
            <a:r>
              <a:rPr sz="1900" spc="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20-bit.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Clr>
                <a:srgbClr val="FD8537"/>
              </a:buClr>
              <a:buFont typeface="Wingdings"/>
              <a:buChar char=""/>
            </a:pPr>
            <a:endParaRPr sz="155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 had 29,000</a:t>
            </a:r>
            <a:r>
              <a:rPr sz="1900" spc="1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transistors.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Clr>
                <a:srgbClr val="FD8537"/>
              </a:buClr>
              <a:buFont typeface="Wingdings"/>
              <a:buChar char=""/>
            </a:pPr>
            <a:endParaRPr sz="1550" dirty="0">
              <a:latin typeface="Times New Roman"/>
              <a:cs typeface="Times New Roman"/>
            </a:endParaRPr>
          </a:p>
          <a:p>
            <a:pPr marL="287020" marR="788035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Could execute 2.5 million  instructions per</a:t>
            </a:r>
            <a:r>
              <a:rPr sz="1900" spc="1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second.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Wingdings"/>
              <a:buChar char=""/>
            </a:pPr>
            <a:endParaRPr sz="155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 could access 1 MB of</a:t>
            </a:r>
            <a:r>
              <a:rPr sz="1900" spc="5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memory.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Clr>
                <a:srgbClr val="FD8537"/>
              </a:buClr>
              <a:buFont typeface="Wingdings"/>
              <a:buChar char=""/>
            </a:pPr>
            <a:endParaRPr sz="155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 had 22,000</a:t>
            </a:r>
            <a:r>
              <a:rPr sz="1900" spc="1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instructions.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2028" y="5725159"/>
            <a:ext cx="3145155" cy="589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 had </a:t>
            </a:r>
            <a:r>
              <a:rPr sz="1900" b="1" i="1" spc="-5" dirty="0">
                <a:latin typeface="Arial"/>
                <a:cs typeface="Arial"/>
              </a:rPr>
              <a:t>Multiply </a:t>
            </a:r>
            <a:r>
              <a:rPr sz="1900" spc="-5" dirty="0">
                <a:latin typeface="Arial"/>
                <a:cs typeface="Arial"/>
              </a:rPr>
              <a:t>and</a:t>
            </a:r>
            <a:r>
              <a:rPr sz="1900" spc="15" dirty="0">
                <a:latin typeface="Arial"/>
                <a:cs typeface="Arial"/>
              </a:rPr>
              <a:t> </a:t>
            </a:r>
            <a:r>
              <a:rPr sz="1900" b="1" i="1" spc="-5" dirty="0">
                <a:latin typeface="Arial"/>
                <a:cs typeface="Arial"/>
              </a:rPr>
              <a:t>Divide</a:t>
            </a:r>
            <a:endParaRPr sz="190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</a:pPr>
            <a:r>
              <a:rPr sz="1900" spc="-5" dirty="0">
                <a:latin typeface="Arial"/>
                <a:cs typeface="Arial"/>
              </a:rPr>
              <a:t>instructions.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0987" y="2438400"/>
            <a:ext cx="3529076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679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</a:t>
            </a:r>
            <a:r>
              <a:rPr spc="15" dirty="0"/>
              <a:t> </a:t>
            </a:r>
            <a:r>
              <a:rPr sz="3000" spc="-5" dirty="0"/>
              <a:t>8088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562861"/>
            <a:ext cx="3581400" cy="2793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"/>
              <a:tabLst>
                <a:tab pos="287020" algn="l"/>
              </a:tabLst>
            </a:pPr>
            <a:r>
              <a:rPr sz="2000" dirty="0">
                <a:latin typeface="Arial"/>
                <a:cs typeface="Arial"/>
              </a:rPr>
              <a:t>Introduced in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1979.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Wingdings"/>
              <a:buChar char=""/>
            </a:pPr>
            <a:endParaRPr sz="1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"/>
              <a:tabLst>
                <a:tab pos="287020" algn="l"/>
              </a:tabLst>
            </a:pPr>
            <a:r>
              <a:rPr sz="2000" dirty="0">
                <a:latin typeface="Arial"/>
                <a:cs typeface="Arial"/>
              </a:rPr>
              <a:t>It was also 16-bit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µP.</a:t>
            </a:r>
            <a:endParaRPr sz="20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70000"/>
              <a:buFont typeface="Wingdings"/>
              <a:buChar char=""/>
              <a:tabLst>
                <a:tab pos="287020" algn="l"/>
              </a:tabLst>
            </a:pPr>
            <a:r>
              <a:rPr sz="2000" dirty="0">
                <a:latin typeface="Arial"/>
                <a:cs typeface="Arial"/>
              </a:rPr>
              <a:t>It was created as a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cheaper</a:t>
            </a:r>
            <a:endParaRPr sz="200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version of </a:t>
            </a:r>
            <a:r>
              <a:rPr sz="2000" spc="-10" dirty="0">
                <a:latin typeface="Arial"/>
                <a:cs typeface="Arial"/>
              </a:rPr>
              <a:t>Intel’s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8086.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155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"/>
              <a:tabLst>
                <a:tab pos="287020" algn="l"/>
              </a:tabLst>
            </a:pPr>
            <a:r>
              <a:rPr sz="2000" dirty="0">
                <a:latin typeface="Arial"/>
                <a:cs typeface="Arial"/>
              </a:rPr>
              <a:t>It was a 16-bit processor</a:t>
            </a:r>
            <a:r>
              <a:rPr sz="2000" spc="-1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  an 8-bit external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Wingdings"/>
              <a:buChar char=""/>
            </a:pP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2514600"/>
            <a:ext cx="3657600" cy="259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23326" y="5904067"/>
            <a:ext cx="22352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9966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ts val="349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spc="-5" dirty="0"/>
              <a:t>80186 </a:t>
            </a:r>
            <a:r>
              <a:rPr sz="3000" dirty="0"/>
              <a:t>&amp;</a:t>
            </a:r>
            <a:r>
              <a:rPr sz="3000" spc="30" dirty="0"/>
              <a:t> </a:t>
            </a:r>
            <a:r>
              <a:rPr sz="3000" spc="-5" dirty="0"/>
              <a:t>80188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347406"/>
            <a:ext cx="3656329" cy="1305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ts val="253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Introduced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1982.</a:t>
            </a:r>
            <a:endParaRPr sz="22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2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They were </a:t>
            </a:r>
            <a:r>
              <a:rPr sz="2200" dirty="0">
                <a:latin typeface="Arial"/>
                <a:cs typeface="Arial"/>
              </a:rPr>
              <a:t>16-bit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µPs.</a:t>
            </a:r>
            <a:endParaRPr sz="22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2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Clock speed was 6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5">
                <a:latin typeface="Arial"/>
                <a:cs typeface="Arial"/>
              </a:rPr>
              <a:t>MHz.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29690" y="1905000"/>
            <a:ext cx="1742058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95400" y="4191000"/>
            <a:ext cx="1733550" cy="1409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5480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</a:t>
            </a:r>
            <a:r>
              <a:rPr spc="20" dirty="0"/>
              <a:t> </a:t>
            </a:r>
            <a:r>
              <a:rPr sz="3000" spc="-5" dirty="0"/>
              <a:t>80286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38427"/>
            <a:ext cx="368300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Introduced in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1982.</a:t>
            </a:r>
            <a:endParaRPr sz="22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It was 16-bit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µP.</a:t>
            </a:r>
            <a:endParaRPr sz="22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5750" algn="l"/>
              </a:tabLst>
            </a:pPr>
            <a:r>
              <a:rPr sz="2200" spc="-5" dirty="0">
                <a:latin typeface="Arial"/>
                <a:cs typeface="Arial"/>
              </a:rPr>
              <a:t>Its </a:t>
            </a:r>
            <a:r>
              <a:rPr sz="2200" dirty="0">
                <a:latin typeface="Arial"/>
                <a:cs typeface="Arial"/>
              </a:rPr>
              <a:t>clock </a:t>
            </a:r>
            <a:r>
              <a:rPr sz="2200" spc="-5" dirty="0">
                <a:latin typeface="Arial"/>
                <a:cs typeface="Arial"/>
              </a:rPr>
              <a:t>speed was 8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5">
                <a:latin typeface="Arial"/>
                <a:cs typeface="Arial"/>
              </a:rPr>
              <a:t>MHz.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00" y="2057400"/>
            <a:ext cx="3810000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2260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6113" y="2368422"/>
            <a:ext cx="5046345" cy="64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95" dirty="0">
                <a:latin typeface="PMingLiU"/>
                <a:cs typeface="PMingLiU"/>
              </a:rPr>
              <a:t>32-</a:t>
            </a:r>
            <a:r>
              <a:rPr sz="3200" spc="95" dirty="0">
                <a:latin typeface="PMingLiU"/>
                <a:cs typeface="PMingLiU"/>
              </a:rPr>
              <a:t>BIT</a:t>
            </a:r>
            <a:r>
              <a:rPr sz="3200" spc="75" dirty="0">
                <a:latin typeface="PMingLiU"/>
                <a:cs typeface="PMingLiU"/>
              </a:rPr>
              <a:t> </a:t>
            </a:r>
            <a:r>
              <a:rPr sz="4000" spc="-90" dirty="0">
                <a:latin typeface="PMingLiU"/>
                <a:cs typeface="PMingLiU"/>
              </a:rPr>
              <a:t>M</a:t>
            </a:r>
            <a:r>
              <a:rPr sz="3200" spc="-90" dirty="0">
                <a:latin typeface="PMingLiU"/>
                <a:cs typeface="PMingLiU"/>
              </a:rPr>
              <a:t>ICROPROCESSORS</a:t>
            </a:r>
            <a:endParaRPr sz="32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4911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04366"/>
            <a:ext cx="2065020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565F6C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565F6C"/>
                </a:solidFill>
                <a:latin typeface="Arial"/>
                <a:cs typeface="Arial"/>
              </a:rPr>
              <a:t>NTEL</a:t>
            </a:r>
            <a:r>
              <a:rPr sz="2400" spc="20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3000" spc="-5" dirty="0">
                <a:solidFill>
                  <a:srgbClr val="565F6C"/>
                </a:solidFill>
                <a:latin typeface="Arial"/>
                <a:cs typeface="Arial"/>
              </a:rPr>
              <a:t>80386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2028" y="343915"/>
            <a:ext cx="2365375" cy="289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5750" algn="l"/>
              </a:tabLst>
            </a:pPr>
            <a:r>
              <a:rPr sz="1900" spc="-5" dirty="0">
                <a:solidFill>
                  <a:srgbClr val="000000"/>
                </a:solidFill>
              </a:rPr>
              <a:t>Introduced in</a:t>
            </a:r>
            <a:r>
              <a:rPr sz="1900" spc="-15" dirty="0">
                <a:solidFill>
                  <a:srgbClr val="000000"/>
                </a:solidFill>
              </a:rPr>
              <a:t> </a:t>
            </a:r>
            <a:r>
              <a:rPr sz="1900" spc="-5" dirty="0">
                <a:solidFill>
                  <a:srgbClr val="000000"/>
                </a:solidFill>
              </a:rPr>
              <a:t>1986.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4042028" y="786129"/>
            <a:ext cx="3763010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5750" algn="l"/>
              </a:tabLst>
            </a:pPr>
            <a:r>
              <a:rPr sz="1900" spc="-5" dirty="0">
                <a:latin typeface="Arial"/>
                <a:cs typeface="Arial"/>
              </a:rPr>
              <a:t>It </a:t>
            </a:r>
            <a:r>
              <a:rPr sz="1900" spc="-10" dirty="0">
                <a:latin typeface="Arial"/>
                <a:cs typeface="Arial"/>
              </a:rPr>
              <a:t>was </a:t>
            </a:r>
            <a:r>
              <a:rPr sz="1900" spc="-5" dirty="0">
                <a:latin typeface="Arial"/>
                <a:cs typeface="Arial"/>
              </a:rPr>
              <a:t>first 32-bit</a:t>
            </a:r>
            <a:r>
              <a:rPr sz="1900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µP.</a:t>
            </a:r>
            <a:endParaRPr sz="1900">
              <a:latin typeface="Arial"/>
              <a:cs typeface="Arial"/>
            </a:endParaRPr>
          </a:p>
          <a:p>
            <a:pPr marL="285115" marR="838200" indent="-272415">
              <a:lnSpc>
                <a:spcPct val="100000"/>
              </a:lnSpc>
              <a:spcBef>
                <a:spcPts val="1200"/>
              </a:spcBef>
              <a:buClr>
                <a:srgbClr val="FD8537"/>
              </a:buClr>
              <a:buSzPct val="68421"/>
              <a:buFont typeface="Wingdings"/>
              <a:buChar char=""/>
              <a:tabLst>
                <a:tab pos="285750" algn="l"/>
              </a:tabLst>
            </a:pPr>
            <a:r>
              <a:rPr sz="1900" spc="-5" dirty="0">
                <a:latin typeface="Arial"/>
                <a:cs typeface="Arial"/>
              </a:rPr>
              <a:t>Its data bus is 32-bit and  address bus is</a:t>
            </a:r>
            <a:r>
              <a:rPr sz="1900" spc="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32-bit.</a:t>
            </a:r>
            <a:endParaRPr sz="1900">
              <a:latin typeface="Arial"/>
              <a:cs typeface="Arial"/>
            </a:endParaRPr>
          </a:p>
          <a:p>
            <a:pPr marL="285115" marR="880110" indent="-272415">
              <a:lnSpc>
                <a:spcPct val="100000"/>
              </a:lnSpc>
              <a:spcBef>
                <a:spcPts val="1200"/>
              </a:spcBef>
              <a:buClr>
                <a:srgbClr val="FD8537"/>
              </a:buClr>
              <a:buSzPct val="68421"/>
              <a:buFont typeface="Wingdings"/>
              <a:buChar char=""/>
              <a:tabLst>
                <a:tab pos="285750" algn="l"/>
              </a:tabLst>
            </a:pPr>
            <a:r>
              <a:rPr sz="1900" spc="-5" dirty="0">
                <a:latin typeface="Arial"/>
                <a:cs typeface="Arial"/>
              </a:rPr>
              <a:t>It could address 4 GB of  </a:t>
            </a:r>
            <a:r>
              <a:rPr sz="1900" spc="-25">
                <a:latin typeface="Arial"/>
                <a:cs typeface="Arial"/>
              </a:rPr>
              <a:t>memory.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2125726"/>
            <a:ext cx="3581400" cy="32082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6312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04366"/>
            <a:ext cx="2065020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565F6C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565F6C"/>
                </a:solidFill>
                <a:latin typeface="Arial"/>
                <a:cs typeface="Arial"/>
              </a:rPr>
              <a:t>NTEL</a:t>
            </a:r>
            <a:r>
              <a:rPr sz="2400" spc="20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3000" spc="-5" dirty="0">
                <a:solidFill>
                  <a:srgbClr val="565F6C"/>
                </a:solidFill>
                <a:latin typeface="Arial"/>
                <a:cs typeface="Arial"/>
              </a:rPr>
              <a:t>80486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2028" y="663702"/>
            <a:ext cx="247015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"/>
              <a:tabLst>
                <a:tab pos="285750" algn="l"/>
              </a:tabLst>
            </a:pPr>
            <a:r>
              <a:rPr sz="2000" dirty="0">
                <a:solidFill>
                  <a:srgbClr val="000000"/>
                </a:solidFill>
              </a:rPr>
              <a:t>Introduced in</a:t>
            </a:r>
            <a:r>
              <a:rPr sz="2000" spc="-14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1989.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4042028" y="1136141"/>
            <a:ext cx="3664585" cy="17594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"/>
              <a:tabLst>
                <a:tab pos="285750" algn="l"/>
              </a:tabLst>
            </a:pPr>
            <a:r>
              <a:rPr sz="2000" dirty="0">
                <a:latin typeface="Arial"/>
                <a:cs typeface="Arial"/>
              </a:rPr>
              <a:t>It was also 32-bit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µP.</a:t>
            </a:r>
            <a:endParaRPr sz="20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320"/>
              </a:spcBef>
              <a:buClr>
                <a:srgbClr val="FD8537"/>
              </a:buClr>
              <a:buSzPct val="70000"/>
              <a:buFont typeface="Wingdings"/>
              <a:buChar char=""/>
              <a:tabLst>
                <a:tab pos="285750" algn="l"/>
              </a:tabLst>
            </a:pPr>
            <a:r>
              <a:rPr sz="2000" dirty="0">
                <a:latin typeface="Arial"/>
                <a:cs typeface="Arial"/>
              </a:rPr>
              <a:t>It had 1.2 million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transistors.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Wingdings"/>
              <a:buChar char=""/>
            </a:pPr>
            <a:endParaRPr sz="1550">
              <a:latin typeface="Times New Roman"/>
              <a:cs typeface="Times New Roman"/>
            </a:endParaRPr>
          </a:p>
          <a:p>
            <a:pPr marL="285115" marR="5080" indent="-272415">
              <a:lnSpc>
                <a:spcPct val="80000"/>
              </a:lnSpc>
              <a:buClr>
                <a:srgbClr val="FD8537"/>
              </a:buClr>
              <a:buSzPct val="70000"/>
              <a:buFont typeface="Wingdings"/>
              <a:buChar char=""/>
              <a:tabLst>
                <a:tab pos="285750" algn="l"/>
              </a:tabLst>
            </a:pPr>
            <a:r>
              <a:rPr sz="2000" spc="-5" dirty="0">
                <a:latin typeface="Arial"/>
                <a:cs typeface="Arial"/>
              </a:rPr>
              <a:t>Its </a:t>
            </a:r>
            <a:r>
              <a:rPr sz="2000" dirty="0">
                <a:latin typeface="Arial"/>
                <a:cs typeface="Arial"/>
              </a:rPr>
              <a:t>clock speed varied from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16  MHz to 100 MHz depending  upon the various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versions.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600" y="2133600"/>
            <a:ext cx="3581400" cy="3276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5261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04366"/>
            <a:ext cx="2427605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>
                <a:solidFill>
                  <a:srgbClr val="565F6C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565F6C"/>
                </a:solidFill>
                <a:latin typeface="Arial"/>
                <a:cs typeface="Arial"/>
              </a:rPr>
              <a:t>NTEL</a:t>
            </a:r>
            <a:r>
              <a:rPr sz="2400" spc="25" dirty="0">
                <a:solidFill>
                  <a:srgbClr val="565F6C"/>
                </a:solidFill>
                <a:latin typeface="Arial"/>
                <a:cs typeface="Arial"/>
              </a:rPr>
              <a:t> </a:t>
            </a:r>
            <a:r>
              <a:rPr sz="3000" spc="-5" dirty="0">
                <a:solidFill>
                  <a:srgbClr val="565F6C"/>
                </a:solidFill>
                <a:latin typeface="Arial"/>
                <a:cs typeface="Arial"/>
              </a:rPr>
              <a:t>P</a:t>
            </a:r>
            <a:r>
              <a:rPr sz="2400" spc="-5" dirty="0">
                <a:solidFill>
                  <a:srgbClr val="565F6C"/>
                </a:solidFill>
                <a:latin typeface="Arial"/>
                <a:cs typeface="Arial"/>
              </a:rPr>
              <a:t>ENTIUM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2028" y="648970"/>
            <a:ext cx="236664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solidFill>
                  <a:srgbClr val="000000"/>
                </a:solidFill>
              </a:rPr>
              <a:t>Introduced in</a:t>
            </a:r>
            <a:r>
              <a:rPr sz="1900" spc="-15" dirty="0">
                <a:solidFill>
                  <a:srgbClr val="000000"/>
                </a:solidFill>
              </a:rPr>
              <a:t> </a:t>
            </a:r>
            <a:r>
              <a:rPr sz="1900" spc="-5" dirty="0">
                <a:solidFill>
                  <a:srgbClr val="000000"/>
                </a:solidFill>
              </a:rPr>
              <a:t>1993.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4042028" y="1167129"/>
            <a:ext cx="3564890" cy="1592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 </a:t>
            </a:r>
            <a:r>
              <a:rPr sz="1900" spc="-10" dirty="0">
                <a:latin typeface="Arial"/>
                <a:cs typeface="Arial"/>
              </a:rPr>
              <a:t>was </a:t>
            </a:r>
            <a:r>
              <a:rPr sz="1900" spc="-5" dirty="0">
                <a:latin typeface="Arial"/>
                <a:cs typeface="Arial"/>
              </a:rPr>
              <a:t>also 32-bit</a:t>
            </a:r>
            <a:r>
              <a:rPr sz="1900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µP.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Clr>
                <a:srgbClr val="FD8537"/>
              </a:buClr>
              <a:buFont typeface="Wingdings"/>
              <a:buChar char=""/>
            </a:pPr>
            <a:endParaRPr sz="1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 </a:t>
            </a:r>
            <a:r>
              <a:rPr sz="1900" spc="-10" dirty="0">
                <a:latin typeface="Arial"/>
                <a:cs typeface="Arial"/>
              </a:rPr>
              <a:t>was </a:t>
            </a:r>
            <a:r>
              <a:rPr sz="1900" spc="-5" dirty="0">
                <a:latin typeface="Arial"/>
                <a:cs typeface="Arial"/>
              </a:rPr>
              <a:t>originally named</a:t>
            </a:r>
            <a:r>
              <a:rPr sz="1900" spc="6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80586.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Wingdings"/>
              <a:buChar char=""/>
            </a:pPr>
            <a:endParaRPr sz="1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"/>
              <a:tabLst>
                <a:tab pos="287020" algn="l"/>
              </a:tabLst>
            </a:pPr>
            <a:r>
              <a:rPr sz="1900" spc="-5" dirty="0">
                <a:latin typeface="Arial"/>
                <a:cs typeface="Arial"/>
              </a:rPr>
              <a:t>Its clock speed </a:t>
            </a:r>
            <a:r>
              <a:rPr sz="1900" spc="-10" dirty="0">
                <a:latin typeface="Arial"/>
                <a:cs typeface="Arial"/>
              </a:rPr>
              <a:t>was </a:t>
            </a:r>
            <a:r>
              <a:rPr sz="1900" spc="-5" dirty="0">
                <a:latin typeface="Arial"/>
                <a:cs typeface="Arial"/>
              </a:rPr>
              <a:t>66</a:t>
            </a:r>
            <a:r>
              <a:rPr sz="1900" spc="5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MHz.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Clr>
                <a:srgbClr val="FD8537"/>
              </a:buClr>
              <a:buFont typeface="Wingdings"/>
              <a:buChar char=""/>
            </a:pP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" y="1890776"/>
            <a:ext cx="3657600" cy="3367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1426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spc="-5" dirty="0"/>
              <a:t>P</a:t>
            </a:r>
            <a:r>
              <a:rPr spc="-5" dirty="0"/>
              <a:t>ENTIUM</a:t>
            </a:r>
            <a:r>
              <a:rPr spc="210" dirty="0"/>
              <a:t> </a:t>
            </a:r>
            <a:r>
              <a:rPr sz="3000" spc="-5" dirty="0"/>
              <a:t>P</a:t>
            </a:r>
            <a:r>
              <a:rPr spc="-5" dirty="0"/>
              <a:t>RO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04517"/>
            <a:ext cx="3702050" cy="86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Introduced in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1995.</a:t>
            </a:r>
            <a:endParaRPr sz="22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54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It was also </a:t>
            </a:r>
            <a:r>
              <a:rPr sz="2200" dirty="0">
                <a:latin typeface="Arial"/>
                <a:cs typeface="Arial"/>
              </a:rPr>
              <a:t>32-bit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0">
                <a:latin typeface="Arial"/>
                <a:cs typeface="Arial"/>
              </a:rPr>
              <a:t>µP.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600" y="1752600"/>
            <a:ext cx="3657600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1053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spc="-5" dirty="0"/>
              <a:t>P</a:t>
            </a:r>
            <a:r>
              <a:rPr spc="-5" dirty="0"/>
              <a:t>ENTIUM</a:t>
            </a:r>
            <a:r>
              <a:rPr spc="204" dirty="0"/>
              <a:t> </a:t>
            </a:r>
            <a:r>
              <a:rPr sz="3000" spc="-10" dirty="0"/>
              <a:t>II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02359"/>
            <a:ext cx="3786504" cy="93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spc="-5" dirty="0">
                <a:latin typeface="Arial"/>
                <a:cs typeface="Arial"/>
              </a:rPr>
              <a:t>Introduced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1997.</a:t>
            </a:r>
            <a:endParaRPr sz="24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51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was also 32-bit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15">
                <a:latin typeface="Arial"/>
                <a:cs typeface="Arial"/>
              </a:rPr>
              <a:t>µP.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2836926"/>
            <a:ext cx="3267075" cy="1789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69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spc="-5" dirty="0"/>
              <a:t>P</a:t>
            </a:r>
            <a:r>
              <a:rPr spc="-5" dirty="0"/>
              <a:t>ENTIUM </a:t>
            </a:r>
            <a:r>
              <a:rPr sz="3000" dirty="0"/>
              <a:t>II</a:t>
            </a:r>
            <a:r>
              <a:rPr sz="3000" spc="215" dirty="0"/>
              <a:t> </a:t>
            </a:r>
            <a:r>
              <a:rPr sz="3000" dirty="0"/>
              <a:t>X</a:t>
            </a:r>
            <a:r>
              <a:rPr dirty="0"/>
              <a:t>EON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38427"/>
            <a:ext cx="269367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Introduced in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1998.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2028" y="2202307"/>
            <a:ext cx="371856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It was also </a:t>
            </a:r>
            <a:r>
              <a:rPr sz="2200" dirty="0">
                <a:latin typeface="Arial"/>
                <a:cs typeface="Arial"/>
              </a:rPr>
              <a:t>32-bit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00">
                <a:latin typeface="Arial"/>
                <a:cs typeface="Arial"/>
              </a:rPr>
              <a:t>µP.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3750" y="2433701"/>
            <a:ext cx="2595626" cy="2595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6347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spc="-5" dirty="0"/>
              <a:t>P</a:t>
            </a:r>
            <a:r>
              <a:rPr spc="-5" dirty="0"/>
              <a:t>ENTIUM</a:t>
            </a:r>
            <a:r>
              <a:rPr spc="204" dirty="0"/>
              <a:t> </a:t>
            </a:r>
            <a:r>
              <a:rPr sz="3000" spc="-10" dirty="0"/>
              <a:t>III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38934"/>
            <a:ext cx="32264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spc="-5" dirty="0">
                <a:latin typeface="Arial"/>
                <a:cs typeface="Arial"/>
              </a:rPr>
              <a:t>Introduced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1999.</a:t>
            </a:r>
            <a:endParaRPr sz="24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750"/>
              <a:buFont typeface="Wingdings"/>
              <a:buChar char=""/>
              <a:tabLst>
                <a:tab pos="285750" algn="l"/>
              </a:tabLst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was also 32-bit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10">
                <a:latin typeface="Arial"/>
                <a:cs typeface="Arial"/>
              </a:rPr>
              <a:t>µP.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525" y="2433701"/>
            <a:ext cx="3146425" cy="2595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4721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spc="-5" dirty="0"/>
              <a:t>P</a:t>
            </a:r>
            <a:r>
              <a:rPr spc="-5" dirty="0"/>
              <a:t>ENTIUM</a:t>
            </a:r>
            <a:r>
              <a:rPr spc="204" dirty="0"/>
              <a:t> </a:t>
            </a:r>
            <a:r>
              <a:rPr sz="3000" spc="-10" dirty="0"/>
              <a:t>IV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638427"/>
            <a:ext cx="3419475" cy="907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Introduced in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2000.</a:t>
            </a:r>
            <a:endParaRPr sz="22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8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It was also </a:t>
            </a:r>
            <a:r>
              <a:rPr sz="2200" dirty="0">
                <a:latin typeface="Arial"/>
                <a:cs typeface="Arial"/>
              </a:rPr>
              <a:t>32-bit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95">
                <a:latin typeface="Arial"/>
                <a:cs typeface="Arial"/>
              </a:rPr>
              <a:t>µP.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7800" y="2133600"/>
            <a:ext cx="3556000" cy="2955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0118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spc="-5" dirty="0"/>
              <a:t>D</a:t>
            </a:r>
            <a:r>
              <a:rPr spc="-5" dirty="0"/>
              <a:t>UAL</a:t>
            </a:r>
            <a:r>
              <a:rPr spc="105" dirty="0"/>
              <a:t> </a:t>
            </a:r>
            <a:r>
              <a:rPr sz="3000" dirty="0"/>
              <a:t>C</a:t>
            </a:r>
            <a:r>
              <a:rPr dirty="0"/>
              <a:t>ORE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613917"/>
            <a:ext cx="3670300" cy="2850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Introduced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2006.</a:t>
            </a:r>
            <a:endParaRPr sz="22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535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It is 32-bit or </a:t>
            </a:r>
            <a:r>
              <a:rPr sz="2200" dirty="0">
                <a:latin typeface="Arial"/>
                <a:cs typeface="Arial"/>
              </a:rPr>
              <a:t>64-bit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µP.</a:t>
            </a:r>
            <a:endParaRPr sz="22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535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dirty="0">
                <a:latin typeface="Arial"/>
                <a:cs typeface="Arial"/>
              </a:rPr>
              <a:t>It </a:t>
            </a:r>
            <a:r>
              <a:rPr sz="2200" spc="-5" dirty="0">
                <a:latin typeface="Arial"/>
                <a:cs typeface="Arial"/>
              </a:rPr>
              <a:t>has two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cores.</a:t>
            </a:r>
            <a:endParaRPr sz="2200">
              <a:latin typeface="Arial"/>
              <a:cs typeface="Arial"/>
            </a:endParaRPr>
          </a:p>
          <a:p>
            <a:pPr marL="287020" marR="93980" indent="-274320">
              <a:lnSpc>
                <a:spcPct val="90000"/>
              </a:lnSpc>
              <a:spcBef>
                <a:spcPts val="180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87020" algn="l"/>
              </a:tabLst>
            </a:pPr>
            <a:r>
              <a:rPr sz="2200" spc="-5" dirty="0">
                <a:latin typeface="Arial"/>
                <a:cs typeface="Arial"/>
              </a:rPr>
              <a:t>Both the cores have there  own </a:t>
            </a:r>
            <a:r>
              <a:rPr sz="2200" spc="-5">
                <a:latin typeface="Arial"/>
                <a:cs typeface="Arial"/>
              </a:rPr>
              <a:t>internal bus and L1  cache, but </a:t>
            </a:r>
            <a:r>
              <a:rPr sz="2200" spc="-5" dirty="0">
                <a:latin typeface="Arial"/>
                <a:cs typeface="Arial"/>
              </a:rPr>
              <a:t>share the  </a:t>
            </a:r>
            <a:r>
              <a:rPr sz="2200" spc="-5">
                <a:latin typeface="Arial"/>
                <a:cs typeface="Arial"/>
              </a:rPr>
              <a:t>external bus and L2 </a:t>
            </a:r>
            <a:r>
              <a:rPr sz="2200">
                <a:latin typeface="Arial"/>
                <a:cs typeface="Arial"/>
              </a:rPr>
              <a:t>cache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1890776"/>
            <a:ext cx="3657600" cy="3290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0421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6400" y="685800"/>
            <a:ext cx="5410200" cy="5788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46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6113" y="2368422"/>
            <a:ext cx="5046345" cy="64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95" dirty="0">
                <a:latin typeface="PMingLiU"/>
                <a:cs typeface="PMingLiU"/>
              </a:rPr>
              <a:t>64-</a:t>
            </a:r>
            <a:r>
              <a:rPr sz="3200" spc="95" dirty="0">
                <a:latin typeface="PMingLiU"/>
                <a:cs typeface="PMingLiU"/>
              </a:rPr>
              <a:t>BIT</a:t>
            </a:r>
            <a:r>
              <a:rPr sz="3200" spc="75" dirty="0">
                <a:latin typeface="PMingLiU"/>
                <a:cs typeface="PMingLiU"/>
              </a:rPr>
              <a:t> </a:t>
            </a:r>
            <a:r>
              <a:rPr sz="4000" spc="-90" dirty="0">
                <a:latin typeface="PMingLiU"/>
                <a:cs typeface="PMingLiU"/>
              </a:rPr>
              <a:t>M</a:t>
            </a:r>
            <a:r>
              <a:rPr sz="3200" spc="-90" dirty="0">
                <a:latin typeface="PMingLiU"/>
                <a:cs typeface="PMingLiU"/>
              </a:rPr>
              <a:t>ICROPROCESSORS</a:t>
            </a:r>
            <a:endParaRPr sz="32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1999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dirty="0"/>
              <a:t>C</a:t>
            </a:r>
            <a:r>
              <a:rPr dirty="0"/>
              <a:t>ORE</a:t>
            </a:r>
            <a:r>
              <a:rPr spc="165" dirty="0"/>
              <a:t> </a:t>
            </a:r>
            <a:r>
              <a:rPr sz="3000" spc="-5" dirty="0"/>
              <a:t>2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042028" y="1578102"/>
            <a:ext cx="3691890" cy="78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"/>
              <a:tabLst>
                <a:tab pos="285750" algn="l"/>
              </a:tabLst>
            </a:pPr>
            <a:r>
              <a:rPr sz="2000" dirty="0">
                <a:latin typeface="Arial"/>
                <a:cs typeface="Arial"/>
              </a:rPr>
              <a:t>Introduced in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2006.</a:t>
            </a:r>
            <a:endParaRPr sz="200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1320"/>
              </a:spcBef>
              <a:buClr>
                <a:srgbClr val="FD8537"/>
              </a:buClr>
              <a:buSzPct val="70000"/>
              <a:buFont typeface="Wingdings"/>
              <a:buChar char=""/>
              <a:tabLst>
                <a:tab pos="285750" algn="l"/>
              </a:tabLst>
            </a:pPr>
            <a:r>
              <a:rPr sz="2000" spc="-5" dirty="0">
                <a:latin typeface="Arial"/>
                <a:cs typeface="Arial"/>
              </a:rPr>
              <a:t>It </a:t>
            </a:r>
            <a:r>
              <a:rPr sz="2000" dirty="0">
                <a:latin typeface="Arial"/>
                <a:cs typeface="Arial"/>
              </a:rPr>
              <a:t>is a 64-bit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175">
                <a:latin typeface="Arial"/>
                <a:cs typeface="Arial"/>
              </a:rPr>
              <a:t>µP.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100" y="1752600"/>
            <a:ext cx="3492500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916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dirty="0"/>
              <a:t>C</a:t>
            </a:r>
            <a:r>
              <a:rPr dirty="0"/>
              <a:t>ORE</a:t>
            </a:r>
            <a:r>
              <a:rPr spc="160" dirty="0"/>
              <a:t> </a:t>
            </a:r>
            <a:r>
              <a:rPr dirty="0"/>
              <a:t>I</a:t>
            </a:r>
            <a:r>
              <a:rPr sz="3000" dirty="0"/>
              <a:t>7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18336" y="1604517"/>
            <a:ext cx="6307327" cy="86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08300" indent="-272415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909570" algn="l"/>
              </a:tabLst>
            </a:pPr>
            <a:r>
              <a:rPr spc="-5" dirty="0"/>
              <a:t>Introduced in</a:t>
            </a:r>
            <a:r>
              <a:rPr spc="-15" dirty="0"/>
              <a:t> </a:t>
            </a:r>
            <a:r>
              <a:rPr spc="-5" dirty="0"/>
              <a:t>2008.</a:t>
            </a:r>
          </a:p>
          <a:p>
            <a:pPr marL="2908300" indent="-272415">
              <a:lnSpc>
                <a:spcPct val="100000"/>
              </a:lnSpc>
              <a:spcBef>
                <a:spcPts val="154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909570" algn="l"/>
              </a:tabLst>
            </a:pPr>
            <a:r>
              <a:rPr spc="-5" dirty="0"/>
              <a:t>It is a 64-bit</a:t>
            </a:r>
            <a:r>
              <a:rPr spc="-40" dirty="0"/>
              <a:t> </a:t>
            </a:r>
            <a:r>
              <a:rPr spc="-200"/>
              <a:t>µP.</a:t>
            </a:r>
            <a:endParaRPr spc="-200" dirty="0"/>
          </a:p>
        </p:txBody>
      </p:sp>
      <p:sp>
        <p:nvSpPr>
          <p:cNvPr id="4" name="object 4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2057400"/>
            <a:ext cx="3353942" cy="289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0622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dirty="0"/>
              <a:t>C</a:t>
            </a:r>
            <a:r>
              <a:rPr dirty="0"/>
              <a:t>ORE</a:t>
            </a:r>
            <a:r>
              <a:rPr spc="160" dirty="0"/>
              <a:t> </a:t>
            </a:r>
            <a:r>
              <a:rPr dirty="0"/>
              <a:t>I</a:t>
            </a:r>
            <a:r>
              <a:rPr sz="3000" dirty="0"/>
              <a:t>5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18336" y="1604517"/>
            <a:ext cx="6307327" cy="86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08300" indent="-272415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909570" algn="l"/>
              </a:tabLst>
            </a:pPr>
            <a:r>
              <a:rPr spc="-5" dirty="0"/>
              <a:t>Introduced in</a:t>
            </a:r>
            <a:r>
              <a:rPr spc="-15" dirty="0"/>
              <a:t> </a:t>
            </a:r>
            <a:r>
              <a:rPr spc="-5" dirty="0"/>
              <a:t>2009.</a:t>
            </a:r>
          </a:p>
          <a:p>
            <a:pPr marL="2908300" indent="-272415">
              <a:lnSpc>
                <a:spcPct val="100000"/>
              </a:lnSpc>
              <a:spcBef>
                <a:spcPts val="154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909570" algn="l"/>
              </a:tabLst>
            </a:pPr>
            <a:r>
              <a:rPr spc="-5" dirty="0"/>
              <a:t>It is a 64-bit</a:t>
            </a:r>
            <a:r>
              <a:rPr spc="-40" dirty="0"/>
              <a:t> </a:t>
            </a:r>
            <a:r>
              <a:rPr spc="-200"/>
              <a:t>µP.</a:t>
            </a:r>
            <a:endParaRPr spc="-200" dirty="0"/>
          </a:p>
        </p:txBody>
      </p:sp>
      <p:sp>
        <p:nvSpPr>
          <p:cNvPr id="4" name="object 4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2133600"/>
            <a:ext cx="3243833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3610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5" dirty="0"/>
              <a:t>I</a:t>
            </a:r>
            <a:r>
              <a:rPr spc="-5" dirty="0"/>
              <a:t>NTEL </a:t>
            </a:r>
            <a:r>
              <a:rPr sz="3000" dirty="0"/>
              <a:t>C</a:t>
            </a:r>
            <a:r>
              <a:rPr dirty="0"/>
              <a:t>ORE</a:t>
            </a:r>
            <a:r>
              <a:rPr spc="160" dirty="0"/>
              <a:t> </a:t>
            </a:r>
            <a:r>
              <a:rPr dirty="0"/>
              <a:t>I</a:t>
            </a:r>
            <a:r>
              <a:rPr sz="3000" dirty="0"/>
              <a:t>3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18336" y="1604517"/>
            <a:ext cx="6307327" cy="86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08300" indent="-272415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"/>
              <a:tabLst>
                <a:tab pos="2909570" algn="l"/>
              </a:tabLst>
            </a:pPr>
            <a:r>
              <a:rPr spc="-5" dirty="0"/>
              <a:t>Introduced in</a:t>
            </a:r>
            <a:r>
              <a:rPr spc="-15" dirty="0"/>
              <a:t> </a:t>
            </a:r>
            <a:r>
              <a:rPr spc="-5" dirty="0"/>
              <a:t>2010.</a:t>
            </a:r>
          </a:p>
          <a:p>
            <a:pPr marL="2908300" indent="-272415">
              <a:lnSpc>
                <a:spcPct val="100000"/>
              </a:lnSpc>
              <a:spcBef>
                <a:spcPts val="1540"/>
              </a:spcBef>
              <a:buClr>
                <a:srgbClr val="FD8537"/>
              </a:buClr>
              <a:buSzPct val="68181"/>
              <a:buFont typeface="Wingdings"/>
              <a:buChar char=""/>
              <a:tabLst>
                <a:tab pos="2909570" algn="l"/>
              </a:tabLst>
            </a:pPr>
            <a:r>
              <a:rPr spc="-5" dirty="0"/>
              <a:t>It is a 64-bit</a:t>
            </a:r>
            <a:r>
              <a:rPr spc="-40" dirty="0"/>
              <a:t> </a:t>
            </a:r>
            <a:r>
              <a:rPr spc="-200"/>
              <a:t>µP.</a:t>
            </a:r>
            <a:endParaRPr spc="-200" dirty="0"/>
          </a:p>
        </p:txBody>
      </p:sp>
      <p:sp>
        <p:nvSpPr>
          <p:cNvPr id="4" name="object 4"/>
          <p:cNvSpPr txBox="1"/>
          <p:nvPr/>
        </p:nvSpPr>
        <p:spPr>
          <a:xfrm>
            <a:off x="8323326" y="5883452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1905000"/>
            <a:ext cx="3200400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9903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6" y="914400"/>
            <a:ext cx="8718998" cy="526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27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56906" y="197390"/>
            <a:ext cx="71962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Formal structure of Microprocessors: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9" y="1171976"/>
            <a:ext cx="7830355" cy="458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21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8583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Bit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 A bit is a single binary digit.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Word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 A word refers to the basic data size or bit size that can be processed by the arithmetic and logic unit of the processor. A 16-bit binary number is called a word in a 16-bit processor.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 A bus is a group of wires/lines that carry similar information.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System Bus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 The system bus is a group of wires/lines used for communication between the microprocessor and peripherals.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Memory Word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 The number of bits that can be stored in a register or memory element is called a memory word.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Address Bus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 It carries the address, which is a unique binary pattern used to identify a memory location or an I/O port. For example, an eight bit address bus has eight lines and thus it can address 28 = 256 different locations. The locations in hexadecimal format can be written as 00H – FFH.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 Bus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 The data bus is used to transfer data between memory and processor or between I/O device and processor. For example, an 8-bit processor will generally have an 8-bit data bus and a 16-bit processor will have 16-bit data bus.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Control Bus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: The control bus carry control signals, which consists of signals for selection of memory or I/O device from the given address, direction of data transfer and synchronization of data transfer in case of slow devices. </a:t>
            </a:r>
          </a:p>
        </p:txBody>
      </p:sp>
    </p:spTree>
    <p:extLst>
      <p:ext uri="{BB962C8B-B14F-4D97-AF65-F5344CB8AC3E}">
        <p14:creationId xmlns:p14="http://schemas.microsoft.com/office/powerpoint/2010/main" val="4245053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8194"/>
            <a:ext cx="87189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Each microprocessor has a set of instructions, a list which is provided by the microprocessor manufacturer. The instruction set of a microprocessor is provided in two forms: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binary machine code and mnemonics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252872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</a:rPr>
              <a:t>Microprocessor communicates and operates in binary numbers 0 and 1. The set of instructions in the form of binary patterns is called a </a:t>
            </a:r>
            <a:r>
              <a:rPr lang="en-US" i="1" dirty="0">
                <a:solidFill>
                  <a:srgbClr val="FF6600"/>
                </a:solidFill>
                <a:latin typeface="Times New Roman" panose="02020603050405020304" pitchFamily="18" charset="0"/>
              </a:rPr>
              <a:t>machine language </a:t>
            </a:r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84511"/>
            <a:ext cx="58080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Language of Microprocessors: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29051"/>
            <a:ext cx="89765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26B"/>
                </a:solidFill>
                <a:latin typeface="Times New Roman" panose="02020603050405020304" pitchFamily="18" charset="0"/>
              </a:rPr>
              <a:t>and it is difficult for us to understand. Therefore, the binary patterns are given abbreviated names, called mnemonics, which forms the </a:t>
            </a:r>
            <a:r>
              <a:rPr lang="en-US" i="1" dirty="0">
                <a:solidFill>
                  <a:srgbClr val="00026B"/>
                </a:solidFill>
                <a:latin typeface="Times New Roman" panose="02020603050405020304" pitchFamily="18" charset="0"/>
              </a:rPr>
              <a:t>assembly language</a:t>
            </a:r>
            <a:r>
              <a:rPr lang="en-US" dirty="0">
                <a:solidFill>
                  <a:srgbClr val="00026B"/>
                </a:solidFill>
                <a:latin typeface="Times New Roman" panose="02020603050405020304" pitchFamily="18" charset="0"/>
              </a:rPr>
              <a:t>. </a:t>
            </a:r>
            <a:endParaRPr lang="en-US" dirty="0">
              <a:solidFill>
                <a:srgbClr val="00026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6439" y="4929380"/>
            <a:ext cx="89830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The conversion of assembly-level language into binary machine-level language is done by using an application called 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</a:rPr>
              <a:t>assembler. 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165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963" y="171632"/>
            <a:ext cx="6811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Microprocessors </a:t>
            </a:r>
            <a:r>
              <a:rPr lang="en-US" sz="3200" dirty="0" err="1">
                <a:solidFill>
                  <a:srgbClr val="C00000"/>
                </a:solidFill>
              </a:rPr>
              <a:t>Vs</a:t>
            </a:r>
            <a:r>
              <a:rPr lang="en-US" sz="3200" dirty="0">
                <a:solidFill>
                  <a:srgbClr val="C00000"/>
                </a:solidFill>
              </a:rPr>
              <a:t> Microcontroller: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862885"/>
            <a:ext cx="9001125" cy="539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13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963" y="171632"/>
            <a:ext cx="6811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Microprocessors </a:t>
            </a:r>
            <a:r>
              <a:rPr lang="en-US" sz="3200" dirty="0" err="1">
                <a:solidFill>
                  <a:srgbClr val="C00000"/>
                </a:solidFill>
              </a:rPr>
              <a:t>Vs</a:t>
            </a:r>
            <a:r>
              <a:rPr lang="en-US" sz="3200" dirty="0">
                <a:solidFill>
                  <a:srgbClr val="C00000"/>
                </a:solidFill>
              </a:rPr>
              <a:t> Microcontroller: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" y="888642"/>
            <a:ext cx="9039225" cy="464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95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81293" y="168865"/>
            <a:ext cx="8255000" cy="65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09E3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09E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09E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09E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09E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Application - &lt;&lt;Microprocessor&gt;&gt;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7677"/>
            <a:ext cx="9143999" cy="54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83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37126"/>
            <a:ext cx="3863181" cy="54992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181" y="837127"/>
            <a:ext cx="5280819" cy="549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412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1004887"/>
            <a:ext cx="8255000" cy="5176971"/>
          </a:xfrm>
        </p:spPr>
        <p:txBody>
          <a:bodyPr/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4400" dirty="0"/>
            </a:br>
            <a:r>
              <a:rPr lang="en-US" sz="4400" dirty="0"/>
              <a:t>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683567205"/>
      </p:ext>
    </p:extLst>
  </p:cSld>
  <p:clrMapOvr>
    <a:masterClrMapping/>
  </p:clrMapOvr>
</p:sld>
</file>

<file path=ppt/theme/theme1.xml><?xml version="1.0" encoding="utf-8"?>
<a:theme xmlns:a="http://schemas.openxmlformats.org/drawingml/2006/main" name="revised_IR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evised_IR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  <a:effectLst>
          <a:outerShdw dist="17961" dir="2700000" algn="ctr" rotWithShape="0">
            <a:srgbClr val="D47206">
              <a:alpha val="39999"/>
            </a:srgbClr>
          </a:outerShdw>
        </a:effectLst>
      </a:spPr>
      <a:bodyPr lIns="0" tIns="0" rIns="0" bIns="0" anchor="b"/>
      <a:lstStyle>
        <a:defPPr algn="r">
          <a:lnSpc>
            <a:spcPts val="3600"/>
          </a:lnSpc>
          <a:defRPr sz="2800" dirty="0">
            <a:solidFill>
              <a:schemeClr val="tx1"/>
            </a:solidFill>
          </a:defRPr>
        </a:defPPr>
      </a:lstStyle>
    </a:txDef>
  </a:objectDefaults>
  <a:extraClrSchemeLst>
    <a:extraClrScheme>
      <a:clrScheme name="revised_IR_template 1">
        <a:dk1>
          <a:srgbClr val="000000"/>
        </a:dk1>
        <a:lt1>
          <a:srgbClr val="FFFFFF"/>
        </a:lt1>
        <a:dk2>
          <a:srgbClr val="99CCFF"/>
        </a:dk2>
        <a:lt2>
          <a:srgbClr val="FFFFFF"/>
        </a:lt2>
        <a:accent1>
          <a:srgbClr val="AEC5E9"/>
        </a:accent1>
        <a:accent2>
          <a:srgbClr val="E98032"/>
        </a:accent2>
        <a:accent3>
          <a:srgbClr val="CAE2FF"/>
        </a:accent3>
        <a:accent4>
          <a:srgbClr val="DADADA"/>
        </a:accent4>
        <a:accent5>
          <a:srgbClr val="D3DFF2"/>
        </a:accent5>
        <a:accent6>
          <a:srgbClr val="D3732C"/>
        </a:accent6>
        <a:hlink>
          <a:srgbClr val="A1C200"/>
        </a:hlink>
        <a:folHlink>
          <a:srgbClr val="FFDB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14862</TotalTime>
  <Words>1229</Words>
  <Application>Microsoft Office PowerPoint</Application>
  <PresentationFormat>On-screen Show (4:3)</PresentationFormat>
  <Paragraphs>195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PMingLiU</vt:lpstr>
      <vt:lpstr>Arial</vt:lpstr>
      <vt:lpstr>Times New Roman</vt:lpstr>
      <vt:lpstr>Wingdings</vt:lpstr>
      <vt:lpstr>revised_IR_template</vt:lpstr>
      <vt:lpstr>PowerPoint Presentation</vt:lpstr>
      <vt:lpstr>PowerPoint Presentation</vt:lpstr>
      <vt:lpstr>PowerPoint Presentation</vt:lpstr>
      <vt:lpstr>PowerPoint Presentation</vt:lpstr>
      <vt:lpstr>4-BIT MICROPROCESSORS</vt:lpstr>
      <vt:lpstr>INTEL 4004</vt:lpstr>
      <vt:lpstr>INTEL 4040</vt:lpstr>
      <vt:lpstr>8-BIT MICROPROCESSORS</vt:lpstr>
      <vt:lpstr>INTEL 8008</vt:lpstr>
      <vt:lpstr>INTEL 8080</vt:lpstr>
      <vt:lpstr>INTEL 8085</vt:lpstr>
      <vt:lpstr>16-BIT MICROPROCESSORS</vt:lpstr>
      <vt:lpstr>Introduced in 1978.</vt:lpstr>
      <vt:lpstr>INTEL 8088</vt:lpstr>
      <vt:lpstr>INTEL 80186 &amp; 80188</vt:lpstr>
      <vt:lpstr>INTEL 80286</vt:lpstr>
      <vt:lpstr>32-BIT MICROPROCESSORS</vt:lpstr>
      <vt:lpstr>Introduced in 1986.</vt:lpstr>
      <vt:lpstr>Introduced in 1989.</vt:lpstr>
      <vt:lpstr>Introduced in 1993.</vt:lpstr>
      <vt:lpstr>INTEL PENTIUM PRO</vt:lpstr>
      <vt:lpstr>INTEL PENTIUM II</vt:lpstr>
      <vt:lpstr>INTEL PENTIUM II XEON</vt:lpstr>
      <vt:lpstr>INTEL PENTIUM III</vt:lpstr>
      <vt:lpstr>INTEL PENTIUM IV</vt:lpstr>
      <vt:lpstr>INTEL DUAL CORE</vt:lpstr>
      <vt:lpstr>PowerPoint Presentation</vt:lpstr>
      <vt:lpstr>64-BIT MICROPROCESSORS</vt:lpstr>
      <vt:lpstr>INTEL CORE 2</vt:lpstr>
      <vt:lpstr>INTEL CORE I7</vt:lpstr>
      <vt:lpstr>INTEL CORE I5</vt:lpstr>
      <vt:lpstr>INTEL CORE I3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THANK YOU</vt:lpstr>
    </vt:vector>
  </TitlesOfParts>
  <Company>Thoson Corporation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CREILLY</dc:creator>
  <cp:lastModifiedBy>krunal patel</cp:lastModifiedBy>
  <cp:revision>2718</cp:revision>
  <dcterms:created xsi:type="dcterms:W3CDTF">2005-11-08T16:47:42Z</dcterms:created>
  <dcterms:modified xsi:type="dcterms:W3CDTF">2024-06-11T06:18:26Z</dcterms:modified>
</cp:coreProperties>
</file>